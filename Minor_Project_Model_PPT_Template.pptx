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template - Minor Project review presentation for B.Tech II year. Replace every placeholder in angle brackets. Title slide: speak for 30 seconds - greet the panel, state the title, introduce the team and the guide. Do not read the slide word for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agenda to one slide. In a 10-12 minute review, spend the most time on literature survey, objectives and work completed.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60-90 seconds. Start broad (the domain), end narrow (your specific task). Avoid definitions copied from Wikipedia - the panel will ask for the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statement must be ONE sentence. If you need two sentences, the scope is too wide for a minor project. The panel's first question is usually: who exactly benefits?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read the table aloud. Speak about the trend: what most papers did, what results they reached, and what all of them left unsolved. Row 1 is a worked example - delete it and put your own paper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separates a good review from an average one. State 2-3 gaps only, and make sure each one maps to a paper you listed.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Avoid vague verbs - study, understand, analyse. Use build, classify, detect, compare, deploy. Four objectives is the right number for a minor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panel through the diagram left to right in under a minute, naming the input and the output first. Be ready to say where your contribution sits.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module per team member works well - it also answers the panel question 'who did what'.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versions where you know them. If you have a GitHub repository, show the link here - it is strong evidence of real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honest about status. Panels reward accurate self-assessment and penalise claims that fall apart under one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Adjust week numbers to your academic calendar. Showing a plan for the remaining weeks is what the panel wants to hear at Review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introduce anything new here. The conclusion restates the problem, the gap and the promise -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Google Scholar's 'Cite' option and pick MLA/IEEE, then fix the formatting by hand. Never cite a blog, a YouTube video or a paper you have not opened.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deck open on the architecture slide during questions - most panel questions point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B3A"/>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274320"/>
          </a:xfrm>
          <a:prstGeom prst="rect">
            <a:avLst/>
          </a:prstGeom>
          <a:noFill/>
          <a:ln/>
        </p:spPr>
        <p:txBody>
          <a:bodyPr wrap="square" lIns="0" tIns="0" rIns="0" bIns="0" rtlCol="0" anchor="ctr"/>
          <a:lstStyle/>
          <a:p>
            <a:pPr indent="0" marL="0">
              <a:buNone/>
            </a:pPr>
            <a:r>
              <a:rPr lang="en-US" sz="1150" b="1" spc="200" kern="0" dirty="0">
                <a:solidFill>
                  <a:srgbClr val="C8A02C"/>
                </a:solidFill>
                <a:latin typeface="Calibri" pitchFamily="34" charset="0"/>
                <a:ea typeface="Calibri" pitchFamily="34" charset="-122"/>
                <a:cs typeface="Calibri" pitchFamily="34" charset="-120"/>
              </a:rPr>
              <a:t>KL UNIVERSITY  •  BACHUPALLY CAMPUS, HYDERABAD</a:t>
            </a:r>
            <a:endParaRPr lang="en-US" sz="1150" dirty="0"/>
          </a:p>
        </p:txBody>
      </p:sp>
      <p:sp>
        <p:nvSpPr>
          <p:cNvPr id="3" name="Text 1"/>
          <p:cNvSpPr txBox="1"/>
          <p:nvPr/>
        </p:nvSpPr>
        <p:spPr>
          <a:xfrm>
            <a:off x="640080" y="804672"/>
            <a:ext cx="10881360" cy="274320"/>
          </a:xfrm>
          <a:prstGeom prst="rect">
            <a:avLst/>
          </a:prstGeom>
          <a:noFill/>
          <a:ln/>
        </p:spPr>
        <p:txBody>
          <a:bodyPr wrap="square" lIns="0" tIns="0" rIns="0" bIns="0" rtlCol="0" anchor="ctr"/>
          <a:lstStyle/>
          <a:p>
            <a:pPr indent="0" marL="0">
              <a:buNone/>
            </a:pPr>
            <a:r>
              <a:rPr lang="en-US" sz="1300" dirty="0">
                <a:solidFill>
                  <a:srgbClr val="AEBBD6"/>
                </a:solidFill>
                <a:latin typeface="Calibri" pitchFamily="34" charset="0"/>
                <a:ea typeface="Calibri" pitchFamily="34" charset="-122"/>
                <a:cs typeface="Calibri" pitchFamily="34" charset="-120"/>
              </a:rPr>
              <a:t>Department of Computer Science &amp; Engineering</a:t>
            </a:r>
            <a:endParaRPr lang="en-US" sz="1300" dirty="0"/>
          </a:p>
        </p:txBody>
      </p:sp>
      <p:sp>
        <p:nvSpPr>
          <p:cNvPr id="4" name="Text 2"/>
          <p:cNvSpPr txBox="1"/>
          <p:nvPr/>
        </p:nvSpPr>
        <p:spPr>
          <a:xfrm>
            <a:off x="640080" y="1554480"/>
            <a:ext cx="10881360" cy="1005840"/>
          </a:xfrm>
          <a:prstGeom prst="rect">
            <a:avLst/>
          </a:prstGeom>
          <a:noFill/>
          <a:ln/>
        </p:spPr>
        <p:txBody>
          <a:bodyPr wrap="square" lIns="0" tIns="0" rIns="0" bIns="0" rtlCol="0" anchor="ctr"/>
          <a:lstStyle/>
          <a:p>
            <a:pPr indent="0" marL="0">
              <a:buNone/>
            </a:pPr>
            <a:r>
              <a:rPr lang="en-US" sz="3800" b="1" i="0" dirty="0">
                <a:solidFill>
                  <a:srgbClr val="FFFFFF"/>
                </a:solidFill>
                <a:latin typeface="Cambria"/>
                <a:ea typeface="Cambria"/>
                <a:cs typeface="Cambria"/>
              </a:rPr>
              <a:t>Customer Segmentation for Retail</a:t>
            </a:r>
          </a:p>
        </p:txBody>
      </p:sp>
      <p:sp>
        <p:nvSpPr>
          <p:cNvPr id="5" name="Text 3"/>
          <p:cNvSpPr txBox="1"/>
          <p:nvPr/>
        </p:nvSpPr>
        <p:spPr>
          <a:xfrm>
            <a:off x="640080" y="2542032"/>
            <a:ext cx="10881360" cy="274320"/>
          </a:xfrm>
          <a:prstGeom prst="rect">
            <a:avLst/>
          </a:prstGeom>
          <a:noFill/>
          <a:ln/>
        </p:spPr>
        <p:txBody>
          <a:bodyPr wrap="square" lIns="0" tIns="0" rIns="0" bIns="0" rtlCol="0" anchor="ctr"/>
          <a:lstStyle/>
          <a:p>
            <a:pPr indent="0" marL="0">
              <a:buNone/>
            </a:pPr>
            <a:r>
              <a:rPr lang="en-US" sz="1350" b="0" i="0" dirty="0">
                <a:solidFill>
                  <a:srgbClr val="C8A02C"/>
                </a:solidFill>
                <a:latin typeface="Calibri"/>
                <a:ea typeface="Calibri"/>
                <a:cs typeface="Calibri"/>
              </a:rPr>
              <a:t>Unsupervised Machine Learning for Retail Customer Behavioral Analysis</a:t>
            </a:r>
          </a:p>
        </p:txBody>
      </p:sp>
      <p:sp>
        <p:nvSpPr>
          <p:cNvPr id="6" name="Shape 4"/>
          <p:cNvSpPr/>
          <p:nvPr/>
        </p:nvSpPr>
        <p:spPr>
          <a:xfrm>
            <a:off x="640080" y="3200400"/>
            <a:ext cx="5577840" cy="2148840"/>
          </a:xfrm>
          <a:prstGeom prst="roundRect">
            <a:avLst>
              <a:gd name="adj" fmla="val 3404"/>
            </a:avLst>
          </a:prstGeom>
          <a:solidFill>
            <a:srgbClr val="1B2A55"/>
          </a:solidFill>
          <a:ln w="12700">
            <a:solidFill>
              <a:srgbClr val="2E3F6E"/>
            </a:solidFill>
            <a:prstDash val="solid"/>
          </a:ln>
        </p:spPr>
      </p:sp>
      <p:sp>
        <p:nvSpPr>
          <p:cNvPr id="7" name="Text 5"/>
          <p:cNvSpPr txBox="1"/>
          <p:nvPr/>
        </p:nvSpPr>
        <p:spPr>
          <a:xfrm>
            <a:off x="868680" y="3364992"/>
            <a:ext cx="5120640" cy="256032"/>
          </a:xfrm>
          <a:prstGeom prst="rect">
            <a:avLst/>
          </a:prstGeom>
          <a:noFill/>
          <a:ln/>
        </p:spPr>
        <p:txBody>
          <a:bodyPr wrap="square" lIns="0" tIns="0" rIns="0" bIns="0" rtlCol="0" anchor="ctr"/>
          <a:lstStyle/>
          <a:p>
            <a:pPr indent="0" marL="0">
              <a:buNone/>
            </a:pPr>
            <a:r>
              <a:rPr lang="en-US" sz="1000" b="1" spc="150" kern="0" dirty="0">
                <a:solidFill>
                  <a:srgbClr val="C8A02C"/>
                </a:solidFill>
                <a:latin typeface="Calibri" pitchFamily="34" charset="0"/>
                <a:ea typeface="Calibri" pitchFamily="34" charset="-122"/>
                <a:cs typeface="Calibri" pitchFamily="34" charset="-120"/>
              </a:rPr>
              <a:t>PRESENTED BY</a:t>
            </a:r>
            <a:endParaRPr lang="en-US" sz="1000" dirty="0"/>
          </a:p>
        </p:txBody>
      </p:sp>
      <p:sp>
        <p:nvSpPr>
          <p:cNvPr id="8" name="Text 6"/>
          <p:cNvSpPr txBox="1"/>
          <p:nvPr/>
        </p:nvSpPr>
        <p:spPr>
          <a:xfrm>
            <a:off x="868680" y="3657600"/>
            <a:ext cx="5120640" cy="1554480"/>
          </a:xfrm>
          <a:prstGeom prst="rect">
            <a:avLst/>
          </a:prstGeom>
          <a:noFill/>
          <a:ln/>
        </p:spPr>
        <p:txBody>
          <a:bodyPr wrap="square" lIns="0" tIns="0" rIns="0" bIns="0" rtlCol="0" anchor="ctr"/>
          <a:lstStyle/>
          <a:p>
            <a:pPr indent="0" marL="0">
              <a:buNone/>
              <a:spcAft>
                <a:spcPts val="400"/>
              </a:spcAft>
            </a:pPr>
            <a:r>
              <a:rPr lang="en-US" sz="1450" b="0" i="0" dirty="0">
                <a:solidFill>
                  <a:srgbClr val="FFFFFF"/>
                </a:solidFill>
                <a:latin typeface="Calibri"/>
                <a:ea typeface="Calibri"/>
                <a:cs typeface="Calibri"/>
              </a:rPr>
              <a:t>Student 1 Name   [Roll No. / ID]</a:t>
            </a:r>
          </a:p>
          <a:p>
            <a:pPr indent="0" marL="0">
              <a:buNone/>
            </a:pPr>
            <a:r>
              <a:rPr lang="en-US" sz="1450" b="0" i="0" dirty="0">
                <a:solidFill>
                  <a:srgbClr val="FFFFFF"/>
                </a:solidFill>
                <a:latin typeface="Calibri"/>
                <a:ea typeface="Calibri"/>
                <a:cs typeface="Calibri"/>
              </a:rPr>
              <a:t>Student 2 Name   [Roll No. / ID]</a:t>
            </a:r>
          </a:p>
        </p:txBody>
      </p:sp>
      <p:sp>
        <p:nvSpPr>
          <p:cNvPr id="9" name="Shape 7"/>
          <p:cNvSpPr/>
          <p:nvPr/>
        </p:nvSpPr>
        <p:spPr>
          <a:xfrm>
            <a:off x="6492240" y="3200400"/>
            <a:ext cx="5029200" cy="2148840"/>
          </a:xfrm>
          <a:prstGeom prst="roundRect">
            <a:avLst>
              <a:gd name="adj" fmla="val 3404"/>
            </a:avLst>
          </a:prstGeom>
          <a:solidFill>
            <a:srgbClr val="1B2A55"/>
          </a:solidFill>
          <a:ln w="12700">
            <a:solidFill>
              <a:srgbClr val="2E3F6E"/>
            </a:solidFill>
            <a:prstDash val="solid"/>
          </a:ln>
        </p:spPr>
      </p:sp>
      <p:sp>
        <p:nvSpPr>
          <p:cNvPr id="10" name="Text 8"/>
          <p:cNvSpPr txBox="1"/>
          <p:nvPr/>
        </p:nvSpPr>
        <p:spPr>
          <a:xfrm>
            <a:off x="6720840" y="3364992"/>
            <a:ext cx="4572000" cy="256032"/>
          </a:xfrm>
          <a:prstGeom prst="rect">
            <a:avLst/>
          </a:prstGeom>
          <a:noFill/>
          <a:ln/>
        </p:spPr>
        <p:txBody>
          <a:bodyPr wrap="square" lIns="0" tIns="0" rIns="0" bIns="0" rtlCol="0" anchor="ctr"/>
          <a:lstStyle/>
          <a:p>
            <a:pPr indent="0" marL="0">
              <a:buNone/>
            </a:pPr>
            <a:r>
              <a:rPr lang="en-US" sz="1000" b="1" spc="150" kern="0" dirty="0">
                <a:solidFill>
                  <a:srgbClr val="C8A02C"/>
                </a:solidFill>
                <a:latin typeface="Calibri" pitchFamily="34" charset="0"/>
                <a:ea typeface="Calibri" pitchFamily="34" charset="-122"/>
                <a:cs typeface="Calibri" pitchFamily="34" charset="-120"/>
              </a:rPr>
              <a:t>UNDER THE GUIDANCE OF</a:t>
            </a:r>
            <a:endParaRPr lang="en-US" sz="1000" dirty="0"/>
          </a:p>
        </p:txBody>
      </p:sp>
      <p:sp>
        <p:nvSpPr>
          <p:cNvPr id="11" name="Text 9"/>
          <p:cNvSpPr txBox="1"/>
          <p:nvPr/>
        </p:nvSpPr>
        <p:spPr>
          <a:xfrm>
            <a:off x="6720840" y="3703320"/>
            <a:ext cx="4572000" cy="320040"/>
          </a:xfrm>
          <a:prstGeom prst="rect">
            <a:avLst/>
          </a:prstGeom>
          <a:noFill/>
          <a:ln/>
        </p:spPr>
        <p:txBody>
          <a:bodyPr wrap="square" lIns="0" tIns="0" rIns="0" bIns="0" rtlCol="0" anchor="ctr"/>
          <a:lstStyle/>
          <a:p>
            <a:pPr indent="0" marL="0">
              <a:buNone/>
            </a:pPr>
            <a:r>
              <a:rPr lang="en-US" sz="1600" b="1" i="0" dirty="0">
                <a:solidFill>
                  <a:srgbClr val="FFFFFF"/>
                </a:solidFill>
                <a:latin typeface="Calibri"/>
                <a:ea typeface="Calibri"/>
                <a:cs typeface="Calibri"/>
              </a:rPr>
              <a:t>[Faculty Guide Name]</a:t>
            </a:r>
          </a:p>
        </p:txBody>
      </p:sp>
      <p:sp>
        <p:nvSpPr>
          <p:cNvPr id="12" name="Text 10"/>
          <p:cNvSpPr txBox="1"/>
          <p:nvPr/>
        </p:nvSpPr>
        <p:spPr>
          <a:xfrm>
            <a:off x="6720840" y="4069080"/>
            <a:ext cx="4572000" cy="640080"/>
          </a:xfrm>
          <a:prstGeom prst="rect">
            <a:avLst/>
          </a:prstGeom>
          <a:noFill/>
          <a:ln/>
        </p:spPr>
        <p:txBody>
          <a:bodyPr wrap="square" lIns="0" tIns="0" rIns="0" bIns="0" rtlCol="0" anchor="ctr"/>
          <a:lstStyle/>
          <a:p>
            <a:pPr indent="0" marL="0">
              <a:buNone/>
            </a:pPr>
            <a:r>
              <a:rPr lang="en-US" sz="1300" b="0" i="0" dirty="0">
                <a:solidFill>
                  <a:srgbClr val="AEBBD6"/>
                </a:solidFill>
                <a:latin typeface="Calibri"/>
                <a:ea typeface="Calibri"/>
                <a:cs typeface="Calibri"/>
              </a:rPr>
              <a:t>Assistant Professor, Department of CSE</a:t>
            </a:r>
          </a:p>
          <a:p>
            <a:pPr indent="0" marL="0">
              <a:buNone/>
            </a:pPr>
            <a:r>
              <a:rPr lang="en-US" sz="1300" b="0" i="0" dirty="0">
                <a:solidFill>
                  <a:srgbClr val="AEBBD6"/>
                </a:solidFill>
                <a:latin typeface="Calibri"/>
                <a:ea typeface="Calibri"/>
                <a:cs typeface="Calibri"/>
              </a:rPr>
              <a:t>KLH Bachupally Campus</a:t>
            </a:r>
          </a:p>
        </p:txBody>
      </p:sp>
      <p:sp>
        <p:nvSpPr>
          <p:cNvPr id="13" name="Text 11"/>
          <p:cNvSpPr txBox="1"/>
          <p:nvPr/>
        </p:nvSpPr>
        <p:spPr>
          <a:xfrm>
            <a:off x="640080" y="5806440"/>
            <a:ext cx="10881360" cy="274320"/>
          </a:xfrm>
          <a:prstGeom prst="rect">
            <a:avLst/>
          </a:prstGeom>
          <a:noFill/>
          <a:ln/>
        </p:spPr>
        <p:txBody>
          <a:bodyPr wrap="square" lIns="0" tIns="0" rIns="0" bIns="0" rtlCol="0" anchor="ctr"/>
          <a:lstStyle/>
          <a:p>
            <a:pPr indent="0" marL="0">
              <a:buNone/>
            </a:pPr>
            <a:r>
              <a:rPr lang="en-US" sz="1150" b="0" i="0" dirty="0">
                <a:solidFill>
                  <a:srgbClr val="8C9BBC"/>
                </a:solidFill>
                <a:latin typeface="Calibri"/>
                <a:ea typeface="Calibri"/>
                <a:cs typeface="Calibri"/>
              </a:rPr>
              <a:t>B.Tech II Year  |  Minor Project - Review 1  |  Academic Year 2026-27  |  KL University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AGENDA</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Contents</a:t>
            </a:r>
            <a:endParaRPr lang="en-US" sz="3100" dirty="0"/>
          </a:p>
        </p:txBody>
      </p:sp>
      <p:sp>
        <p:nvSpPr>
          <p:cNvPr id="4" name="Shape 2"/>
          <p:cNvSpPr/>
          <p:nvPr/>
        </p:nvSpPr>
        <p:spPr>
          <a:xfrm>
            <a:off x="548640" y="1417320"/>
            <a:ext cx="5349240" cy="603504"/>
          </a:xfrm>
          <a:prstGeom prst="roundRect">
            <a:avLst>
              <a:gd name="adj" fmla="val 12121"/>
            </a:avLst>
          </a:prstGeom>
          <a:solidFill>
            <a:srgbClr val="F1F4F9"/>
          </a:solidFill>
          <a:ln w="12700">
            <a:solidFill>
              <a:srgbClr val="DDE3EC"/>
            </a:solidFill>
            <a:prstDash val="solid"/>
          </a:ln>
        </p:spPr>
      </p:sp>
      <p:sp>
        <p:nvSpPr>
          <p:cNvPr id="5" name="Shape 3"/>
          <p:cNvSpPr/>
          <p:nvPr/>
        </p:nvSpPr>
        <p:spPr>
          <a:xfrm>
            <a:off x="731520" y="1527048"/>
            <a:ext cx="384048" cy="384048"/>
          </a:xfrm>
          <a:prstGeom prst="ellipse">
            <a:avLst/>
          </a:prstGeom>
          <a:solidFill>
            <a:srgbClr val="C8A02C"/>
          </a:solidFill>
          <a:ln/>
        </p:spPr>
      </p:sp>
      <p:sp>
        <p:nvSpPr>
          <p:cNvPr id="6" name="Text 4"/>
          <p:cNvSpPr txBox="1"/>
          <p:nvPr/>
        </p:nvSpPr>
        <p:spPr>
          <a:xfrm>
            <a:off x="731520" y="152704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261872" y="1417320"/>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Introduction &amp; Domain Background</a:t>
            </a:r>
            <a:endParaRPr lang="en-US" sz="1400" dirty="0"/>
          </a:p>
        </p:txBody>
      </p:sp>
      <p:sp>
        <p:nvSpPr>
          <p:cNvPr id="8" name="Shape 6"/>
          <p:cNvSpPr/>
          <p:nvPr/>
        </p:nvSpPr>
        <p:spPr>
          <a:xfrm>
            <a:off x="548640" y="2167128"/>
            <a:ext cx="5349240" cy="603504"/>
          </a:xfrm>
          <a:prstGeom prst="roundRect">
            <a:avLst>
              <a:gd name="adj" fmla="val 12121"/>
            </a:avLst>
          </a:prstGeom>
          <a:solidFill>
            <a:srgbClr val="F1F4F9"/>
          </a:solidFill>
          <a:ln w="12700">
            <a:solidFill>
              <a:srgbClr val="DDE3EC"/>
            </a:solidFill>
            <a:prstDash val="solid"/>
          </a:ln>
        </p:spPr>
      </p:sp>
      <p:sp>
        <p:nvSpPr>
          <p:cNvPr id="9" name="Shape 7"/>
          <p:cNvSpPr/>
          <p:nvPr/>
        </p:nvSpPr>
        <p:spPr>
          <a:xfrm>
            <a:off x="731520" y="2276856"/>
            <a:ext cx="384048" cy="384048"/>
          </a:xfrm>
          <a:prstGeom prst="ellipse">
            <a:avLst/>
          </a:prstGeom>
          <a:solidFill>
            <a:srgbClr val="C8A02C"/>
          </a:solidFill>
          <a:ln/>
        </p:spPr>
      </p:sp>
      <p:sp>
        <p:nvSpPr>
          <p:cNvPr id="10" name="Text 8"/>
          <p:cNvSpPr txBox="1"/>
          <p:nvPr/>
        </p:nvSpPr>
        <p:spPr>
          <a:xfrm>
            <a:off x="731520" y="2276856"/>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261872" y="2167128"/>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Problem Statement &amp; Motivation</a:t>
            </a:r>
            <a:endParaRPr lang="en-US" sz="1400" dirty="0"/>
          </a:p>
        </p:txBody>
      </p:sp>
      <p:sp>
        <p:nvSpPr>
          <p:cNvPr id="12" name="Shape 10"/>
          <p:cNvSpPr/>
          <p:nvPr/>
        </p:nvSpPr>
        <p:spPr>
          <a:xfrm>
            <a:off x="548640" y="2916936"/>
            <a:ext cx="5349240" cy="603504"/>
          </a:xfrm>
          <a:prstGeom prst="roundRect">
            <a:avLst>
              <a:gd name="adj" fmla="val 12121"/>
            </a:avLst>
          </a:prstGeom>
          <a:solidFill>
            <a:srgbClr val="F1F4F9"/>
          </a:solidFill>
          <a:ln w="12700">
            <a:solidFill>
              <a:srgbClr val="DDE3EC"/>
            </a:solidFill>
            <a:prstDash val="solid"/>
          </a:ln>
        </p:spPr>
      </p:sp>
      <p:sp>
        <p:nvSpPr>
          <p:cNvPr id="13" name="Shape 11"/>
          <p:cNvSpPr/>
          <p:nvPr/>
        </p:nvSpPr>
        <p:spPr>
          <a:xfrm>
            <a:off x="731520" y="3026664"/>
            <a:ext cx="384048" cy="384048"/>
          </a:xfrm>
          <a:prstGeom prst="ellipse">
            <a:avLst/>
          </a:prstGeom>
          <a:solidFill>
            <a:srgbClr val="C8A02C"/>
          </a:solidFill>
          <a:ln/>
        </p:spPr>
      </p:sp>
      <p:sp>
        <p:nvSpPr>
          <p:cNvPr id="14" name="Text 12"/>
          <p:cNvSpPr txBox="1"/>
          <p:nvPr/>
        </p:nvSpPr>
        <p:spPr>
          <a:xfrm>
            <a:off x="731520" y="3026664"/>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15" name="Text 13"/>
          <p:cNvSpPr txBox="1"/>
          <p:nvPr/>
        </p:nvSpPr>
        <p:spPr>
          <a:xfrm>
            <a:off x="1261872" y="2916936"/>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Literature Survey</a:t>
            </a:r>
            <a:endParaRPr lang="en-US" sz="1400" dirty="0"/>
          </a:p>
        </p:txBody>
      </p:sp>
      <p:sp>
        <p:nvSpPr>
          <p:cNvPr id="16" name="Shape 14"/>
          <p:cNvSpPr/>
          <p:nvPr/>
        </p:nvSpPr>
        <p:spPr>
          <a:xfrm>
            <a:off x="548640" y="3666744"/>
            <a:ext cx="5349240" cy="603504"/>
          </a:xfrm>
          <a:prstGeom prst="roundRect">
            <a:avLst>
              <a:gd name="adj" fmla="val 12121"/>
            </a:avLst>
          </a:prstGeom>
          <a:solidFill>
            <a:srgbClr val="F1F4F9"/>
          </a:solidFill>
          <a:ln w="12700">
            <a:solidFill>
              <a:srgbClr val="DDE3EC"/>
            </a:solidFill>
            <a:prstDash val="solid"/>
          </a:ln>
        </p:spPr>
      </p:sp>
      <p:sp>
        <p:nvSpPr>
          <p:cNvPr id="17" name="Shape 15"/>
          <p:cNvSpPr/>
          <p:nvPr/>
        </p:nvSpPr>
        <p:spPr>
          <a:xfrm>
            <a:off x="731520" y="3776472"/>
            <a:ext cx="384048" cy="384048"/>
          </a:xfrm>
          <a:prstGeom prst="ellipse">
            <a:avLst/>
          </a:prstGeom>
          <a:solidFill>
            <a:srgbClr val="C8A02C"/>
          </a:solidFill>
          <a:ln/>
        </p:spPr>
      </p:sp>
      <p:sp>
        <p:nvSpPr>
          <p:cNvPr id="18" name="Text 16"/>
          <p:cNvSpPr txBox="1"/>
          <p:nvPr/>
        </p:nvSpPr>
        <p:spPr>
          <a:xfrm>
            <a:off x="731520" y="3776472"/>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4</a:t>
            </a:r>
            <a:endParaRPr lang="en-US" sz="1300" dirty="0"/>
          </a:p>
        </p:txBody>
      </p:sp>
      <p:sp>
        <p:nvSpPr>
          <p:cNvPr id="19" name="Text 17"/>
          <p:cNvSpPr txBox="1"/>
          <p:nvPr/>
        </p:nvSpPr>
        <p:spPr>
          <a:xfrm>
            <a:off x="1261872" y="3666744"/>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Research Gap Identified</a:t>
            </a:r>
            <a:endParaRPr lang="en-US" sz="1400" dirty="0"/>
          </a:p>
        </p:txBody>
      </p:sp>
      <p:sp>
        <p:nvSpPr>
          <p:cNvPr id="20" name="Shape 18"/>
          <p:cNvSpPr/>
          <p:nvPr/>
        </p:nvSpPr>
        <p:spPr>
          <a:xfrm>
            <a:off x="548640" y="4416552"/>
            <a:ext cx="5349240" cy="603504"/>
          </a:xfrm>
          <a:prstGeom prst="roundRect">
            <a:avLst>
              <a:gd name="adj" fmla="val 12121"/>
            </a:avLst>
          </a:prstGeom>
          <a:solidFill>
            <a:srgbClr val="F1F4F9"/>
          </a:solidFill>
          <a:ln w="12700">
            <a:solidFill>
              <a:srgbClr val="DDE3EC"/>
            </a:solidFill>
            <a:prstDash val="solid"/>
          </a:ln>
        </p:spPr>
      </p:sp>
      <p:sp>
        <p:nvSpPr>
          <p:cNvPr id="21" name="Shape 19"/>
          <p:cNvSpPr/>
          <p:nvPr/>
        </p:nvSpPr>
        <p:spPr>
          <a:xfrm>
            <a:off x="731520" y="4526280"/>
            <a:ext cx="384048" cy="384048"/>
          </a:xfrm>
          <a:prstGeom prst="ellipse">
            <a:avLst/>
          </a:prstGeom>
          <a:solidFill>
            <a:srgbClr val="C8A02C"/>
          </a:solidFill>
          <a:ln/>
        </p:spPr>
      </p:sp>
      <p:sp>
        <p:nvSpPr>
          <p:cNvPr id="22" name="Text 20"/>
          <p:cNvSpPr txBox="1"/>
          <p:nvPr/>
        </p:nvSpPr>
        <p:spPr>
          <a:xfrm>
            <a:off x="731520" y="452628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5</a:t>
            </a:r>
            <a:endParaRPr lang="en-US" sz="1300" dirty="0"/>
          </a:p>
        </p:txBody>
      </p:sp>
      <p:sp>
        <p:nvSpPr>
          <p:cNvPr id="23" name="Text 21"/>
          <p:cNvSpPr txBox="1"/>
          <p:nvPr/>
        </p:nvSpPr>
        <p:spPr>
          <a:xfrm>
            <a:off x="1261872" y="4416552"/>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Objectives of the Project</a:t>
            </a:r>
            <a:endParaRPr lang="en-US" sz="1400" dirty="0"/>
          </a:p>
        </p:txBody>
      </p:sp>
      <p:sp>
        <p:nvSpPr>
          <p:cNvPr id="24" name="Shape 22"/>
          <p:cNvSpPr/>
          <p:nvPr/>
        </p:nvSpPr>
        <p:spPr>
          <a:xfrm>
            <a:off x="548640" y="5166360"/>
            <a:ext cx="5349240" cy="603504"/>
          </a:xfrm>
          <a:prstGeom prst="roundRect">
            <a:avLst>
              <a:gd name="adj" fmla="val 12121"/>
            </a:avLst>
          </a:prstGeom>
          <a:solidFill>
            <a:srgbClr val="F1F4F9"/>
          </a:solidFill>
          <a:ln w="12700">
            <a:solidFill>
              <a:srgbClr val="DDE3EC"/>
            </a:solidFill>
            <a:prstDash val="solid"/>
          </a:ln>
        </p:spPr>
      </p:sp>
      <p:sp>
        <p:nvSpPr>
          <p:cNvPr id="25" name="Shape 23"/>
          <p:cNvSpPr/>
          <p:nvPr/>
        </p:nvSpPr>
        <p:spPr>
          <a:xfrm>
            <a:off x="731520" y="5276088"/>
            <a:ext cx="384048" cy="384048"/>
          </a:xfrm>
          <a:prstGeom prst="ellipse">
            <a:avLst/>
          </a:prstGeom>
          <a:solidFill>
            <a:srgbClr val="C8A02C"/>
          </a:solidFill>
          <a:ln/>
        </p:spPr>
      </p:sp>
      <p:sp>
        <p:nvSpPr>
          <p:cNvPr id="26" name="Text 24"/>
          <p:cNvSpPr txBox="1"/>
          <p:nvPr/>
        </p:nvSpPr>
        <p:spPr>
          <a:xfrm>
            <a:off x="731520" y="527608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6</a:t>
            </a:r>
            <a:endParaRPr lang="en-US" sz="1300" dirty="0"/>
          </a:p>
        </p:txBody>
      </p:sp>
      <p:sp>
        <p:nvSpPr>
          <p:cNvPr id="27" name="Text 25"/>
          <p:cNvSpPr txBox="1"/>
          <p:nvPr/>
        </p:nvSpPr>
        <p:spPr>
          <a:xfrm>
            <a:off x="1261872" y="5166360"/>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Proposed System Architecture</a:t>
            </a:r>
            <a:endParaRPr lang="en-US" sz="1400" dirty="0"/>
          </a:p>
        </p:txBody>
      </p:sp>
      <p:sp>
        <p:nvSpPr>
          <p:cNvPr id="28" name="Shape 26"/>
          <p:cNvSpPr/>
          <p:nvPr/>
        </p:nvSpPr>
        <p:spPr>
          <a:xfrm>
            <a:off x="6217920" y="1417320"/>
            <a:ext cx="5349240" cy="603504"/>
          </a:xfrm>
          <a:prstGeom prst="roundRect">
            <a:avLst>
              <a:gd name="adj" fmla="val 12121"/>
            </a:avLst>
          </a:prstGeom>
          <a:solidFill>
            <a:srgbClr val="F1F4F9"/>
          </a:solidFill>
          <a:ln w="12700">
            <a:solidFill>
              <a:srgbClr val="DDE3EC"/>
            </a:solidFill>
            <a:prstDash val="solid"/>
          </a:ln>
        </p:spPr>
      </p:sp>
      <p:sp>
        <p:nvSpPr>
          <p:cNvPr id="29" name="Shape 27"/>
          <p:cNvSpPr/>
          <p:nvPr/>
        </p:nvSpPr>
        <p:spPr>
          <a:xfrm>
            <a:off x="6400800" y="1527048"/>
            <a:ext cx="384048" cy="384048"/>
          </a:xfrm>
          <a:prstGeom prst="ellipse">
            <a:avLst/>
          </a:prstGeom>
          <a:solidFill>
            <a:srgbClr val="C8A02C"/>
          </a:solidFill>
          <a:ln/>
        </p:spPr>
      </p:sp>
      <p:sp>
        <p:nvSpPr>
          <p:cNvPr id="30" name="Text 28"/>
          <p:cNvSpPr txBox="1"/>
          <p:nvPr/>
        </p:nvSpPr>
        <p:spPr>
          <a:xfrm>
            <a:off x="6400800" y="152704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7</a:t>
            </a:r>
            <a:endParaRPr lang="en-US" sz="1300" dirty="0"/>
          </a:p>
        </p:txBody>
      </p:sp>
      <p:sp>
        <p:nvSpPr>
          <p:cNvPr id="31" name="Text 29"/>
          <p:cNvSpPr txBox="1"/>
          <p:nvPr/>
        </p:nvSpPr>
        <p:spPr>
          <a:xfrm>
            <a:off x="6931152" y="1417320"/>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Methodology &amp; Modules</a:t>
            </a:r>
            <a:endParaRPr lang="en-US" sz="1400" dirty="0"/>
          </a:p>
        </p:txBody>
      </p:sp>
      <p:sp>
        <p:nvSpPr>
          <p:cNvPr id="32" name="Shape 30"/>
          <p:cNvSpPr/>
          <p:nvPr/>
        </p:nvSpPr>
        <p:spPr>
          <a:xfrm>
            <a:off x="6217920" y="2167128"/>
            <a:ext cx="5349240" cy="603504"/>
          </a:xfrm>
          <a:prstGeom prst="roundRect">
            <a:avLst>
              <a:gd name="adj" fmla="val 12121"/>
            </a:avLst>
          </a:prstGeom>
          <a:solidFill>
            <a:srgbClr val="F1F4F9"/>
          </a:solidFill>
          <a:ln w="12700">
            <a:solidFill>
              <a:srgbClr val="DDE3EC"/>
            </a:solidFill>
            <a:prstDash val="solid"/>
          </a:ln>
        </p:spPr>
      </p:sp>
      <p:sp>
        <p:nvSpPr>
          <p:cNvPr id="33" name="Shape 31"/>
          <p:cNvSpPr/>
          <p:nvPr/>
        </p:nvSpPr>
        <p:spPr>
          <a:xfrm>
            <a:off x="6400800" y="2276856"/>
            <a:ext cx="384048" cy="384048"/>
          </a:xfrm>
          <a:prstGeom prst="ellipse">
            <a:avLst/>
          </a:prstGeom>
          <a:solidFill>
            <a:srgbClr val="C8A02C"/>
          </a:solidFill>
          <a:ln/>
        </p:spPr>
      </p:sp>
      <p:sp>
        <p:nvSpPr>
          <p:cNvPr id="34" name="Text 32"/>
          <p:cNvSpPr txBox="1"/>
          <p:nvPr/>
        </p:nvSpPr>
        <p:spPr>
          <a:xfrm>
            <a:off x="6400800" y="2276856"/>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8</a:t>
            </a:r>
            <a:endParaRPr lang="en-US" sz="1300" dirty="0"/>
          </a:p>
        </p:txBody>
      </p:sp>
      <p:sp>
        <p:nvSpPr>
          <p:cNvPr id="35" name="Text 33"/>
          <p:cNvSpPr txBox="1"/>
          <p:nvPr/>
        </p:nvSpPr>
        <p:spPr>
          <a:xfrm>
            <a:off x="6931152" y="2167128"/>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Tools and Technologies</a:t>
            </a:r>
            <a:endParaRPr lang="en-US" sz="1400" dirty="0"/>
          </a:p>
        </p:txBody>
      </p:sp>
      <p:sp>
        <p:nvSpPr>
          <p:cNvPr id="36" name="Shape 34"/>
          <p:cNvSpPr/>
          <p:nvPr/>
        </p:nvSpPr>
        <p:spPr>
          <a:xfrm>
            <a:off x="6217920" y="2916936"/>
            <a:ext cx="5349240" cy="603504"/>
          </a:xfrm>
          <a:prstGeom prst="roundRect">
            <a:avLst>
              <a:gd name="adj" fmla="val 12121"/>
            </a:avLst>
          </a:prstGeom>
          <a:solidFill>
            <a:srgbClr val="F1F4F9"/>
          </a:solidFill>
          <a:ln w="12700">
            <a:solidFill>
              <a:srgbClr val="DDE3EC"/>
            </a:solidFill>
            <a:prstDash val="solid"/>
          </a:ln>
        </p:spPr>
      </p:sp>
      <p:sp>
        <p:nvSpPr>
          <p:cNvPr id="37" name="Shape 35"/>
          <p:cNvSpPr/>
          <p:nvPr/>
        </p:nvSpPr>
        <p:spPr>
          <a:xfrm>
            <a:off x="6400800" y="3026664"/>
            <a:ext cx="384048" cy="384048"/>
          </a:xfrm>
          <a:prstGeom prst="ellipse">
            <a:avLst/>
          </a:prstGeom>
          <a:solidFill>
            <a:srgbClr val="C8A02C"/>
          </a:solidFill>
          <a:ln/>
        </p:spPr>
      </p:sp>
      <p:sp>
        <p:nvSpPr>
          <p:cNvPr id="38" name="Text 36"/>
          <p:cNvSpPr txBox="1"/>
          <p:nvPr/>
        </p:nvSpPr>
        <p:spPr>
          <a:xfrm>
            <a:off x="6400800" y="3026664"/>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9</a:t>
            </a:r>
            <a:endParaRPr lang="en-US" sz="1300" dirty="0"/>
          </a:p>
        </p:txBody>
      </p:sp>
      <p:sp>
        <p:nvSpPr>
          <p:cNvPr id="39" name="Text 37"/>
          <p:cNvSpPr txBox="1"/>
          <p:nvPr/>
        </p:nvSpPr>
        <p:spPr>
          <a:xfrm>
            <a:off x="6931152" y="2916936"/>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Work Completed / Demo</a:t>
            </a:r>
            <a:endParaRPr lang="en-US" sz="1400" dirty="0"/>
          </a:p>
        </p:txBody>
      </p:sp>
      <p:sp>
        <p:nvSpPr>
          <p:cNvPr id="40" name="Shape 38"/>
          <p:cNvSpPr/>
          <p:nvPr/>
        </p:nvSpPr>
        <p:spPr>
          <a:xfrm>
            <a:off x="6217920" y="3666744"/>
            <a:ext cx="5349240" cy="603504"/>
          </a:xfrm>
          <a:prstGeom prst="roundRect">
            <a:avLst>
              <a:gd name="adj" fmla="val 12121"/>
            </a:avLst>
          </a:prstGeom>
          <a:solidFill>
            <a:srgbClr val="F1F4F9"/>
          </a:solidFill>
          <a:ln w="12700">
            <a:solidFill>
              <a:srgbClr val="DDE3EC"/>
            </a:solidFill>
            <a:prstDash val="solid"/>
          </a:ln>
        </p:spPr>
      </p:sp>
      <p:sp>
        <p:nvSpPr>
          <p:cNvPr id="41" name="Shape 39"/>
          <p:cNvSpPr/>
          <p:nvPr/>
        </p:nvSpPr>
        <p:spPr>
          <a:xfrm>
            <a:off x="6400800" y="3776472"/>
            <a:ext cx="384048" cy="384048"/>
          </a:xfrm>
          <a:prstGeom prst="ellipse">
            <a:avLst/>
          </a:prstGeom>
          <a:solidFill>
            <a:srgbClr val="C8A02C"/>
          </a:solidFill>
          <a:ln/>
        </p:spPr>
      </p:sp>
      <p:sp>
        <p:nvSpPr>
          <p:cNvPr id="42" name="Text 40"/>
          <p:cNvSpPr txBox="1"/>
          <p:nvPr/>
        </p:nvSpPr>
        <p:spPr>
          <a:xfrm>
            <a:off x="6400800" y="3776472"/>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10</a:t>
            </a:r>
            <a:endParaRPr lang="en-US" sz="1300" dirty="0"/>
          </a:p>
        </p:txBody>
      </p:sp>
      <p:sp>
        <p:nvSpPr>
          <p:cNvPr id="43" name="Text 41"/>
          <p:cNvSpPr txBox="1"/>
          <p:nvPr/>
        </p:nvSpPr>
        <p:spPr>
          <a:xfrm>
            <a:off x="6931152" y="3666744"/>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Timeline &amp; Review Plan</a:t>
            </a:r>
            <a:endParaRPr lang="en-US" sz="1400" dirty="0"/>
          </a:p>
        </p:txBody>
      </p:sp>
      <p:sp>
        <p:nvSpPr>
          <p:cNvPr id="44" name="Shape 42"/>
          <p:cNvSpPr/>
          <p:nvPr/>
        </p:nvSpPr>
        <p:spPr>
          <a:xfrm>
            <a:off x="6217920" y="4416552"/>
            <a:ext cx="5349240" cy="603504"/>
          </a:xfrm>
          <a:prstGeom prst="roundRect">
            <a:avLst>
              <a:gd name="adj" fmla="val 12121"/>
            </a:avLst>
          </a:prstGeom>
          <a:solidFill>
            <a:srgbClr val="F1F4F9"/>
          </a:solidFill>
          <a:ln w="12700">
            <a:solidFill>
              <a:srgbClr val="DDE3EC"/>
            </a:solidFill>
            <a:prstDash val="solid"/>
          </a:ln>
        </p:spPr>
      </p:sp>
      <p:sp>
        <p:nvSpPr>
          <p:cNvPr id="45" name="Shape 43"/>
          <p:cNvSpPr/>
          <p:nvPr/>
        </p:nvSpPr>
        <p:spPr>
          <a:xfrm>
            <a:off x="6400800" y="4526280"/>
            <a:ext cx="384048" cy="384048"/>
          </a:xfrm>
          <a:prstGeom prst="ellipse">
            <a:avLst/>
          </a:prstGeom>
          <a:solidFill>
            <a:srgbClr val="C8A02C"/>
          </a:solidFill>
          <a:ln/>
        </p:spPr>
      </p:sp>
      <p:sp>
        <p:nvSpPr>
          <p:cNvPr id="46" name="Text 44"/>
          <p:cNvSpPr txBox="1"/>
          <p:nvPr/>
        </p:nvSpPr>
        <p:spPr>
          <a:xfrm>
            <a:off x="6400800" y="452628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11</a:t>
            </a:r>
            <a:endParaRPr lang="en-US" sz="1300" dirty="0"/>
          </a:p>
        </p:txBody>
      </p:sp>
      <p:sp>
        <p:nvSpPr>
          <p:cNvPr id="47" name="Text 45"/>
          <p:cNvSpPr txBox="1"/>
          <p:nvPr/>
        </p:nvSpPr>
        <p:spPr>
          <a:xfrm>
            <a:off x="6931152" y="4416552"/>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Expected Outcome &amp; Conclusion</a:t>
            </a:r>
            <a:endParaRPr lang="en-US" sz="1400" dirty="0"/>
          </a:p>
        </p:txBody>
      </p:sp>
      <p:sp>
        <p:nvSpPr>
          <p:cNvPr id="48" name="Shape 46"/>
          <p:cNvSpPr/>
          <p:nvPr/>
        </p:nvSpPr>
        <p:spPr>
          <a:xfrm>
            <a:off x="6217920" y="5166360"/>
            <a:ext cx="5349240" cy="603504"/>
          </a:xfrm>
          <a:prstGeom prst="roundRect">
            <a:avLst>
              <a:gd name="adj" fmla="val 12121"/>
            </a:avLst>
          </a:prstGeom>
          <a:solidFill>
            <a:srgbClr val="F1F4F9"/>
          </a:solidFill>
          <a:ln w="12700">
            <a:solidFill>
              <a:srgbClr val="DDE3EC"/>
            </a:solidFill>
            <a:prstDash val="solid"/>
          </a:ln>
        </p:spPr>
      </p:sp>
      <p:sp>
        <p:nvSpPr>
          <p:cNvPr id="49" name="Shape 47"/>
          <p:cNvSpPr/>
          <p:nvPr/>
        </p:nvSpPr>
        <p:spPr>
          <a:xfrm>
            <a:off x="6400800" y="5276088"/>
            <a:ext cx="384048" cy="384048"/>
          </a:xfrm>
          <a:prstGeom prst="ellipse">
            <a:avLst/>
          </a:prstGeom>
          <a:solidFill>
            <a:srgbClr val="C8A02C"/>
          </a:solidFill>
          <a:ln/>
        </p:spPr>
      </p:sp>
      <p:sp>
        <p:nvSpPr>
          <p:cNvPr id="50" name="Text 48"/>
          <p:cNvSpPr txBox="1"/>
          <p:nvPr/>
        </p:nvSpPr>
        <p:spPr>
          <a:xfrm>
            <a:off x="6400800" y="527608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12</a:t>
            </a:r>
            <a:endParaRPr lang="en-US" sz="1300" dirty="0"/>
          </a:p>
        </p:txBody>
      </p:sp>
      <p:sp>
        <p:nvSpPr>
          <p:cNvPr id="51" name="Text 49"/>
          <p:cNvSpPr txBox="1"/>
          <p:nvPr/>
        </p:nvSpPr>
        <p:spPr>
          <a:xfrm>
            <a:off x="6931152" y="5166360"/>
            <a:ext cx="4526280" cy="603504"/>
          </a:xfrm>
          <a:prstGeom prst="rect">
            <a:avLst/>
          </a:prstGeom>
          <a:noFill/>
          <a:ln/>
        </p:spPr>
        <p:txBody>
          <a:bodyPr wrap="square" lIns="0" tIns="0" rIns="0" bIns="0" rtlCol="0" anchor="ctr"/>
          <a:lstStyle/>
          <a:p>
            <a:pPr indent="0" marL="0">
              <a:buNone/>
            </a:pPr>
            <a:r>
              <a:rPr lang="en-US" sz="1400" dirty="0">
                <a:solidFill>
                  <a:srgbClr val="1F2430"/>
                </a:solidFill>
                <a:latin typeface="Calibri" pitchFamily="34" charset="0"/>
                <a:ea typeface="Calibri" pitchFamily="34" charset="-122"/>
                <a:cs typeface="Calibri" pitchFamily="34" charset="-120"/>
              </a:rPr>
              <a:t>References</a:t>
            </a:r>
            <a:endParaRPr lang="en-US" sz="1400" dirty="0"/>
          </a:p>
        </p:txBody>
      </p:sp>
      <p:sp>
        <p:nvSpPr>
          <p:cNvPr id="52" name="Text 50"/>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53" name="Text 51"/>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1</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Introduction &amp; Domain Background</a:t>
            </a:r>
            <a:endParaRPr lang="en-US" sz="3100" dirty="0"/>
          </a:p>
        </p:txBody>
      </p:sp>
      <p:sp>
        <p:nvSpPr>
          <p:cNvPr id="4" name="Shape 2"/>
          <p:cNvSpPr/>
          <p:nvPr/>
        </p:nvSpPr>
        <p:spPr>
          <a:xfrm>
            <a:off x="548640" y="1417320"/>
            <a:ext cx="6583680" cy="4480560"/>
          </a:xfrm>
          <a:prstGeom prst="roundRect">
            <a:avLst>
              <a:gd name="adj" fmla="val 1633"/>
            </a:avLst>
          </a:prstGeom>
          <a:solidFill>
            <a:srgbClr val="F1F4F9"/>
          </a:solidFill>
          <a:ln w="12700">
            <a:solidFill>
              <a:srgbClr val="DDE3EC"/>
            </a:solidFill>
            <a:prstDash val="solid"/>
          </a:ln>
        </p:spPr>
      </p:sp>
      <p:sp>
        <p:nvSpPr>
          <p:cNvPr id="5" name="Text 3"/>
          <p:cNvSpPr txBox="1"/>
          <p:nvPr/>
        </p:nvSpPr>
        <p:spPr>
          <a:xfrm>
            <a:off x="868680" y="1691640"/>
            <a:ext cx="6035040" cy="3931920"/>
          </a:xfrm>
          <a:prstGeom prst="rect">
            <a:avLst/>
          </a:prstGeom>
          <a:noFill/>
          <a:ln/>
        </p:spPr>
        <p:txBody>
          <a:bodyPr wrap="square" lIns="0" tIns="0" rIns="0" bIns="0" rtlCol="0" anchor="ctr"/>
          <a:lstStyle/>
          <a:p>
            <a:pPr indent="0" marL="0">
              <a:buNone/>
            </a:pPr>
            <a:r>
              <a:rPr lang="en-US" sz="1450" b="1" i="0" dirty="0">
                <a:solidFill>
                  <a:srgbClr val="1B2A55"/>
                </a:solidFill>
                <a:latin typeface="Calibri"/>
                <a:ea typeface="Calibri"/>
                <a:cs typeface="Calibri"/>
              </a:rPr>
              <a:t>What is the domain?</a:t>
            </a:r>
          </a:p>
          <a:p>
            <a:pPr indent="0" marL="0">
              <a:buNone/>
              <a:spcAft>
                <a:spcPts val="600"/>
              </a:spcAft>
            </a:pPr>
            <a:r>
              <a:rPr lang="en-US" sz="1200" b="0" i="0" dirty="0">
                <a:solidFill>
                  <a:srgbClr val="1F2430"/>
                </a:solidFill>
                <a:latin typeface="Calibri"/>
                <a:ea typeface="Calibri"/>
                <a:cs typeface="Calibri"/>
              </a:rPr>
              <a:t>Modern retail and e-commerce enterprises generate massive volumes of customer transaction data daily. Customer purchasing behaviors vary substantially across frequency, timing, and expenditure. Treating all customers uniformly leads to suboptimal marketing efficiency and customer attrition.</a:t>
            </a:r>
          </a:p>
          <a:p>
            <a:pPr indent="0" marL="0">
              <a:buNone/>
            </a:pPr>
            <a:r>
              <a:rPr lang="en-US" sz="1450" b="1" i="0" dirty="0">
                <a:solidFill>
                  <a:srgbClr val="1B2A55"/>
                </a:solidFill>
                <a:latin typeface="Calibri"/>
                <a:ea typeface="Calibri"/>
                <a:cs typeface="Calibri"/>
              </a:rPr>
              <a:t>Why is it relevant today?</a:t>
            </a:r>
          </a:p>
          <a:p>
            <a:pPr indent="0" marL="0">
              <a:buNone/>
              <a:spcAft>
                <a:spcPts val="600"/>
              </a:spcAft>
            </a:pPr>
            <a:r>
              <a:rPr lang="en-US" sz="1200" b="0" i="0" dirty="0">
                <a:solidFill>
                  <a:srgbClr val="1F2430"/>
                </a:solidFill>
                <a:latin typeface="Calibri"/>
                <a:ea typeface="Calibri"/>
                <a:cs typeface="Calibri"/>
              </a:rPr>
              <a:t>Studies in retail analytics indicate that acquiring a new customer costs up to 5 times more than retaining an existing customer [6]. Automated customer segmentation enables personalized marketing campaigns, improves retention rates, and maximizes customer lifetime value.</a:t>
            </a:r>
          </a:p>
          <a:p>
            <a:pPr indent="0" marL="0">
              <a:buNone/>
            </a:pPr>
            <a:r>
              <a:rPr lang="en-US" sz="1450" b="1" i="0" dirty="0">
                <a:solidFill>
                  <a:srgbClr val="1B2A55"/>
                </a:solidFill>
                <a:latin typeface="Calibri"/>
                <a:ea typeface="Calibri"/>
                <a:cs typeface="Calibri"/>
              </a:rPr>
              <a:t>Where does our project sit?</a:t>
            </a:r>
          </a:p>
          <a:p>
            <a:pPr indent="0" marL="0">
              <a:buNone/>
            </a:pPr>
            <a:r>
              <a:rPr lang="en-US" sz="1200" b="0" i="0" dirty="0">
                <a:solidFill>
                  <a:srgbClr val="1F2430"/>
                </a:solidFill>
                <a:latin typeface="Calibri"/>
                <a:ea typeface="Calibri"/>
                <a:cs typeface="Calibri"/>
              </a:rPr>
              <a:t>Our project applies unsupervised machine learning to retail transaction logs to discover natural customer cohorts using Recency, Frequency, and Monetary (RFM) behavioral feature extraction and clustering algorithms.</a:t>
            </a:r>
          </a:p>
        </p:txBody>
      </p:sp>
      <p:sp>
        <p:nvSpPr>
          <p:cNvPr id="6" name="Shape 4"/>
          <p:cNvSpPr/>
          <p:nvPr/>
        </p:nvSpPr>
        <p:spPr>
          <a:xfrm>
            <a:off x="7406640" y="1417320"/>
            <a:ext cx="4206240" cy="2834640"/>
          </a:xfrm>
          <a:prstGeom prst="roundRect">
            <a:avLst>
              <a:gd name="adj" fmla="val 2581"/>
            </a:avLst>
          </a:prstGeom>
          <a:solidFill>
            <a:srgbClr val="FFFFFF"/>
          </a:solidFill>
          <a:ln w="12700">
            <a:solidFill>
              <a:srgbClr val="9AA5B8"/>
            </a:solidFill>
            <a:prstDash val="dash"/>
          </a:ln>
        </p:spPr>
      </p:sp>
      <p:sp>
        <p:nvSpPr>
          <p:cNvPr id="7" name="Text 5"/>
          <p:cNvSpPr txBox="1"/>
          <p:nvPr/>
        </p:nvSpPr>
        <p:spPr>
          <a:xfrm>
            <a:off x="7543800" y="1417320"/>
            <a:ext cx="3931920" cy="2834640"/>
          </a:xfrm>
          <a:prstGeom prst="rect">
            <a:avLst/>
          </a:prstGeom>
          <a:noFill/>
          <a:ln/>
        </p:spPr>
        <p:txBody>
          <a:bodyPr wrap="square" lIns="0" tIns="0" rIns="0" bIns="0" rtlCol="0" anchor="ctr"/>
          <a:lstStyle/>
          <a:p>
            <a:pPr indent="0" marL="0">
              <a:buNone/>
              <a:spcAft>
                <a:spcPts val="400"/>
              </a:spcAft>
            </a:pPr>
            <a:r>
              <a:rPr lang="en-US" sz="1300" b="1" i="0" dirty="0">
                <a:solidFill>
                  <a:srgbClr val="1B2A55"/>
                </a:solidFill>
                <a:latin typeface="Calibri"/>
                <a:ea typeface="Calibri"/>
                <a:cs typeface="Calibri"/>
              </a:rPr>
              <a:t>RFM BEHAVIORAL MODEL</a:t>
            </a:r>
          </a:p>
          <a:p>
            <a:pPr indent="0" marL="0">
              <a:buNone/>
              <a:spcAft>
                <a:spcPts val="300"/>
              </a:spcAft>
            </a:pPr>
            <a:r>
              <a:rPr lang="en-US" sz="1100" b="0" i="0" dirty="0">
                <a:solidFill>
                  <a:srgbClr val="1F2430"/>
                </a:solidFill>
                <a:latin typeface="Calibri"/>
                <a:ea typeface="Calibri"/>
                <a:cs typeface="Calibri"/>
              </a:rPr>
              <a:t>• Recency (R): Days since last purchase; distinguishes active from churning buyers.</a:t>
            </a:r>
          </a:p>
          <a:p>
            <a:pPr indent="0" marL="0">
              <a:buNone/>
              <a:spcAft>
                <a:spcPts val="300"/>
              </a:spcAft>
            </a:pPr>
            <a:r>
              <a:rPr lang="en-US" sz="1100" b="0" i="0" dirty="0">
                <a:solidFill>
                  <a:srgbClr val="1F2430"/>
                </a:solidFill>
                <a:latin typeface="Calibri"/>
                <a:ea typeface="Calibri"/>
                <a:cs typeface="Calibri"/>
              </a:rPr>
              <a:t>• Frequency (F): Total count of purchases; measures brand engagement and loyalty.</a:t>
            </a:r>
          </a:p>
          <a:p>
            <a:pPr indent="0" marL="0">
              <a:buNone/>
              <a:spcAft>
                <a:spcPts val="600"/>
              </a:spcAft>
            </a:pPr>
            <a:r>
              <a:rPr lang="en-US" sz="1100" b="0" i="0" dirty="0">
                <a:solidFill>
                  <a:srgbClr val="1F2430"/>
                </a:solidFill>
                <a:latin typeface="Calibri"/>
                <a:ea typeface="Calibri"/>
                <a:cs typeface="Calibri"/>
              </a:rPr>
              <a:t>• Monetary (M): Cumulative amount spent; identifies top revenue-generating customers.</a:t>
            </a:r>
          </a:p>
          <a:p>
            <a:pPr indent="0" marL="0">
              <a:buNone/>
            </a:pPr>
            <a:r>
              <a:rPr lang="en-US" sz="1050" b="0" i="1" dirty="0">
                <a:solidFill>
                  <a:srgbClr val="1B2A55"/>
                </a:solidFill>
                <a:latin typeface="Calibri"/>
                <a:ea typeface="Calibri"/>
                <a:cs typeface="Calibri"/>
              </a:rPr>
              <a:t>Unsupervised Clustering discovers organic customer segments directly from these behavioral vectors without predefined labels.</a:t>
            </a:r>
          </a:p>
        </p:txBody>
      </p:sp>
      <p:sp>
        <p:nvSpPr>
          <p:cNvPr id="8" name="Shape 6"/>
          <p:cNvSpPr/>
          <p:nvPr/>
        </p:nvSpPr>
        <p:spPr>
          <a:xfrm>
            <a:off x="7406640" y="4434840"/>
            <a:ext cx="4206240" cy="1463040"/>
          </a:xfrm>
          <a:prstGeom prst="roundRect">
            <a:avLst>
              <a:gd name="adj" fmla="val 5000"/>
            </a:avLst>
          </a:prstGeom>
          <a:solidFill>
            <a:srgbClr val="FDF6E6"/>
          </a:solidFill>
          <a:ln w="12700">
            <a:solidFill>
              <a:srgbClr val="DDE3EC"/>
            </a:solidFill>
            <a:prstDash val="solid"/>
          </a:ln>
        </p:spPr>
      </p:sp>
      <p:sp>
        <p:nvSpPr>
          <p:cNvPr id="9" name="Text 7"/>
          <p:cNvSpPr txBox="1"/>
          <p:nvPr/>
        </p:nvSpPr>
        <p:spPr>
          <a:xfrm>
            <a:off x="7635240" y="4572000"/>
            <a:ext cx="3749040" cy="256032"/>
          </a:xfrm>
          <a:prstGeom prst="rect">
            <a:avLst/>
          </a:prstGeom>
          <a:noFill/>
          <a:ln/>
        </p:spPr>
        <p:txBody>
          <a:bodyPr wrap="square" lIns="0" tIns="0" rIns="0" bIns="0" rtlCol="0" anchor="ctr"/>
          <a:lstStyle/>
          <a:p>
            <a:pPr indent="0" marL="0">
              <a:buNone/>
            </a:pPr>
            <a:r>
              <a:rPr lang="en-US" sz="1050" b="1" i="0" dirty="0">
                <a:solidFill>
                  <a:srgbClr val="A4161A"/>
                </a:solidFill>
                <a:latin typeface="Calibri"/>
                <a:ea typeface="Calibri"/>
                <a:cs typeface="Calibri"/>
              </a:rPr>
              <a:t>Project Grounding</a:t>
            </a:r>
          </a:p>
        </p:txBody>
      </p:sp>
      <p:sp>
        <p:nvSpPr>
          <p:cNvPr id="10" name="Text 8"/>
          <p:cNvSpPr txBox="1"/>
          <p:nvPr/>
        </p:nvSpPr>
        <p:spPr>
          <a:xfrm>
            <a:off x="7635240" y="4864608"/>
            <a:ext cx="3749040" cy="868680"/>
          </a:xfrm>
          <a:prstGeom prst="rect">
            <a:avLst/>
          </a:prstGeom>
          <a:noFill/>
          <a:ln/>
        </p:spPr>
        <p:txBody>
          <a:bodyPr wrap="square" lIns="0" tIns="0" rIns="0" bIns="0" rtlCol="0" anchor="ctr"/>
          <a:lstStyle/>
          <a:p>
            <a:pPr indent="0" marL="0">
              <a:buNone/>
            </a:pPr>
            <a:r>
              <a:rPr lang="en-US" sz="1150" b="0" i="0" dirty="0">
                <a:solidFill>
                  <a:srgbClr val="1F2430"/>
                </a:solidFill>
                <a:latin typeface="Calibri"/>
                <a:ea typeface="Calibri"/>
                <a:cs typeface="Calibri"/>
              </a:rPr>
              <a:t>All domain insights and customer retention benchmarks are grounded in peer-reviewed retail analytics literature [1], [6].</a:t>
            </a:r>
          </a:p>
        </p:txBody>
      </p:sp>
      <p:sp>
        <p:nvSpPr>
          <p:cNvPr id="11" name="Text 9"/>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2" name="Text 10"/>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2</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Problem Statement &amp; Motivation</a:t>
            </a:r>
            <a:endParaRPr lang="en-US" sz="3100" dirty="0"/>
          </a:p>
        </p:txBody>
      </p:sp>
      <p:sp>
        <p:nvSpPr>
          <p:cNvPr id="4" name="Shape 2"/>
          <p:cNvSpPr/>
          <p:nvPr/>
        </p:nvSpPr>
        <p:spPr>
          <a:xfrm>
            <a:off x="548640" y="1417320"/>
            <a:ext cx="11064240" cy="1600200"/>
          </a:xfrm>
          <a:prstGeom prst="roundRect">
            <a:avLst>
              <a:gd name="adj" fmla="val 4571"/>
            </a:avLst>
          </a:prstGeom>
          <a:solidFill>
            <a:srgbClr val="F7EAEA"/>
          </a:solidFill>
          <a:ln w="12700">
            <a:solidFill>
              <a:srgbClr val="DDE3EC"/>
            </a:solidFill>
            <a:prstDash val="solid"/>
          </a:ln>
        </p:spPr>
      </p:sp>
      <p:sp>
        <p:nvSpPr>
          <p:cNvPr id="5" name="Shape 3"/>
          <p:cNvSpPr/>
          <p:nvPr/>
        </p:nvSpPr>
        <p:spPr>
          <a:xfrm>
            <a:off x="548640" y="1417320"/>
            <a:ext cx="109728" cy="1600200"/>
          </a:xfrm>
          <a:prstGeom prst="roundRect">
            <a:avLst>
              <a:gd name="adj" fmla="val 41667"/>
            </a:avLst>
          </a:prstGeom>
          <a:solidFill>
            <a:srgbClr val="A4161A"/>
          </a:solidFill>
          <a:ln w="12700">
            <a:solidFill>
              <a:srgbClr val="A4161A"/>
            </a:solidFill>
            <a:prstDash val="solid"/>
          </a:ln>
        </p:spPr>
      </p:sp>
      <p:sp>
        <p:nvSpPr>
          <p:cNvPr id="6" name="Text 4"/>
          <p:cNvSpPr txBox="1"/>
          <p:nvPr/>
        </p:nvSpPr>
        <p:spPr>
          <a:xfrm>
            <a:off x="914400" y="1627632"/>
            <a:ext cx="10424160" cy="256032"/>
          </a:xfrm>
          <a:prstGeom prst="rect">
            <a:avLst/>
          </a:prstGeom>
          <a:noFill/>
          <a:ln/>
        </p:spPr>
        <p:txBody>
          <a:bodyPr wrap="square" lIns="0" tIns="0" rIns="0" bIns="0" rtlCol="0" anchor="ctr"/>
          <a:lstStyle/>
          <a:p>
            <a:pPr indent="0" marL="0">
              <a:buNone/>
            </a:pPr>
            <a:r>
              <a:rPr lang="en-US" sz="1050" b="1" i="0" dirty="0">
                <a:solidFill>
                  <a:srgbClr val="A4161A"/>
                </a:solidFill>
                <a:latin typeface="Calibri"/>
                <a:ea typeface="Calibri"/>
                <a:cs typeface="Calibri"/>
              </a:rPr>
              <a:t>PROBLEM STATEMENT</a:t>
            </a:r>
          </a:p>
        </p:txBody>
      </p:sp>
      <p:sp>
        <p:nvSpPr>
          <p:cNvPr id="7" name="Text 5"/>
          <p:cNvSpPr txBox="1"/>
          <p:nvPr/>
        </p:nvSpPr>
        <p:spPr>
          <a:xfrm>
            <a:off x="914400" y="1920240"/>
            <a:ext cx="10424160" cy="914400"/>
          </a:xfrm>
          <a:prstGeom prst="rect">
            <a:avLst/>
          </a:prstGeom>
          <a:noFill/>
          <a:ln/>
        </p:spPr>
        <p:txBody>
          <a:bodyPr wrap="square" lIns="0" tIns="0" rIns="0" bIns="0" rtlCol="0" anchor="ctr"/>
          <a:lstStyle/>
          <a:p>
            <a:pPr indent="0" marL="0">
              <a:buNone/>
            </a:pPr>
            <a:r>
              <a:rPr lang="en-US" sz="1750" b="1" i="0" dirty="0">
                <a:solidFill>
                  <a:srgbClr val="1B2A55"/>
                </a:solidFill>
                <a:latin typeface="Cambria"/>
                <a:ea typeface="Cambria"/>
                <a:cs typeface="Cambria"/>
              </a:rPr>
              <a:t>"Retail businesses often struggle to identify distinct customer groups from large, high-dimensional transaction datasets, which limits their ability to design targeted marketing and customer retention strategies."</a:t>
            </a:r>
          </a:p>
        </p:txBody>
      </p:sp>
      <p:sp>
        <p:nvSpPr>
          <p:cNvPr id="8" name="Shape 6"/>
          <p:cNvSpPr/>
          <p:nvPr/>
        </p:nvSpPr>
        <p:spPr>
          <a:xfrm>
            <a:off x="548640" y="3291840"/>
            <a:ext cx="3520440" cy="2606040"/>
          </a:xfrm>
          <a:prstGeom prst="roundRect">
            <a:avLst>
              <a:gd name="adj" fmla="val 2807"/>
            </a:avLst>
          </a:prstGeom>
          <a:solidFill>
            <a:srgbClr val="F1F4F9"/>
          </a:solidFill>
          <a:ln w="12700">
            <a:solidFill>
              <a:srgbClr val="DDE3EC"/>
            </a:solidFill>
            <a:prstDash val="solid"/>
          </a:ln>
        </p:spPr>
      </p:sp>
      <p:sp>
        <p:nvSpPr>
          <p:cNvPr id="9" name="Shape 7"/>
          <p:cNvSpPr/>
          <p:nvPr/>
        </p:nvSpPr>
        <p:spPr>
          <a:xfrm>
            <a:off x="777240" y="3520440"/>
            <a:ext cx="384048" cy="384048"/>
          </a:xfrm>
          <a:prstGeom prst="ellipse">
            <a:avLst/>
          </a:prstGeom>
          <a:solidFill>
            <a:srgbClr val="C8A02C"/>
          </a:solidFill>
          <a:ln/>
        </p:spPr>
      </p:sp>
      <p:sp>
        <p:nvSpPr>
          <p:cNvPr id="10" name="Text 8"/>
          <p:cNvSpPr txBox="1"/>
          <p:nvPr/>
        </p:nvSpPr>
        <p:spPr>
          <a:xfrm>
            <a:off x="777240" y="352044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11" name="Text 9"/>
          <p:cNvSpPr txBox="1"/>
          <p:nvPr/>
        </p:nvSpPr>
        <p:spPr>
          <a:xfrm>
            <a:off x="777240" y="4023360"/>
            <a:ext cx="3063240" cy="457200"/>
          </a:xfrm>
          <a:prstGeom prst="rect">
            <a:avLst/>
          </a:prstGeom>
          <a:noFill/>
          <a:ln/>
        </p:spPr>
        <p:txBody>
          <a:bodyPr wrap="square" lIns="0" tIns="0" rIns="0" bIns="0" rtlCol="0" anchor="ctr"/>
          <a:lstStyle/>
          <a:p>
            <a:pPr indent="0" marL="0">
              <a:buNone/>
            </a:pPr>
            <a:r>
              <a:rPr lang="en-US" sz="1450" b="1" i="0" dirty="0">
                <a:solidFill>
                  <a:srgbClr val="1B2A55"/>
                </a:solidFill>
                <a:latin typeface="Calibri"/>
                <a:ea typeface="Calibri"/>
                <a:cs typeface="Calibri"/>
              </a:rPr>
              <a:t>Who is affected?</a:t>
            </a:r>
          </a:p>
        </p:txBody>
      </p:sp>
      <p:sp>
        <p:nvSpPr>
          <p:cNvPr id="12" name="Text 10"/>
          <p:cNvSpPr txBox="1"/>
          <p:nvPr/>
        </p:nvSpPr>
        <p:spPr>
          <a:xfrm>
            <a:off x="777240" y="4526280"/>
            <a:ext cx="3063240" cy="1234440"/>
          </a:xfrm>
          <a:prstGeom prst="rect">
            <a:avLst/>
          </a:prstGeom>
          <a:noFill/>
          <a:ln/>
        </p:spPr>
        <p:txBody>
          <a:bodyPr wrap="square" lIns="0" tIns="0" rIns="0" bIns="0" rtlCol="0" anchor="ctr"/>
          <a:lstStyle/>
          <a:p>
            <a:pPr indent="0" marL="0">
              <a:buNone/>
            </a:pPr>
            <a:r>
              <a:rPr lang="en-US" sz="1200" b="0" i="0" dirty="0">
                <a:solidFill>
                  <a:srgbClr val="1F2430"/>
                </a:solidFill>
                <a:latin typeface="Calibri"/>
                <a:ea typeface="Calibri"/>
                <a:cs typeface="Calibri"/>
              </a:rPr>
              <a:t>Retail enterprises, e-commerce businesses, CRM managers, and marketing strategists seeking data-driven customer retention and personalized engagement.</a:t>
            </a:r>
          </a:p>
        </p:txBody>
      </p:sp>
      <p:sp>
        <p:nvSpPr>
          <p:cNvPr id="13" name="Shape 11"/>
          <p:cNvSpPr/>
          <p:nvPr/>
        </p:nvSpPr>
        <p:spPr>
          <a:xfrm>
            <a:off x="4297680" y="3291840"/>
            <a:ext cx="3520440" cy="2606040"/>
          </a:xfrm>
          <a:prstGeom prst="roundRect">
            <a:avLst>
              <a:gd name="adj" fmla="val 2807"/>
            </a:avLst>
          </a:prstGeom>
          <a:solidFill>
            <a:srgbClr val="F1F4F9"/>
          </a:solidFill>
          <a:ln w="12700">
            <a:solidFill>
              <a:srgbClr val="DDE3EC"/>
            </a:solidFill>
            <a:prstDash val="solid"/>
          </a:ln>
        </p:spPr>
      </p:sp>
      <p:sp>
        <p:nvSpPr>
          <p:cNvPr id="14" name="Shape 12"/>
          <p:cNvSpPr/>
          <p:nvPr/>
        </p:nvSpPr>
        <p:spPr>
          <a:xfrm>
            <a:off x="4526280" y="3520440"/>
            <a:ext cx="384048" cy="384048"/>
          </a:xfrm>
          <a:prstGeom prst="ellipse">
            <a:avLst/>
          </a:prstGeom>
          <a:solidFill>
            <a:srgbClr val="C8A02C"/>
          </a:solidFill>
          <a:ln/>
        </p:spPr>
      </p:sp>
      <p:sp>
        <p:nvSpPr>
          <p:cNvPr id="15" name="Text 13"/>
          <p:cNvSpPr txBox="1"/>
          <p:nvPr/>
        </p:nvSpPr>
        <p:spPr>
          <a:xfrm>
            <a:off x="4526280" y="352044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6" name="Text 14"/>
          <p:cNvSpPr txBox="1"/>
          <p:nvPr/>
        </p:nvSpPr>
        <p:spPr>
          <a:xfrm>
            <a:off x="4526280" y="4023360"/>
            <a:ext cx="3063240" cy="457200"/>
          </a:xfrm>
          <a:prstGeom prst="rect">
            <a:avLst/>
          </a:prstGeom>
          <a:noFill/>
          <a:ln/>
        </p:spPr>
        <p:txBody>
          <a:bodyPr wrap="square" lIns="0" tIns="0" rIns="0" bIns="0" rtlCol="0" anchor="ctr"/>
          <a:lstStyle/>
          <a:p>
            <a:pPr indent="0" marL="0">
              <a:buNone/>
            </a:pPr>
            <a:r>
              <a:rPr lang="en-US" sz="1450" b="1" i="0" dirty="0">
                <a:solidFill>
                  <a:srgbClr val="1B2A55"/>
                </a:solidFill>
                <a:latin typeface="Calibri"/>
                <a:ea typeface="Calibri"/>
                <a:cs typeface="Calibri"/>
              </a:rPr>
              <a:t>What is the cost of the problem?</a:t>
            </a:r>
          </a:p>
        </p:txBody>
      </p:sp>
      <p:sp>
        <p:nvSpPr>
          <p:cNvPr id="17" name="Text 15"/>
          <p:cNvSpPr txBox="1"/>
          <p:nvPr/>
        </p:nvSpPr>
        <p:spPr>
          <a:xfrm>
            <a:off x="4526280" y="4526280"/>
            <a:ext cx="3063240" cy="1234440"/>
          </a:xfrm>
          <a:prstGeom prst="rect">
            <a:avLst/>
          </a:prstGeom>
          <a:noFill/>
          <a:ln/>
        </p:spPr>
        <p:txBody>
          <a:bodyPr wrap="square" lIns="0" tIns="0" rIns="0" bIns="0" rtlCol="0" anchor="ctr"/>
          <a:lstStyle/>
          <a:p>
            <a:pPr indent="0" marL="0">
              <a:buNone/>
            </a:pPr>
            <a:r>
              <a:rPr lang="en-US" sz="1200" b="0" i="0" dirty="0">
                <a:solidFill>
                  <a:srgbClr val="1F2430"/>
                </a:solidFill>
                <a:latin typeface="Calibri"/>
                <a:ea typeface="Calibri"/>
                <a:cs typeface="Calibri"/>
              </a:rPr>
              <a:t>Generic one-size-fits-all marketing wastes advertising budgets, fails to prevent customer churn among at-risk buyers, and misses opportunities to reward high-value loyal customers.</a:t>
            </a:r>
          </a:p>
        </p:txBody>
      </p:sp>
      <p:sp>
        <p:nvSpPr>
          <p:cNvPr id="18" name="Shape 16"/>
          <p:cNvSpPr/>
          <p:nvPr/>
        </p:nvSpPr>
        <p:spPr>
          <a:xfrm>
            <a:off x="8046720" y="3291840"/>
            <a:ext cx="3520440" cy="2606040"/>
          </a:xfrm>
          <a:prstGeom prst="roundRect">
            <a:avLst>
              <a:gd name="adj" fmla="val 2807"/>
            </a:avLst>
          </a:prstGeom>
          <a:solidFill>
            <a:srgbClr val="F1F4F9"/>
          </a:solidFill>
          <a:ln w="12700">
            <a:solidFill>
              <a:srgbClr val="DDE3EC"/>
            </a:solidFill>
            <a:prstDash val="solid"/>
          </a:ln>
        </p:spPr>
      </p:sp>
      <p:sp>
        <p:nvSpPr>
          <p:cNvPr id="19" name="Shape 17"/>
          <p:cNvSpPr/>
          <p:nvPr/>
        </p:nvSpPr>
        <p:spPr>
          <a:xfrm>
            <a:off x="8275320" y="3520440"/>
            <a:ext cx="384048" cy="384048"/>
          </a:xfrm>
          <a:prstGeom prst="ellipse">
            <a:avLst/>
          </a:prstGeom>
          <a:solidFill>
            <a:srgbClr val="C8A02C"/>
          </a:solidFill>
          <a:ln/>
        </p:spPr>
      </p:sp>
      <p:sp>
        <p:nvSpPr>
          <p:cNvPr id="20" name="Text 18"/>
          <p:cNvSpPr txBox="1"/>
          <p:nvPr/>
        </p:nvSpPr>
        <p:spPr>
          <a:xfrm>
            <a:off x="8275320" y="352044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21" name="Text 19"/>
          <p:cNvSpPr txBox="1"/>
          <p:nvPr/>
        </p:nvSpPr>
        <p:spPr>
          <a:xfrm>
            <a:off x="8275320" y="4023360"/>
            <a:ext cx="3063240" cy="457200"/>
          </a:xfrm>
          <a:prstGeom prst="rect">
            <a:avLst/>
          </a:prstGeom>
          <a:noFill/>
          <a:ln/>
        </p:spPr>
        <p:txBody>
          <a:bodyPr wrap="square" lIns="0" tIns="0" rIns="0" bIns="0" rtlCol="0" anchor="ctr"/>
          <a:lstStyle/>
          <a:p>
            <a:pPr indent="0" marL="0">
              <a:buNone/>
            </a:pPr>
            <a:r>
              <a:rPr lang="en-US" sz="1450" b="1" i="0" dirty="0">
                <a:solidFill>
                  <a:srgbClr val="1B2A55"/>
                </a:solidFill>
                <a:latin typeface="Calibri"/>
                <a:ea typeface="Calibri"/>
                <a:cs typeface="Calibri"/>
              </a:rPr>
              <a:t>Why solve it now?</a:t>
            </a:r>
          </a:p>
        </p:txBody>
      </p:sp>
      <p:sp>
        <p:nvSpPr>
          <p:cNvPr id="22" name="Text 20"/>
          <p:cNvSpPr txBox="1"/>
          <p:nvPr/>
        </p:nvSpPr>
        <p:spPr>
          <a:xfrm>
            <a:off x="8275320" y="4526280"/>
            <a:ext cx="3063240" cy="1234440"/>
          </a:xfrm>
          <a:prstGeom prst="rect">
            <a:avLst/>
          </a:prstGeom>
          <a:noFill/>
          <a:ln/>
        </p:spPr>
        <p:txBody>
          <a:bodyPr wrap="square" lIns="0" tIns="0" rIns="0" bIns="0" rtlCol="0" anchor="ctr"/>
          <a:lstStyle/>
          <a:p>
            <a:pPr indent="0" marL="0">
              <a:buNone/>
            </a:pPr>
            <a:r>
              <a:rPr lang="en-US" sz="1200" b="0" i="0" dirty="0">
                <a:solidFill>
                  <a:srgbClr val="1F2430"/>
                </a:solidFill>
                <a:latin typeface="Calibri"/>
                <a:ea typeface="Calibri"/>
                <a:cs typeface="Calibri"/>
              </a:rPr>
              <a:t>Transaction volumes make manual segmentation impossible; unsupervised ML automatically uncovers customer behavioral cohorts directly from transaction logs without human bias.</a:t>
            </a:r>
          </a:p>
        </p:txBody>
      </p:sp>
      <p:sp>
        <p:nvSpPr>
          <p:cNvPr id="23" name="Text 21"/>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4" name="Text 22"/>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3</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Literature Survey</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indent="0" marL="0">
              <a:buNone/>
            </a:pPr>
            <a:r>
              <a:rPr lang="en-US" sz="1050" b="0" i="0" dirty="0">
                <a:solidFill>
                  <a:srgbClr val="6B7280"/>
                </a:solidFill>
                <a:latin typeface="Calibri"/>
                <a:ea typeface="Calibri"/>
                <a:cs typeface="Calibri"/>
              </a:rPr>
              <a:t>Comparative analysis of 4 key recent academic papers (2020–2024) establishing the foundation for retail customer segmentation.</a:t>
            </a:r>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548640"/>
                <a:gridCol w="1554480"/>
                <a:gridCol w="2743200"/>
                <a:gridCol w="1737360"/>
                <a:gridCol w="2286000"/>
                <a:gridCol w="2194560"/>
              </a:tblGrid>
              <a:tr h="411480">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S.No</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Author &amp; Year</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Title / Technique Used</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Dataset / Tools</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Key Findings</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150" b="1" dirty="0">
                          <a:solidFill>
                            <a:srgbClr val="1F2430"/>
                          </a:solidFill>
                          <a:latin typeface="Calibri" pitchFamily="34" charset="0"/>
                          <a:ea typeface="Calibri" pitchFamily="34" charset="-122"/>
                          <a:cs typeface="Calibri" pitchFamily="34" charset="-120"/>
                        </a:rPr>
                        <a:t>Limitation / Gap</a:t>
                      </a:r>
                      <a:endParaRPr lang="en-US" sz="1150" dirty="0">
                        <a:latin typeface="Calibri" charset="0"/>
                        <a:ea typeface="Calibri" charset="0"/>
                        <a:cs typeface="Calibri" charset="0"/>
                      </a:endParaRPr>
                    </a:p>
                  </a:txBody>
                  <a:tcPr marL="76200" marR="76200" marT="76200" marB="7620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868680">
                <a:tc>
                  <a:txBody>
                    <a:bodyPr/>
                    <a:lstStyle/>
                    <a:p>
                      <a:pPr indent="0" marL="0">
                        <a:buNone/>
                      </a:pPr>
                      <a:r>
                        <a:rPr lang="en-US" sz="1000" b="1" dirty="0">
                          <a:solidFill>
                            <a:srgbClr val="1F2430"/>
                          </a:solidFill>
                          <a:latin typeface="Calibri"/>
                        </a:rPr>
                        <a:t>1</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00" b="0" dirty="0">
                          <a:solidFill>
                            <a:srgbClr val="1F2430"/>
                          </a:solidFill>
                          <a:latin typeface="Calibri"/>
                        </a:rPr>
                        <a:t>Wani et al. (2023) [1]</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b="0" dirty="0">
                          <a:solidFill>
                            <a:srgbClr val="1F2430"/>
                          </a:solidFill>
                          <a:latin typeface="Calibri"/>
                        </a:rPr>
                        <a:t>Unleashing Customer Insights: Segmentation Through Machine Learning (K-Means on RFM)</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00" b="0" dirty="0">
                          <a:solidFill>
                            <a:srgbClr val="1F2430"/>
                          </a:solidFill>
                          <a:latin typeface="Calibri"/>
                        </a:rPr>
                        <a:t>Retail Transaction Data / Python, Scikit-learn</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b="0" dirty="0">
                          <a:solidFill>
                            <a:srgbClr val="1F2430"/>
                          </a:solidFill>
                          <a:latin typeface="Calibri"/>
                        </a:rPr>
                        <a:t>Successfully segmented retail customers into behavioral cohorts; optimized K using Elbow method to boost marketing efficiency.</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b="0" dirty="0">
                          <a:solidFill>
                            <a:srgbClr val="1F2430"/>
                          </a:solidFill>
                          <a:latin typeface="Calibri"/>
                        </a:rPr>
                        <a:t>Relied strictly on standard K-Means without comparative evaluation against hierarchical algorithms; minimal 2D visual projection.</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1F2430"/>
                          </a:solidFill>
                          <a:latin typeface="Calibri"/>
                        </a:rPr>
                        <a:t>2</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00" b="0" dirty="0">
                          <a:solidFill>
                            <a:srgbClr val="1F2430"/>
                          </a:solidFill>
                          <a:latin typeface="Calibri"/>
                        </a:rPr>
                        <a:t>Teslenko et al. (2023) [2]</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b="0" dirty="0">
                          <a:solidFill>
                            <a:srgbClr val="1F2430"/>
                          </a:solidFill>
                          <a:latin typeface="Calibri"/>
                        </a:rPr>
                        <a:t>Comparative Analysis of Five Clustering Algorithms for Market Segmentation</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00" b="0" dirty="0">
                          <a:solidFill>
                            <a:srgbClr val="1F2430"/>
                          </a:solidFill>
                          <a:latin typeface="Calibri"/>
                        </a:rPr>
                        <a:t>E-Commerce Customer Records / Scikit-learn, NumPy</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b="0" dirty="0">
                          <a:solidFill>
                            <a:srgbClr val="1F2430"/>
                          </a:solidFill>
                          <a:latin typeface="Calibri"/>
                        </a:rPr>
                        <a:t>Benchmarked K-Means, Agglomerative, and DBSCAN; showed K-Means speed and Agglomerative hierarchy depth for customer groupings.</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b="0" dirty="0">
                          <a:solidFill>
                            <a:srgbClr val="1F2430"/>
                          </a:solidFill>
                          <a:latin typeface="Calibri"/>
                        </a:rPr>
                        <a:t>Focused purely on mathematical clustering metrics without RFM feature extraction or translating clusters into retail business personas.</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1F2430"/>
                          </a:solidFill>
                          <a:latin typeface="Calibri"/>
                        </a:rPr>
                        <a:t>3</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00" b="0" dirty="0">
                          <a:solidFill>
                            <a:srgbClr val="1F2430"/>
                          </a:solidFill>
                          <a:latin typeface="Calibri"/>
                        </a:rPr>
                        <a:t>Li et al. (2022) [3]</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b="0" dirty="0">
                          <a:solidFill>
                            <a:srgbClr val="1F2430"/>
                          </a:solidFill>
                          <a:latin typeface="Calibri"/>
                        </a:rPr>
                        <a:t>E-commerce Customer Segmentation based on RFM Weighted K-means</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00" b="0" dirty="0">
                          <a:solidFill>
                            <a:srgbClr val="1F2430"/>
                          </a:solidFill>
                          <a:latin typeface="Calibri"/>
                        </a:rPr>
                        <a:t>E-commerce Transaction Logs / Python, Scikit-learn</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b="0" dirty="0">
                          <a:solidFill>
                            <a:srgbClr val="1F2430"/>
                          </a:solidFill>
                          <a:latin typeface="Calibri"/>
                        </a:rPr>
                        <a:t>Weighting RFM features improved cluster compactness and differentiated high-spend customer tiers over raw transactional attributes.</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b="0" dirty="0">
                          <a:solidFill>
                            <a:srgbClr val="1F2430"/>
                          </a:solidFill>
                          <a:latin typeface="Calibri"/>
                        </a:rPr>
                        <a:t>Did not incorporate PCA dimensionality reduction to visualize high-dimensional customer boundaries for non-technical stakeholders.</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r h="658368">
                <a:tc>
                  <a:txBody>
                    <a:bodyPr/>
                    <a:lstStyle/>
                    <a:p>
                      <a:pPr indent="0" marL="0">
                        <a:buNone/>
                      </a:pPr>
                      <a:r>
                        <a:rPr lang="en-US" sz="1000" b="1" dirty="0">
                          <a:solidFill>
                            <a:srgbClr val="1F2430"/>
                          </a:solidFill>
                          <a:latin typeface="Calibri"/>
                        </a:rPr>
                        <a:t>4</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00" b="0" dirty="0">
                          <a:solidFill>
                            <a:srgbClr val="1F2430"/>
                          </a:solidFill>
                          <a:latin typeface="Calibri"/>
                        </a:rPr>
                        <a:t>Akande et al. (2024) [4]</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b="0" dirty="0">
                          <a:solidFill>
                            <a:srgbClr val="1F2430"/>
                          </a:solidFill>
                          <a:latin typeface="Calibri"/>
                        </a:rPr>
                        <a:t>Customer Segmentation through RFM Analysis and K-means Clustering</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1000" b="0" dirty="0">
                          <a:solidFill>
                            <a:srgbClr val="1F2430"/>
                          </a:solidFill>
                          <a:latin typeface="Calibri"/>
                        </a:rPr>
                        <a:t>UCI Online Retail Dataset / Python, Pandas, Seaborn</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b="0" dirty="0">
                          <a:solidFill>
                            <a:srgbClr val="1F2430"/>
                          </a:solidFill>
                          <a:latin typeface="Calibri"/>
                        </a:rPr>
                        <a:t>Derived RFM metrics from raw retail transactions; validated cluster partitions using Elbow inertia and Silhouette analysis.</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c>
                  <a:txBody>
                    <a:bodyPr/>
                    <a:lstStyle/>
                    <a:p>
                      <a:pPr indent="0" marL="0">
                        <a:buNone/>
                      </a:pPr>
                      <a:r>
                        <a:rPr lang="en-US" sz="950" b="0" dirty="0">
                          <a:solidFill>
                            <a:srgbClr val="1F2430"/>
                          </a:solidFill>
                          <a:latin typeface="Calibri"/>
                        </a:rPr>
                        <a:t>Examined K-Means in isolation without hierarchical dendrogram validation, and lacked a systematic framework for business persona profiling.</a:t>
                      </a:r>
                    </a:p>
                  </a:txBody>
                  <a:tcPr marL="54864" marR="54864" marT="45720" marB="45720" anchor="t">
                    <a:lnL w="12700" cap="flat" cmpd="sng" algn="ctr">
                      <a:solidFill>
                        <a:srgbClr val="DDE3EC"/>
                      </a:solidFill>
                      <a:prstDash val="solid"/>
                      <a:round/>
                      <a:headEnd type="none" w="med" len="med"/>
                      <a:tailEnd type="none" w="med" len="med"/>
                    </a:lnL>
                    <a:lnR w="12700" cap="flat" cmpd="sng" algn="ctr">
                      <a:solidFill>
                        <a:srgbClr val="DDE3EC"/>
                      </a:solidFill>
                      <a:prstDash val="solid"/>
                      <a:round/>
                      <a:headEnd type="none" w="med" len="med"/>
                      <a:tailEnd type="none" w="med" len="med"/>
                    </a:lnR>
                    <a:lnT w="12700" cap="flat" cmpd="sng" algn="ctr">
                      <a:solidFill>
                        <a:srgbClr val="DDE3EC"/>
                      </a:solidFill>
                      <a:prstDash val="solid"/>
                      <a:round/>
                      <a:headEnd type="none" w="med" len="med"/>
                      <a:tailEnd type="none" w="med" len="med"/>
                    </a:lnT>
                    <a:lnB w="12700" cap="flat" cmpd="sng" algn="ctr">
                      <a:solidFill>
                        <a:srgbClr val="DDE3EC"/>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5440680"/>
            <a:ext cx="11064240" cy="320040"/>
          </a:xfrm>
          <a:prstGeom prst="rect">
            <a:avLst/>
          </a:prstGeom>
          <a:noFill/>
          <a:ln/>
        </p:spPr>
        <p:txBody>
          <a:bodyPr wrap="square" lIns="0" tIns="0" rIns="0" bIns="0" rtlCol="0" anchor="ctr"/>
          <a:lstStyle/>
          <a:p>
            <a:pPr indent="0" marL="0">
              <a:buNone/>
            </a:pPr>
            <a:r>
              <a:rPr lang="en-US" sz="1150" b="0" i="0" dirty="0">
                <a:solidFill>
                  <a:srgbClr val="1F2430"/>
                </a:solidFill>
                <a:latin typeface="Calibri"/>
                <a:ea typeface="Calibri"/>
                <a:cs typeface="Calibri"/>
              </a:rPr>
              <a:t>All identified limitations directly inform the research gaps addressed in Section 4 (Additional literature studied: [5]–[9]).</a:t>
            </a:r>
          </a:p>
        </p:txBody>
      </p:sp>
      <p:sp>
        <p:nvSpPr>
          <p:cNvPr id="7" name="Text 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8" name="Text 5"/>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4</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Research Gap Identified</a:t>
            </a:r>
            <a:endParaRPr lang="en-US" sz="3100" dirty="0"/>
          </a:p>
        </p:txBody>
      </p:sp>
      <p:sp>
        <p:nvSpPr>
          <p:cNvPr id="4" name="Shape 2"/>
          <p:cNvSpPr/>
          <p:nvPr/>
        </p:nvSpPr>
        <p:spPr>
          <a:xfrm>
            <a:off x="548640" y="1463040"/>
            <a:ext cx="6766560" cy="987552"/>
          </a:xfrm>
          <a:prstGeom prst="roundRect">
            <a:avLst>
              <a:gd name="adj" fmla="val 7407"/>
            </a:avLst>
          </a:prstGeom>
          <a:solidFill>
            <a:srgbClr val="F1F4F9"/>
          </a:solidFill>
          <a:ln w="12700">
            <a:solidFill>
              <a:srgbClr val="DDE3EC"/>
            </a:solidFill>
            <a:prstDash val="solid"/>
          </a:ln>
        </p:spPr>
      </p:sp>
      <p:sp>
        <p:nvSpPr>
          <p:cNvPr id="5" name="Text 3"/>
          <p:cNvSpPr txBox="1"/>
          <p:nvPr/>
        </p:nvSpPr>
        <p:spPr>
          <a:xfrm>
            <a:off x="868680" y="1591056"/>
            <a:ext cx="1828800" cy="237744"/>
          </a:xfrm>
          <a:prstGeom prst="rect">
            <a:avLst/>
          </a:prstGeom>
          <a:noFill/>
          <a:ln/>
        </p:spPr>
        <p:txBody>
          <a:bodyPr wrap="square" lIns="0" tIns="0" rIns="0" bIns="0" rtlCol="0" anchor="ctr"/>
          <a:lstStyle/>
          <a:p>
            <a:pPr indent="0" marL="0">
              <a:buNone/>
            </a:pPr>
            <a:r>
              <a:rPr lang="en-US" sz="1050" b="1" i="0" dirty="0">
                <a:solidFill>
                  <a:srgbClr val="A4161A"/>
                </a:solidFill>
                <a:latin typeface="Calibri"/>
                <a:ea typeface="Calibri"/>
                <a:cs typeface="Calibri"/>
              </a:rPr>
              <a:t>GAP 1: DATA &amp; FEATURE ENGINEERING</a:t>
            </a:r>
          </a:p>
        </p:txBody>
      </p:sp>
      <p:sp>
        <p:nvSpPr>
          <p:cNvPr id="6" name="Text 4"/>
          <p:cNvSpPr txBox="1"/>
          <p:nvPr/>
        </p:nvSpPr>
        <p:spPr>
          <a:xfrm>
            <a:off x="868680" y="1847088"/>
            <a:ext cx="6172200" cy="502920"/>
          </a:xfrm>
          <a:prstGeom prst="rect">
            <a:avLst/>
          </a:prstGeom>
          <a:noFill/>
          <a:ln/>
        </p:spPr>
        <p:txBody>
          <a:bodyPr wrap="square" lIns="0" tIns="0" rIns="0" bIns="0" rtlCol="0" anchor="ctr"/>
          <a:lstStyle/>
          <a:p>
            <a:pPr indent="0" marL="0">
              <a:buNone/>
            </a:pPr>
            <a:r>
              <a:rPr lang="en-US" sz="1150" b="0" i="0" dirty="0">
                <a:solidFill>
                  <a:srgbClr val="1F2430"/>
                </a:solidFill>
                <a:latin typeface="Calibri"/>
                <a:ea typeface="Calibri"/>
                <a:cs typeface="Calibri"/>
              </a:rPr>
              <a:t>Existing studies often cluster raw transaction summaries or unweighted features without standardizing skewed RFM behavioral distributions, causing centroid bias toward extreme monetary values (Li et al., 2022; Akande et al., 2024).</a:t>
            </a:r>
          </a:p>
        </p:txBody>
      </p:sp>
      <p:sp>
        <p:nvSpPr>
          <p:cNvPr id="7" name="Shape 5"/>
          <p:cNvSpPr/>
          <p:nvPr/>
        </p:nvSpPr>
        <p:spPr>
          <a:xfrm>
            <a:off x="548640" y="2606040"/>
            <a:ext cx="6766560" cy="987552"/>
          </a:xfrm>
          <a:prstGeom prst="roundRect">
            <a:avLst>
              <a:gd name="adj" fmla="val 7407"/>
            </a:avLst>
          </a:prstGeom>
          <a:solidFill>
            <a:srgbClr val="F1F4F9"/>
          </a:solidFill>
          <a:ln w="12700">
            <a:solidFill>
              <a:srgbClr val="DDE3EC"/>
            </a:solidFill>
            <a:prstDash val="solid"/>
          </a:ln>
        </p:spPr>
      </p:sp>
      <p:sp>
        <p:nvSpPr>
          <p:cNvPr id="8" name="Text 6"/>
          <p:cNvSpPr txBox="1"/>
          <p:nvPr/>
        </p:nvSpPr>
        <p:spPr>
          <a:xfrm>
            <a:off x="868680" y="2734056"/>
            <a:ext cx="1828800" cy="237744"/>
          </a:xfrm>
          <a:prstGeom prst="rect">
            <a:avLst/>
          </a:prstGeom>
          <a:noFill/>
          <a:ln/>
        </p:spPr>
        <p:txBody>
          <a:bodyPr wrap="square" lIns="0" tIns="0" rIns="0" bIns="0" rtlCol="0" anchor="ctr"/>
          <a:lstStyle/>
          <a:p>
            <a:pPr indent="0" marL="0">
              <a:buNone/>
            </a:pPr>
            <a:r>
              <a:rPr lang="en-US" sz="1050" b="1" i="0" dirty="0">
                <a:solidFill>
                  <a:srgbClr val="A4161A"/>
                </a:solidFill>
                <a:latin typeface="Calibri"/>
                <a:ea typeface="Calibri"/>
                <a:cs typeface="Calibri"/>
              </a:rPr>
              <a:t>GAP 2: METHODOLOGY &amp; COMPARISON</a:t>
            </a:r>
          </a:p>
        </p:txBody>
      </p:sp>
      <p:sp>
        <p:nvSpPr>
          <p:cNvPr id="9" name="Text 7"/>
          <p:cNvSpPr txBox="1"/>
          <p:nvPr/>
        </p:nvSpPr>
        <p:spPr>
          <a:xfrm>
            <a:off x="868680" y="2990088"/>
            <a:ext cx="6172200" cy="502920"/>
          </a:xfrm>
          <a:prstGeom prst="rect">
            <a:avLst/>
          </a:prstGeom>
          <a:noFill/>
          <a:ln/>
        </p:spPr>
        <p:txBody>
          <a:bodyPr wrap="square" lIns="0" tIns="0" rIns="0" bIns="0" rtlCol="0" anchor="ctr"/>
          <a:lstStyle/>
          <a:p>
            <a:pPr indent="0" marL="0">
              <a:buNone/>
            </a:pPr>
            <a:r>
              <a:rPr lang="en-US" sz="1150" b="0" i="0" dirty="0">
                <a:solidFill>
                  <a:srgbClr val="1F2430"/>
                </a:solidFill>
                <a:latin typeface="Calibri"/>
                <a:ea typeface="Calibri"/>
                <a:cs typeface="Calibri"/>
              </a:rPr>
              <a:t>Most retail segmentation models rely exclusively on standard K-Means without comparative evaluation against hierarchical clustering, leaving cluster stability, tree hierarchies, and sensitivity to centroid initialization unverified (Wani et al., 2023).</a:t>
            </a:r>
          </a:p>
        </p:txBody>
      </p:sp>
      <p:sp>
        <p:nvSpPr>
          <p:cNvPr id="10" name="Shape 8"/>
          <p:cNvSpPr/>
          <p:nvPr/>
        </p:nvSpPr>
        <p:spPr>
          <a:xfrm>
            <a:off x="548640" y="3749040"/>
            <a:ext cx="6766560" cy="987552"/>
          </a:xfrm>
          <a:prstGeom prst="roundRect">
            <a:avLst>
              <a:gd name="adj" fmla="val 7407"/>
            </a:avLst>
          </a:prstGeom>
          <a:solidFill>
            <a:srgbClr val="F1F4F9"/>
          </a:solidFill>
          <a:ln w="12700">
            <a:solidFill>
              <a:srgbClr val="DDE3EC"/>
            </a:solidFill>
            <a:prstDash val="solid"/>
          </a:ln>
        </p:spPr>
      </p:sp>
      <p:sp>
        <p:nvSpPr>
          <p:cNvPr id="11" name="Text 9"/>
          <p:cNvSpPr txBox="1"/>
          <p:nvPr/>
        </p:nvSpPr>
        <p:spPr>
          <a:xfrm>
            <a:off x="868680" y="3877056"/>
            <a:ext cx="1828800" cy="237744"/>
          </a:xfrm>
          <a:prstGeom prst="rect">
            <a:avLst/>
          </a:prstGeom>
          <a:noFill/>
          <a:ln/>
        </p:spPr>
        <p:txBody>
          <a:bodyPr wrap="square" lIns="0" tIns="0" rIns="0" bIns="0" rtlCol="0" anchor="ctr"/>
          <a:lstStyle/>
          <a:p>
            <a:pPr indent="0" marL="0">
              <a:buNone/>
            </a:pPr>
            <a:r>
              <a:rPr lang="en-US" sz="1050" b="1" i="0" dirty="0">
                <a:solidFill>
                  <a:srgbClr val="A4161A"/>
                </a:solidFill>
                <a:latin typeface="Calibri"/>
                <a:ea typeface="Calibri"/>
                <a:cs typeface="Calibri"/>
              </a:rPr>
              <a:t>GAP 3: VISUALIZATION &amp; INTERPRETATION</a:t>
            </a:r>
          </a:p>
        </p:txBody>
      </p:sp>
      <p:sp>
        <p:nvSpPr>
          <p:cNvPr id="12" name="Text 10"/>
          <p:cNvSpPr txBox="1"/>
          <p:nvPr/>
        </p:nvSpPr>
        <p:spPr>
          <a:xfrm>
            <a:off x="868680" y="4133088"/>
            <a:ext cx="6172200" cy="502920"/>
          </a:xfrm>
          <a:prstGeom prst="rect">
            <a:avLst/>
          </a:prstGeom>
          <a:noFill/>
          <a:ln/>
        </p:spPr>
        <p:txBody>
          <a:bodyPr wrap="square" lIns="0" tIns="0" rIns="0" bIns="0" rtlCol="0" anchor="ctr"/>
          <a:lstStyle/>
          <a:p>
            <a:pPr indent="0" marL="0">
              <a:buNone/>
            </a:pPr>
            <a:r>
              <a:rPr lang="en-US" sz="1150" b="0" i="0" dirty="0">
                <a:solidFill>
                  <a:srgbClr val="1F2430"/>
                </a:solidFill>
                <a:latin typeface="Calibri"/>
                <a:ea typeface="Calibri"/>
                <a:cs typeface="Calibri"/>
              </a:rPr>
              <a:t>Prior works output mathematical cluster labels but lack 2D PCA dimensionality reduction visualization and structured mapping into actionable retail customer personas for business decision-making (Teslenko et al., 2023; Li et al., 2022).</a:t>
            </a:r>
          </a:p>
        </p:txBody>
      </p:sp>
      <p:sp>
        <p:nvSpPr>
          <p:cNvPr id="13" name="Shape 11"/>
          <p:cNvSpPr/>
          <p:nvPr/>
        </p:nvSpPr>
        <p:spPr>
          <a:xfrm>
            <a:off x="7635240" y="1463040"/>
            <a:ext cx="3977640" cy="3502152"/>
          </a:xfrm>
          <a:prstGeom prst="roundRect">
            <a:avLst>
              <a:gd name="adj" fmla="val 2089"/>
            </a:avLst>
          </a:prstGeom>
          <a:solidFill>
            <a:srgbClr val="1B2A55"/>
          </a:solidFill>
          <a:ln w="12700">
            <a:solidFill>
              <a:srgbClr val="1B2A55"/>
            </a:solidFill>
            <a:prstDash val="solid"/>
          </a:ln>
        </p:spPr>
      </p:sp>
      <p:sp>
        <p:nvSpPr>
          <p:cNvPr id="14" name="Text 12"/>
          <p:cNvSpPr txBox="1"/>
          <p:nvPr/>
        </p:nvSpPr>
        <p:spPr>
          <a:xfrm>
            <a:off x="7909560" y="1691640"/>
            <a:ext cx="3429000" cy="274320"/>
          </a:xfrm>
          <a:prstGeom prst="rect">
            <a:avLst/>
          </a:prstGeom>
          <a:noFill/>
          <a:ln/>
        </p:spPr>
        <p:txBody>
          <a:bodyPr wrap="square" lIns="0" tIns="0" rIns="0" bIns="0" rtlCol="0" anchor="ctr"/>
          <a:lstStyle/>
          <a:p>
            <a:pPr indent="0" marL="0">
              <a:buNone/>
            </a:pPr>
            <a:r>
              <a:rPr lang="en-US" sz="1050" b="1" i="0" dirty="0">
                <a:solidFill>
                  <a:srgbClr val="C8A02C"/>
                </a:solidFill>
                <a:latin typeface="Calibri"/>
                <a:ea typeface="Calibri"/>
                <a:cs typeface="Calibri"/>
              </a:rPr>
              <a:t>OUR PROJECT ADDRESSES</a:t>
            </a:r>
          </a:p>
        </p:txBody>
      </p:sp>
      <p:sp>
        <p:nvSpPr>
          <p:cNvPr id="15" name="Text 13"/>
          <p:cNvSpPr txBox="1"/>
          <p:nvPr/>
        </p:nvSpPr>
        <p:spPr>
          <a:xfrm>
            <a:off x="7909560" y="2057400"/>
            <a:ext cx="3429000" cy="1463040"/>
          </a:xfrm>
          <a:prstGeom prst="rect">
            <a:avLst/>
          </a:prstGeom>
          <a:noFill/>
          <a:ln/>
        </p:spPr>
        <p:txBody>
          <a:bodyPr wrap="square" lIns="0" tIns="0" rIns="0" bIns="0" rtlCol="0" anchor="ctr"/>
          <a:lstStyle/>
          <a:p>
            <a:pPr indent="0" marL="0">
              <a:buNone/>
            </a:pPr>
            <a:r>
              <a:rPr lang="en-US" sz="1200" b="0" i="0" dirty="0">
                <a:solidFill>
                  <a:srgbClr val="1B2A55"/>
                </a:solidFill>
                <a:latin typeface="Calibri"/>
                <a:ea typeface="Calibri"/>
                <a:cs typeface="Calibri"/>
              </a:rPr>
              <a:t>Our project addresses all three gaps by building an integrated unsupervised pipeline: extracting and scaling RFM features, benchmarking K-Means against Hierarchical Clustering with Elbow and Silhouette metrics, applying PCA for 2D visualization, and formulating data-driven retail customer personas.</a:t>
            </a:r>
          </a:p>
        </p:txBody>
      </p:sp>
      <p:sp>
        <p:nvSpPr>
          <p:cNvPr id="16" name="Text 14"/>
          <p:cNvSpPr txBox="1"/>
          <p:nvPr/>
        </p:nvSpPr>
        <p:spPr>
          <a:xfrm>
            <a:off x="7909560" y="3977640"/>
            <a:ext cx="3429000" cy="822960"/>
          </a:xfrm>
          <a:prstGeom prst="rect">
            <a:avLst/>
          </a:prstGeom>
          <a:noFill/>
          <a:ln/>
        </p:spPr>
        <p:txBody>
          <a:bodyPr wrap="square" lIns="0" tIns="0" rIns="0" bIns="0" rtlCol="0" anchor="ctr"/>
          <a:lstStyle/>
          <a:p>
            <a:pPr indent="0" marL="0">
              <a:buNone/>
            </a:pPr>
            <a:r>
              <a:rPr lang="en-US" sz="1100" b="0" i="1" dirty="0">
                <a:solidFill>
                  <a:srgbClr val="1F2430"/>
                </a:solidFill>
                <a:latin typeface="Calibri"/>
                <a:ea typeface="Calibri"/>
                <a:cs typeface="Calibri"/>
              </a:rPr>
              <a:t>Traceability: Every identified gap is directly grounded in the limitations column of our Literature Survey (Slide 5).</a:t>
            </a:r>
          </a:p>
        </p:txBody>
      </p:sp>
      <p:sp>
        <p:nvSpPr>
          <p:cNvPr id="17" name="Text 15"/>
          <p:cNvSpPr txBox="1"/>
          <p:nvPr/>
        </p:nvSpPr>
        <p:spPr>
          <a:xfrm>
            <a:off x="548640" y="5120640"/>
            <a:ext cx="6766560" cy="731520"/>
          </a:xfrm>
          <a:prstGeom prst="rect">
            <a:avLst/>
          </a:prstGeom>
          <a:noFill/>
          <a:ln/>
        </p:spPr>
        <p:txBody>
          <a:bodyPr wrap="square" lIns="0" tIns="0" rIns="0" bIns="0" rtlCol="0" anchor="ctr"/>
          <a:lstStyle/>
          <a:p>
            <a:pPr indent="0" marL="0">
              <a:buNone/>
            </a:pPr>
            <a:r>
              <a:rPr lang="en-US" sz="1150" b="0" i="0" dirty="0">
                <a:solidFill>
                  <a:srgbClr val="1F2430"/>
                </a:solidFill>
                <a:latin typeface="Calibri"/>
                <a:ea typeface="Calibri"/>
                <a:cs typeface="Calibri"/>
              </a:rPr>
              <a:t>Methodological Impact: Combines RFM feature engineering with multi-algorithm clustering and PCA visual interpretation.</a:t>
            </a:r>
          </a:p>
        </p:txBody>
      </p:sp>
      <p:sp>
        <p:nvSpPr>
          <p:cNvPr id="18" name="Text 1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9" name="Text 17"/>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5</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Objectives of the Project</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indent="0" marL="0">
              <a:buNone/>
            </a:pPr>
            <a:r>
              <a:rPr lang="en-US" sz="1050" b="0" i="0" dirty="0">
                <a:solidFill>
                  <a:srgbClr val="6B7280"/>
                </a:solidFill>
                <a:latin typeface="Calibri"/>
                <a:ea typeface="Calibri"/>
                <a:cs typeface="Calibri"/>
              </a:rPr>
              <a:t>Four action-oriented, measurable objectives formulated for Minor Project Review 1.</a:t>
            </a:r>
          </a:p>
        </p:txBody>
      </p:sp>
      <p:sp>
        <p:nvSpPr>
          <p:cNvPr id="5" name="Shape 3"/>
          <p:cNvSpPr/>
          <p:nvPr/>
        </p:nvSpPr>
        <p:spPr>
          <a:xfrm>
            <a:off x="548640" y="1627632"/>
            <a:ext cx="11064240" cy="914400"/>
          </a:xfrm>
          <a:prstGeom prst="roundRect">
            <a:avLst>
              <a:gd name="adj" fmla="val 8000"/>
            </a:avLst>
          </a:prstGeom>
          <a:solidFill>
            <a:srgbClr val="F1F4F9"/>
          </a:solidFill>
          <a:ln w="12700">
            <a:solidFill>
              <a:srgbClr val="DDE3EC"/>
            </a:solidFill>
            <a:prstDash val="solid"/>
          </a:ln>
        </p:spPr>
      </p:sp>
      <p:sp>
        <p:nvSpPr>
          <p:cNvPr id="6" name="Shape 4"/>
          <p:cNvSpPr/>
          <p:nvPr/>
        </p:nvSpPr>
        <p:spPr>
          <a:xfrm>
            <a:off x="822960" y="1892808"/>
            <a:ext cx="384048" cy="384048"/>
          </a:xfrm>
          <a:prstGeom prst="ellipse">
            <a:avLst/>
          </a:prstGeom>
          <a:solidFill>
            <a:srgbClr val="C8A02C"/>
          </a:solidFill>
          <a:ln/>
        </p:spPr>
      </p:sp>
      <p:sp>
        <p:nvSpPr>
          <p:cNvPr id="7" name="Text 5"/>
          <p:cNvSpPr txBox="1"/>
          <p:nvPr/>
        </p:nvSpPr>
        <p:spPr>
          <a:xfrm>
            <a:off x="822960" y="1892808"/>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371600" y="1627632"/>
            <a:ext cx="9966960" cy="914400"/>
          </a:xfrm>
          <a:prstGeom prst="rect">
            <a:avLst/>
          </a:prstGeom>
          <a:noFill/>
          <a:ln/>
        </p:spPr>
        <p:txBody>
          <a:bodyPr wrap="square" lIns="0" tIns="0" rIns="0" bIns="0" rtlCol="0" anchor="ctr"/>
          <a:lstStyle/>
          <a:p>
            <a:pPr indent="0" marL="0">
              <a:buNone/>
            </a:pPr>
            <a:r>
              <a:rPr lang="en-US" sz="1300" b="0" i="0" dirty="0">
                <a:solidFill>
                  <a:srgbClr val="1F2430"/>
                </a:solidFill>
                <a:latin typeface="Calibri"/>
                <a:ea typeface="Calibri"/>
                <a:cs typeface="Calibri"/>
              </a:rPr>
              <a:t>To collect and preprocess retail transaction data suitable for customer segmentation by cleaning missing customer IDs, removing cancelled/invalid transactions, and standardizing date formats.</a:t>
            </a:r>
          </a:p>
        </p:txBody>
      </p:sp>
      <p:sp>
        <p:nvSpPr>
          <p:cNvPr id="9" name="Shape 7"/>
          <p:cNvSpPr/>
          <p:nvPr/>
        </p:nvSpPr>
        <p:spPr>
          <a:xfrm>
            <a:off x="548640" y="2706624"/>
            <a:ext cx="11064240" cy="914400"/>
          </a:xfrm>
          <a:prstGeom prst="roundRect">
            <a:avLst>
              <a:gd name="adj" fmla="val 8000"/>
            </a:avLst>
          </a:prstGeom>
          <a:solidFill>
            <a:srgbClr val="F1F4F9"/>
          </a:solidFill>
          <a:ln w="12700">
            <a:solidFill>
              <a:srgbClr val="DDE3EC"/>
            </a:solidFill>
            <a:prstDash val="solid"/>
          </a:ln>
        </p:spPr>
      </p:sp>
      <p:sp>
        <p:nvSpPr>
          <p:cNvPr id="10" name="Shape 8"/>
          <p:cNvSpPr/>
          <p:nvPr/>
        </p:nvSpPr>
        <p:spPr>
          <a:xfrm>
            <a:off x="822960" y="2971800"/>
            <a:ext cx="384048" cy="384048"/>
          </a:xfrm>
          <a:prstGeom prst="ellipse">
            <a:avLst/>
          </a:prstGeom>
          <a:solidFill>
            <a:srgbClr val="C8A02C"/>
          </a:solidFill>
          <a:ln/>
        </p:spPr>
      </p:sp>
      <p:sp>
        <p:nvSpPr>
          <p:cNvPr id="11" name="Text 9"/>
          <p:cNvSpPr txBox="1"/>
          <p:nvPr/>
        </p:nvSpPr>
        <p:spPr>
          <a:xfrm>
            <a:off x="822960" y="2971800"/>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371600" y="2706624"/>
            <a:ext cx="9966960" cy="914400"/>
          </a:xfrm>
          <a:prstGeom prst="rect">
            <a:avLst/>
          </a:prstGeom>
          <a:noFill/>
          <a:ln/>
        </p:spPr>
        <p:txBody>
          <a:bodyPr wrap="square" lIns="0" tIns="0" rIns="0" bIns="0" rtlCol="0" anchor="ctr"/>
          <a:lstStyle/>
          <a:p>
            <a:pPr indent="0" marL="0">
              <a:buNone/>
            </a:pPr>
            <a:r>
              <a:rPr lang="en-US" sz="1300" b="0" i="0" dirty="0">
                <a:solidFill>
                  <a:srgbClr val="1F2430"/>
                </a:solidFill>
                <a:latin typeface="Calibri"/>
                <a:ea typeface="Calibri"/>
                <a:cs typeface="Calibri"/>
              </a:rPr>
              <a:t>To extract Recency, Frequency, and Monetary (RFM) behavioral features from customer transaction records and apply feature scaling to ensure uniform attribute contribution.</a:t>
            </a:r>
          </a:p>
        </p:txBody>
      </p:sp>
      <p:sp>
        <p:nvSpPr>
          <p:cNvPr id="13" name="Shape 11"/>
          <p:cNvSpPr/>
          <p:nvPr/>
        </p:nvSpPr>
        <p:spPr>
          <a:xfrm>
            <a:off x="548640" y="3785616"/>
            <a:ext cx="11064240" cy="914400"/>
          </a:xfrm>
          <a:prstGeom prst="roundRect">
            <a:avLst>
              <a:gd name="adj" fmla="val 8000"/>
            </a:avLst>
          </a:prstGeom>
          <a:solidFill>
            <a:srgbClr val="F1F4F9"/>
          </a:solidFill>
          <a:ln w="12700">
            <a:solidFill>
              <a:srgbClr val="DDE3EC"/>
            </a:solidFill>
            <a:prstDash val="solid"/>
          </a:ln>
        </p:spPr>
      </p:sp>
      <p:sp>
        <p:nvSpPr>
          <p:cNvPr id="14" name="Shape 12"/>
          <p:cNvSpPr/>
          <p:nvPr/>
        </p:nvSpPr>
        <p:spPr>
          <a:xfrm>
            <a:off x="822960" y="4050792"/>
            <a:ext cx="384048" cy="384048"/>
          </a:xfrm>
          <a:prstGeom prst="ellipse">
            <a:avLst/>
          </a:prstGeom>
          <a:solidFill>
            <a:srgbClr val="C8A02C"/>
          </a:solidFill>
          <a:ln/>
        </p:spPr>
      </p:sp>
      <p:sp>
        <p:nvSpPr>
          <p:cNvPr id="15" name="Text 13"/>
          <p:cNvSpPr txBox="1"/>
          <p:nvPr/>
        </p:nvSpPr>
        <p:spPr>
          <a:xfrm>
            <a:off x="822960" y="4050792"/>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1371600" y="3785616"/>
            <a:ext cx="9966960" cy="914400"/>
          </a:xfrm>
          <a:prstGeom prst="rect">
            <a:avLst/>
          </a:prstGeom>
          <a:noFill/>
          <a:ln/>
        </p:spPr>
        <p:txBody>
          <a:bodyPr wrap="square" lIns="0" tIns="0" rIns="0" bIns="0" rtlCol="0" anchor="ctr"/>
          <a:lstStyle/>
          <a:p>
            <a:pPr indent="0" marL="0">
              <a:buNone/>
            </a:pPr>
            <a:r>
              <a:rPr lang="en-US" sz="1300" b="0" i="0" dirty="0">
                <a:solidFill>
                  <a:srgbClr val="1F2430"/>
                </a:solidFill>
                <a:latin typeface="Calibri"/>
                <a:ea typeface="Calibri"/>
                <a:cs typeface="Calibri"/>
              </a:rPr>
              <a:t>To implement and compare clustering approaches, primarily K-Means and Hierarchical Clustering, using the Elbow Method and Silhouette Score to determine optimal cluster configuration.</a:t>
            </a:r>
          </a:p>
        </p:txBody>
      </p:sp>
      <p:sp>
        <p:nvSpPr>
          <p:cNvPr id="17" name="Shape 15"/>
          <p:cNvSpPr/>
          <p:nvPr/>
        </p:nvSpPr>
        <p:spPr>
          <a:xfrm>
            <a:off x="548640" y="4864608"/>
            <a:ext cx="11064240" cy="914400"/>
          </a:xfrm>
          <a:prstGeom prst="roundRect">
            <a:avLst>
              <a:gd name="adj" fmla="val 8000"/>
            </a:avLst>
          </a:prstGeom>
          <a:solidFill>
            <a:srgbClr val="F1F4F9"/>
          </a:solidFill>
          <a:ln w="12700">
            <a:solidFill>
              <a:srgbClr val="DDE3EC"/>
            </a:solidFill>
            <a:prstDash val="solid"/>
          </a:ln>
        </p:spPr>
      </p:sp>
      <p:sp>
        <p:nvSpPr>
          <p:cNvPr id="18" name="Shape 16"/>
          <p:cNvSpPr/>
          <p:nvPr/>
        </p:nvSpPr>
        <p:spPr>
          <a:xfrm>
            <a:off x="822960" y="5129784"/>
            <a:ext cx="384048" cy="384048"/>
          </a:xfrm>
          <a:prstGeom prst="ellipse">
            <a:avLst/>
          </a:prstGeom>
          <a:solidFill>
            <a:srgbClr val="C8A02C"/>
          </a:solidFill>
          <a:ln/>
        </p:spPr>
      </p:sp>
      <p:sp>
        <p:nvSpPr>
          <p:cNvPr id="19" name="Text 17"/>
          <p:cNvSpPr txBox="1"/>
          <p:nvPr/>
        </p:nvSpPr>
        <p:spPr>
          <a:xfrm>
            <a:off x="822960" y="5129784"/>
            <a:ext cx="384048" cy="384048"/>
          </a:xfrm>
          <a:prstGeom prst="rect">
            <a:avLst/>
          </a:prstGeom>
          <a:noFill/>
          <a:ln/>
        </p:spPr>
        <p:txBody>
          <a:bodyPr wrap="square" lIns="0" tIns="0" rIns="0" bIns="0" rtlCol="0" anchor="ctr"/>
          <a:lstStyle/>
          <a:p>
            <a:pPr algn="ctr" indent="0" marL="0">
              <a:buNone/>
            </a:pPr>
            <a:r>
              <a:rPr lang="en-US" sz="1300" b="1" dirty="0">
                <a:solidFill>
                  <a:srgbClr val="101B3A"/>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1371600" y="4864608"/>
            <a:ext cx="9966960" cy="914400"/>
          </a:xfrm>
          <a:prstGeom prst="rect">
            <a:avLst/>
          </a:prstGeom>
          <a:noFill/>
          <a:ln/>
        </p:spPr>
        <p:txBody>
          <a:bodyPr wrap="square" lIns="0" tIns="0" rIns="0" bIns="0" rtlCol="0" anchor="ctr"/>
          <a:lstStyle/>
          <a:p>
            <a:pPr indent="0" marL="0">
              <a:buNone/>
            </a:pPr>
            <a:r>
              <a:rPr lang="en-US" sz="1300" b="0" i="0" dirty="0">
                <a:solidFill>
                  <a:srgbClr val="1F2430"/>
                </a:solidFill>
                <a:latin typeface="Calibri"/>
                <a:ea typeface="Calibri"/>
                <a:cs typeface="Calibri"/>
              </a:rPr>
              <a:t>To visualize and interpret the resulting customer segments using Principal Component Analysis (PCA) and derive meaningful retail business personas and actionable marketing insights.</a:t>
            </a:r>
          </a:p>
        </p:txBody>
      </p:sp>
      <p:sp>
        <p:nvSpPr>
          <p:cNvPr id="21" name="Text 19"/>
          <p:cNvSpPr txBox="1"/>
          <p:nvPr/>
        </p:nvSpPr>
        <p:spPr>
          <a:xfrm>
            <a:off x="548640" y="5943600"/>
            <a:ext cx="11064240" cy="274320"/>
          </a:xfrm>
          <a:prstGeom prst="rect">
            <a:avLst/>
          </a:prstGeom>
          <a:noFill/>
          <a:ln/>
        </p:spPr>
        <p:txBody>
          <a:bodyPr wrap="square" lIns="0" tIns="0" rIns="0" bIns="0" rtlCol="0" anchor="ctr"/>
          <a:lstStyle/>
          <a:p>
            <a:pPr indent="0" marL="0">
              <a:buNone/>
            </a:pPr>
            <a:r>
              <a:rPr lang="en-US" sz="1150" b="0" i="1" dirty="0">
                <a:solidFill>
                  <a:srgbClr val="6B7280"/>
                </a:solidFill>
                <a:latin typeface="Calibri"/>
                <a:ea typeface="Calibri"/>
                <a:cs typeface="Calibri"/>
              </a:rPr>
              <a:t>Review 1 Alignment: Objectives will be verified one-to-one against experimental deliverables in Review 2 and Final Review.</a:t>
            </a:r>
          </a:p>
        </p:txBody>
      </p:sp>
      <p:sp>
        <p:nvSpPr>
          <p:cNvPr id="22" name="Text 20"/>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3" name="Text 21"/>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6</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Proposed System Architecture</a:t>
            </a:r>
            <a:endParaRPr lang="en-US" sz="3100" dirty="0"/>
          </a:p>
        </p:txBody>
      </p:sp>
      <p:sp>
        <p:nvSpPr>
          <p:cNvPr id="4" name="Shape 2"/>
          <p:cNvSpPr/>
          <p:nvPr/>
        </p:nvSpPr>
        <p:spPr>
          <a:xfrm>
            <a:off x="548640" y="1691640"/>
            <a:ext cx="2560320" cy="1737360"/>
          </a:xfrm>
          <a:prstGeom prst="roundRect">
            <a:avLst>
              <a:gd name="adj" fmla="val 4211"/>
            </a:avLst>
          </a:prstGeom>
          <a:solidFill>
            <a:srgbClr val="F1F4F9"/>
          </a:solidFill>
          <a:ln w="12700">
            <a:solidFill>
              <a:srgbClr val="DDE3EC"/>
            </a:solidFill>
            <a:prstDash val="solid"/>
          </a:ln>
        </p:spPr>
      </p:sp>
      <p:sp>
        <p:nvSpPr>
          <p:cNvPr id="5" name="Text 3"/>
          <p:cNvSpPr txBox="1"/>
          <p:nvPr/>
        </p:nvSpPr>
        <p:spPr>
          <a:xfrm>
            <a:off x="685800" y="1920240"/>
            <a:ext cx="2286000" cy="292608"/>
          </a:xfrm>
          <a:prstGeom prst="rect">
            <a:avLst/>
          </a:prstGeom>
          <a:noFill/>
          <a:ln/>
        </p:spPr>
        <p:txBody>
          <a:bodyPr wrap="square" lIns="0" tIns="0" rIns="0" bIns="0" rtlCol="0" anchor="ctr"/>
          <a:lstStyle/>
          <a:p>
            <a:pPr algn="ctr" indent="0" marL="0">
              <a:buNone/>
            </a:pPr>
            <a:r>
              <a:rPr lang="en-US" sz="1200" b="1" spc="120" kern="0" dirty="0">
                <a:solidFill>
                  <a:srgbClr val="1B2A55"/>
                </a:solidFill>
                <a:latin typeface="Calibri" pitchFamily="34" charset="0"/>
                <a:ea typeface="Calibri" pitchFamily="34" charset="-122"/>
                <a:cs typeface="Calibri" pitchFamily="34" charset="-120"/>
              </a:rPr>
              <a:t>INPUT</a:t>
            </a:r>
            <a:endParaRPr lang="en-US" sz="1200" dirty="0"/>
          </a:p>
        </p:txBody>
      </p:sp>
      <p:sp>
        <p:nvSpPr>
          <p:cNvPr id="6" name="Text 4"/>
          <p:cNvSpPr txBox="1"/>
          <p:nvPr/>
        </p:nvSpPr>
        <p:spPr>
          <a:xfrm>
            <a:off x="685800" y="2286000"/>
            <a:ext cx="2286000" cy="1005840"/>
          </a:xfrm>
          <a:prstGeom prst="rect">
            <a:avLst/>
          </a:prstGeom>
          <a:noFill/>
          <a:ln/>
        </p:spPr>
        <p:txBody>
          <a:bodyPr wrap="square" lIns="0" tIns="0" rIns="0" bIns="0" rtlCol="0" anchor="ctr"/>
          <a:lstStyle/>
          <a:p>
            <a:pPr indent="0" marL="0">
              <a:buNone/>
            </a:pPr>
            <a:r>
              <a:rPr lang="en-US" sz="1150" b="1" i="0" dirty="0">
                <a:solidFill>
                  <a:srgbClr val="1B2A55"/>
                </a:solidFill>
                <a:latin typeface="Calibri"/>
                <a:ea typeface="Calibri"/>
                <a:cs typeface="Calibri"/>
              </a:rPr>
              <a:t>• UCI Online Retail Dataset</a:t>
            </a:r>
          </a:p>
          <a:p>
            <a:pPr indent="0" marL="0">
              <a:buNone/>
            </a:pPr>
            <a:r>
              <a:rPr lang="en-US" sz="1050" b="0" i="0" dirty="0">
                <a:solidFill>
                  <a:srgbClr val="1F2430"/>
                </a:solidFill>
                <a:latin typeface="Calibri"/>
                <a:ea typeface="Calibri"/>
                <a:cs typeface="Calibri"/>
              </a:rPr>
              <a:t>• Customer IDs &amp; transaction logs</a:t>
            </a:r>
            <a:br>
              <a:rPr lang="en-US" sz="1050" b="0" i="0" dirty="0">
                <a:solidFill>
                  <a:srgbClr val="1F2430"/>
                </a:solidFill>
                <a:latin typeface="Calibri"/>
              </a:rPr>
            </a:br>
            <a:r>
              <a:rPr lang="en-US" sz="1050" b="0" i="0" dirty="0">
                <a:solidFill>
                  <a:srgbClr val="1F2430"/>
                </a:solidFill>
                <a:latin typeface="Calibri"/>
                <a:ea typeface="Calibri"/>
                <a:cs typeface="Calibri"/>
              </a:rPr>
              <a:t>• Invoices, quantities, unit prices</a:t>
            </a:r>
          </a:p>
        </p:txBody>
      </p:sp>
      <p:sp>
        <p:nvSpPr>
          <p:cNvPr id="7" name="Shape 5"/>
          <p:cNvSpPr/>
          <p:nvPr/>
        </p:nvSpPr>
        <p:spPr>
          <a:xfrm>
            <a:off x="3182112" y="2404872"/>
            <a:ext cx="201168" cy="310896"/>
          </a:xfrm>
          <a:prstGeom prst="rightArrow">
            <a:avLst/>
          </a:prstGeom>
          <a:solidFill>
            <a:srgbClr val="C8A02C"/>
          </a:solidFill>
          <a:ln w="12700">
            <a:solidFill>
              <a:srgbClr val="C8A02C"/>
            </a:solidFill>
            <a:prstDash val="solid"/>
          </a:ln>
        </p:spPr>
      </p:sp>
      <p:sp>
        <p:nvSpPr>
          <p:cNvPr id="8" name="Shape 6"/>
          <p:cNvSpPr/>
          <p:nvPr/>
        </p:nvSpPr>
        <p:spPr>
          <a:xfrm>
            <a:off x="3438144" y="1691640"/>
            <a:ext cx="2560320" cy="1737360"/>
          </a:xfrm>
          <a:prstGeom prst="roundRect">
            <a:avLst>
              <a:gd name="adj" fmla="val 4211"/>
            </a:avLst>
          </a:prstGeom>
          <a:solidFill>
            <a:srgbClr val="F1F4F9"/>
          </a:solidFill>
          <a:ln w="12700">
            <a:solidFill>
              <a:srgbClr val="DDE3EC"/>
            </a:solidFill>
            <a:prstDash val="solid"/>
          </a:ln>
        </p:spPr>
      </p:sp>
      <p:sp>
        <p:nvSpPr>
          <p:cNvPr id="9" name="Text 7"/>
          <p:cNvSpPr txBox="1"/>
          <p:nvPr/>
        </p:nvSpPr>
        <p:spPr>
          <a:xfrm>
            <a:off x="3575304" y="1920240"/>
            <a:ext cx="2286000" cy="292608"/>
          </a:xfrm>
          <a:prstGeom prst="rect">
            <a:avLst/>
          </a:prstGeom>
          <a:noFill/>
          <a:ln/>
        </p:spPr>
        <p:txBody>
          <a:bodyPr wrap="square" lIns="0" tIns="0" rIns="0" bIns="0" rtlCol="0" anchor="ctr"/>
          <a:lstStyle/>
          <a:p>
            <a:pPr algn="ctr" indent="0" marL="0">
              <a:buNone/>
            </a:pPr>
            <a:r>
              <a:rPr lang="en-US" sz="1200" b="1" spc="120" kern="0" dirty="0">
                <a:solidFill>
                  <a:srgbClr val="1B2A55"/>
                </a:solidFill>
                <a:latin typeface="Calibri" pitchFamily="34" charset="0"/>
                <a:ea typeface="Calibri" pitchFamily="34" charset="-122"/>
                <a:cs typeface="Calibri" pitchFamily="34" charset="-120"/>
              </a:rPr>
              <a:t>PRE-PROCESSING</a:t>
            </a:r>
            <a:endParaRPr lang="en-US" sz="1200" dirty="0"/>
          </a:p>
        </p:txBody>
      </p:sp>
      <p:sp>
        <p:nvSpPr>
          <p:cNvPr id="10" name="Text 8"/>
          <p:cNvSpPr txBox="1"/>
          <p:nvPr/>
        </p:nvSpPr>
        <p:spPr>
          <a:xfrm>
            <a:off x="3575304" y="2286000"/>
            <a:ext cx="2286000" cy="1005840"/>
          </a:xfrm>
          <a:prstGeom prst="rect">
            <a:avLst/>
          </a:prstGeom>
          <a:noFill/>
          <a:ln/>
        </p:spPr>
        <p:txBody>
          <a:bodyPr wrap="square" lIns="0" tIns="0" rIns="0" bIns="0" rtlCol="0" anchor="ctr"/>
          <a:lstStyle/>
          <a:p>
            <a:pPr indent="0" marL="0">
              <a:buNone/>
            </a:pPr>
            <a:r>
              <a:rPr lang="en-US" sz="1150" b="1" i="0" dirty="0">
                <a:solidFill>
                  <a:srgbClr val="1B2A55"/>
                </a:solidFill>
                <a:latin typeface="Calibri"/>
                <a:ea typeface="Calibri"/>
                <a:cs typeface="Calibri"/>
              </a:rPr>
              <a:t>• Data Cleaning &amp; Filtering</a:t>
            </a:r>
          </a:p>
          <a:p>
            <a:pPr indent="0" marL="0">
              <a:buNone/>
            </a:pPr>
            <a:r>
              <a:rPr lang="en-US" sz="1050" b="0" i="0" dirty="0">
                <a:solidFill>
                  <a:srgbClr val="1F2430"/>
                </a:solidFill>
                <a:latin typeface="Calibri"/>
                <a:ea typeface="Calibri"/>
                <a:cs typeface="Calibri"/>
              </a:rPr>
              <a:t>• Filter returns &amp; missing IDs</a:t>
            </a:r>
            <a:br>
              <a:rPr lang="en-US" sz="1050" b="0" i="0" dirty="0">
                <a:solidFill>
                  <a:srgbClr val="1F2430"/>
                </a:solidFill>
                <a:latin typeface="Calibri"/>
              </a:rPr>
            </a:br>
            <a:r>
              <a:rPr lang="en-US" sz="1050" b="0" i="0" dirty="0">
                <a:solidFill>
                  <a:srgbClr val="1F2430"/>
                </a:solidFill>
                <a:latin typeface="Calibri"/>
                <a:ea typeface="Calibri"/>
                <a:cs typeface="Calibri"/>
              </a:rPr>
              <a:t>• RFM Calculation &amp; StandardScaler</a:t>
            </a:r>
          </a:p>
        </p:txBody>
      </p:sp>
      <p:sp>
        <p:nvSpPr>
          <p:cNvPr id="11" name="Shape 9"/>
          <p:cNvSpPr/>
          <p:nvPr/>
        </p:nvSpPr>
        <p:spPr>
          <a:xfrm>
            <a:off x="6071616" y="2404872"/>
            <a:ext cx="201168" cy="310896"/>
          </a:xfrm>
          <a:prstGeom prst="rightArrow">
            <a:avLst/>
          </a:prstGeom>
          <a:solidFill>
            <a:srgbClr val="C8A02C"/>
          </a:solidFill>
          <a:ln w="12700">
            <a:solidFill>
              <a:srgbClr val="C8A02C"/>
            </a:solidFill>
            <a:prstDash val="solid"/>
          </a:ln>
        </p:spPr>
      </p:sp>
      <p:sp>
        <p:nvSpPr>
          <p:cNvPr id="12" name="Shape 10"/>
          <p:cNvSpPr/>
          <p:nvPr/>
        </p:nvSpPr>
        <p:spPr>
          <a:xfrm>
            <a:off x="6327648" y="1691640"/>
            <a:ext cx="2560320" cy="1737360"/>
          </a:xfrm>
          <a:prstGeom prst="roundRect">
            <a:avLst>
              <a:gd name="adj" fmla="val 4211"/>
            </a:avLst>
          </a:prstGeom>
          <a:solidFill>
            <a:srgbClr val="1B2A55"/>
          </a:solidFill>
          <a:ln w="12700">
            <a:solidFill>
              <a:srgbClr val="1B2A55"/>
            </a:solidFill>
            <a:prstDash val="solid"/>
          </a:ln>
        </p:spPr>
      </p:sp>
      <p:sp>
        <p:nvSpPr>
          <p:cNvPr id="13" name="Text 11"/>
          <p:cNvSpPr txBox="1"/>
          <p:nvPr/>
        </p:nvSpPr>
        <p:spPr>
          <a:xfrm>
            <a:off x="6464808" y="1920240"/>
            <a:ext cx="2286000" cy="292608"/>
          </a:xfrm>
          <a:prstGeom prst="rect">
            <a:avLst/>
          </a:prstGeom>
          <a:noFill/>
          <a:ln/>
        </p:spPr>
        <p:txBody>
          <a:bodyPr wrap="square" lIns="0" tIns="0" rIns="0" bIns="0" rtlCol="0" anchor="ctr"/>
          <a:lstStyle/>
          <a:p>
            <a:pPr algn="ctr" indent="0" marL="0">
              <a:buNone/>
            </a:pPr>
            <a:r>
              <a:rPr lang="en-US" sz="1200" b="1" spc="120" kern="0" dirty="0">
                <a:solidFill>
                  <a:srgbClr val="C8A02C"/>
                </a:solidFill>
                <a:latin typeface="Calibri" pitchFamily="34" charset="0"/>
                <a:ea typeface="Calibri" pitchFamily="34" charset="-122"/>
                <a:cs typeface="Calibri" pitchFamily="34" charset="-120"/>
              </a:rPr>
              <a:t>CORE MODULE</a:t>
            </a:r>
            <a:endParaRPr lang="en-US" sz="1200" dirty="0"/>
          </a:p>
        </p:txBody>
      </p:sp>
      <p:sp>
        <p:nvSpPr>
          <p:cNvPr id="14" name="Text 12"/>
          <p:cNvSpPr txBox="1"/>
          <p:nvPr/>
        </p:nvSpPr>
        <p:spPr>
          <a:xfrm>
            <a:off x="6464808" y="2286000"/>
            <a:ext cx="2286000" cy="1005840"/>
          </a:xfrm>
          <a:prstGeom prst="rect">
            <a:avLst/>
          </a:prstGeom>
          <a:noFill/>
          <a:ln/>
        </p:spPr>
        <p:txBody>
          <a:bodyPr wrap="square" lIns="0" tIns="0" rIns="0" bIns="0" rtlCol="0" anchor="ctr"/>
          <a:lstStyle/>
          <a:p>
            <a:pPr indent="0" marL="0">
              <a:buNone/>
            </a:pPr>
            <a:r>
              <a:rPr lang="en-US" sz="1150" b="1" i="0" dirty="0">
                <a:solidFill>
                  <a:srgbClr val="1B2A55"/>
                </a:solidFill>
                <a:latin typeface="Calibri"/>
                <a:ea typeface="Calibri"/>
                <a:cs typeface="Calibri"/>
              </a:rPr>
              <a:t>• K-Means Clustering</a:t>
            </a:r>
          </a:p>
          <a:p>
            <a:pPr indent="0" marL="0">
              <a:buNone/>
            </a:pPr>
            <a:r>
              <a:rPr lang="en-US" sz="1050" b="0" i="0" dirty="0">
                <a:solidFill>
                  <a:srgbClr val="1F2430"/>
                </a:solidFill>
                <a:latin typeface="Calibri"/>
                <a:ea typeface="Calibri"/>
                <a:cs typeface="Calibri"/>
              </a:rPr>
              <a:t>• Elbow &amp; Silhouette evaluation</a:t>
            </a:r>
            <a:br>
              <a:rPr lang="en-US" sz="1050" b="0" i="0" dirty="0">
                <a:solidFill>
                  <a:srgbClr val="1F2430"/>
                </a:solidFill>
                <a:latin typeface="Calibri"/>
              </a:rPr>
            </a:br>
            <a:r>
              <a:rPr lang="en-US" sz="1050" b="0" i="0" dirty="0">
                <a:solidFill>
                  <a:srgbClr val="1F2430"/>
                </a:solidFill>
                <a:latin typeface="Calibri"/>
                <a:ea typeface="Calibri"/>
                <a:cs typeface="Calibri"/>
              </a:rPr>
              <a:t>• Hierarchical clustering validation</a:t>
            </a:r>
          </a:p>
        </p:txBody>
      </p:sp>
      <p:sp>
        <p:nvSpPr>
          <p:cNvPr id="15" name="Shape 13"/>
          <p:cNvSpPr/>
          <p:nvPr/>
        </p:nvSpPr>
        <p:spPr>
          <a:xfrm>
            <a:off x="8961120" y="2404872"/>
            <a:ext cx="201168" cy="310896"/>
          </a:xfrm>
          <a:prstGeom prst="rightArrow">
            <a:avLst/>
          </a:prstGeom>
          <a:solidFill>
            <a:srgbClr val="C8A02C"/>
          </a:solidFill>
          <a:ln w="12700">
            <a:solidFill>
              <a:srgbClr val="C8A02C"/>
            </a:solidFill>
            <a:prstDash val="solid"/>
          </a:ln>
        </p:spPr>
      </p:sp>
      <p:sp>
        <p:nvSpPr>
          <p:cNvPr id="16" name="Shape 14"/>
          <p:cNvSpPr/>
          <p:nvPr/>
        </p:nvSpPr>
        <p:spPr>
          <a:xfrm>
            <a:off x="9217152" y="1691640"/>
            <a:ext cx="2560320" cy="1737360"/>
          </a:xfrm>
          <a:prstGeom prst="roundRect">
            <a:avLst>
              <a:gd name="adj" fmla="val 4211"/>
            </a:avLst>
          </a:prstGeom>
          <a:solidFill>
            <a:srgbClr val="F1F4F9"/>
          </a:solidFill>
          <a:ln w="12700">
            <a:solidFill>
              <a:srgbClr val="DDE3EC"/>
            </a:solidFill>
            <a:prstDash val="solid"/>
          </a:ln>
        </p:spPr>
      </p:sp>
      <p:sp>
        <p:nvSpPr>
          <p:cNvPr id="17" name="Text 15"/>
          <p:cNvSpPr txBox="1"/>
          <p:nvPr/>
        </p:nvSpPr>
        <p:spPr>
          <a:xfrm>
            <a:off x="9354312" y="1920240"/>
            <a:ext cx="2286000" cy="292608"/>
          </a:xfrm>
          <a:prstGeom prst="rect">
            <a:avLst/>
          </a:prstGeom>
          <a:noFill/>
          <a:ln/>
        </p:spPr>
        <p:txBody>
          <a:bodyPr wrap="square" lIns="0" tIns="0" rIns="0" bIns="0" rtlCol="0" anchor="ctr"/>
          <a:lstStyle/>
          <a:p>
            <a:pPr algn="ctr" indent="0" marL="0">
              <a:buNone/>
            </a:pPr>
            <a:r>
              <a:rPr lang="en-US" sz="1200" b="1" spc="120" kern="0" dirty="0">
                <a:solidFill>
                  <a:srgbClr val="1B2A55"/>
                </a:solidFill>
                <a:latin typeface="Calibri" pitchFamily="34" charset="0"/>
                <a:ea typeface="Calibri" pitchFamily="34" charset="-122"/>
                <a:cs typeface="Calibri" pitchFamily="34" charset="-120"/>
              </a:rPr>
              <a:t>OUTPUT</a:t>
            </a:r>
            <a:endParaRPr lang="en-US" sz="1200" dirty="0"/>
          </a:p>
        </p:txBody>
      </p:sp>
      <p:sp>
        <p:nvSpPr>
          <p:cNvPr id="18" name="Text 16"/>
          <p:cNvSpPr txBox="1"/>
          <p:nvPr/>
        </p:nvSpPr>
        <p:spPr>
          <a:xfrm>
            <a:off x="9354312" y="2286000"/>
            <a:ext cx="2286000" cy="1005840"/>
          </a:xfrm>
          <a:prstGeom prst="rect">
            <a:avLst/>
          </a:prstGeom>
          <a:noFill/>
          <a:ln/>
        </p:spPr>
        <p:txBody>
          <a:bodyPr wrap="square" lIns="0" tIns="0" rIns="0" bIns="0" rtlCol="0" anchor="ctr"/>
          <a:lstStyle/>
          <a:p>
            <a:pPr indent="0" marL="0">
              <a:buNone/>
            </a:pPr>
            <a:r>
              <a:rPr lang="en-US" sz="1150" b="1" i="0" dirty="0">
                <a:solidFill>
                  <a:srgbClr val="1B2A55"/>
                </a:solidFill>
                <a:latin typeface="Calibri"/>
                <a:ea typeface="Calibri"/>
                <a:cs typeface="Calibri"/>
              </a:rPr>
              <a:t>• PCA 2D Visual Projections</a:t>
            </a:r>
          </a:p>
          <a:p>
            <a:pPr indent="0" marL="0">
              <a:buNone/>
            </a:pPr>
            <a:r>
              <a:rPr lang="en-US" sz="1050" b="0" i="0" dirty="0">
                <a:solidFill>
                  <a:srgbClr val="1F2430"/>
                </a:solidFill>
                <a:latin typeface="Calibri"/>
                <a:ea typeface="Calibri"/>
                <a:cs typeface="Calibri"/>
              </a:rPr>
              <a:t>• RFM cluster centroid profiles</a:t>
            </a:r>
            <a:br>
              <a:rPr lang="en-US" sz="1050" b="0" i="0" dirty="0">
                <a:solidFill>
                  <a:srgbClr val="1F2430"/>
                </a:solidFill>
                <a:latin typeface="Calibri"/>
              </a:rPr>
            </a:br>
            <a:r>
              <a:rPr lang="en-US" sz="1050" b="0" i="0" dirty="0">
                <a:solidFill>
                  <a:srgbClr val="1F2430"/>
                </a:solidFill>
                <a:latin typeface="Calibri"/>
                <a:ea typeface="Calibri"/>
                <a:cs typeface="Calibri"/>
              </a:rPr>
              <a:t>• Retail marketing &amp; retention plans</a:t>
            </a:r>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8</a:t>
            </a:r>
            <a:endParaRPr lang="en-US" sz="950" dirty="0"/>
          </a:p>
        </p:txBody>
      </p:sp>
      <p:sp>
        <p:nvSpPr>
          <p:cNvPr id="26" name="Rounded Rectangle 25"/>
          <p:cNvSpPr/>
          <p:nvPr/>
        </p:nvSpPr>
        <p:spPr>
          <a:xfrm>
            <a:off x="548640" y="370332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indent="0" marL="0" algn="ctr">
              <a:buNone/>
            </a:pPr>
            <a:r>
              <a:rPr lang="en-US" sz="1050" b="1" i="0" dirty="0">
                <a:solidFill>
                  <a:srgbClr val="1B2A55"/>
                </a:solidFill>
                <a:latin typeface="Calibri"/>
                <a:ea typeface="Calibri"/>
                <a:cs typeface="Calibri"/>
              </a:rPr>
              <a:t>Step 1: Retail Data</a:t>
            </a:r>
          </a:p>
          <a:p>
            <a:pPr indent="0" marL="0" algn="ctr">
              <a:buNone/>
            </a:pPr>
            <a:r>
              <a:rPr lang="en-US" sz="900" b="0" i="0" dirty="0">
                <a:solidFill>
                  <a:srgbClr val="1F2430"/>
                </a:solidFill>
                <a:latin typeface="Calibri"/>
                <a:ea typeface="Calibri"/>
                <a:cs typeface="Calibri"/>
              </a:rPr>
              <a:t>UCI Online Retail logs</a:t>
            </a:r>
          </a:p>
          <a:p>
            <a:pPr indent="0" marL="0" algn="ctr">
              <a:buNone/>
            </a:pPr>
            <a:r>
              <a:rPr lang="en-US" sz="850" b="0" i="1" dirty="0">
                <a:solidFill>
                  <a:srgbClr val="6B7280"/>
                </a:solidFill>
                <a:latin typeface="Calibri"/>
                <a:ea typeface="Calibri"/>
                <a:cs typeface="Calibri"/>
              </a:rPr>
              <a:t>Customer transaction records</a:t>
            </a:r>
          </a:p>
        </p:txBody>
      </p:sp>
      <p:sp>
        <p:nvSpPr>
          <p:cNvPr id="27" name="Right Arrow 26"/>
          <p:cNvSpPr/>
          <p:nvPr/>
        </p:nvSpPr>
        <p:spPr>
          <a:xfrm>
            <a:off x="2715768" y="4142232"/>
            <a:ext cx="722376" cy="164592"/>
          </a:xfrm>
          <a:prstGeom prst="rightArrow">
            <a:avLst/>
          </a:prstGeom>
          <a:solidFill>
            <a:srgbClr val="C8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642616" y="3840480"/>
            <a:ext cx="868680" cy="274320"/>
          </a:xfrm>
          <a:prstGeom prst="rect">
            <a:avLst/>
          </a:prstGeom>
          <a:noFill/>
        </p:spPr>
        <p:txBody>
          <a:bodyPr wrap="none">
            <a:spAutoFit/>
          </a:bodyPr>
          <a:lstStyle/>
          <a:p>
            <a:pPr indent="0" marL="0" algn="ctr">
              <a:buNone/>
            </a:pPr>
            <a:r>
              <a:rPr lang="en-US" sz="850" b="1" i="0" dirty="0">
                <a:solidFill>
                  <a:srgbClr val="A4161A"/>
                </a:solidFill>
                <a:latin typeface="Calibri"/>
                <a:ea typeface="Calibri"/>
                <a:cs typeface="Calibri"/>
              </a:rPr>
              <a:t>Raw CSV</a:t>
            </a:r>
          </a:p>
        </p:txBody>
      </p:sp>
      <p:sp>
        <p:nvSpPr>
          <p:cNvPr id="29" name="Rounded Rectangle 28"/>
          <p:cNvSpPr/>
          <p:nvPr/>
        </p:nvSpPr>
        <p:spPr>
          <a:xfrm>
            <a:off x="3547872" y="370332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indent="0" marL="0" algn="ctr">
              <a:buNone/>
            </a:pPr>
            <a:r>
              <a:rPr lang="en-US" sz="1050" b="1" i="0" dirty="0">
                <a:solidFill>
                  <a:srgbClr val="1B2A55"/>
                </a:solidFill>
                <a:latin typeface="Calibri"/>
                <a:ea typeface="Calibri"/>
                <a:cs typeface="Calibri"/>
              </a:rPr>
              <a:t>Step 2: Preprocessing</a:t>
            </a:r>
          </a:p>
          <a:p>
            <a:pPr indent="0" marL="0" algn="ctr">
              <a:buNone/>
            </a:pPr>
            <a:r>
              <a:rPr lang="en-US" sz="900" b="0" i="0" dirty="0">
                <a:solidFill>
                  <a:srgbClr val="1F2430"/>
                </a:solidFill>
                <a:latin typeface="Calibri"/>
                <a:ea typeface="Calibri"/>
                <a:cs typeface="Calibri"/>
              </a:rPr>
              <a:t>Data cleaning &amp; filtering</a:t>
            </a:r>
          </a:p>
          <a:p>
            <a:pPr indent="0" marL="0" algn="ctr">
              <a:buNone/>
            </a:pPr>
            <a:r>
              <a:rPr lang="en-US" sz="850" b="0" i="1" dirty="0">
                <a:solidFill>
                  <a:srgbClr val="6B7280"/>
                </a:solidFill>
                <a:latin typeface="Calibri"/>
                <a:ea typeface="Calibri"/>
                <a:cs typeface="Calibri"/>
              </a:rPr>
              <a:t>Handle missing IDs &amp; returns</a:t>
            </a:r>
          </a:p>
        </p:txBody>
      </p:sp>
      <p:sp>
        <p:nvSpPr>
          <p:cNvPr id="30" name="Right Arrow 29"/>
          <p:cNvSpPr/>
          <p:nvPr/>
        </p:nvSpPr>
        <p:spPr>
          <a:xfrm>
            <a:off x="5715000" y="4142232"/>
            <a:ext cx="722376" cy="164592"/>
          </a:xfrm>
          <a:prstGeom prst="rightArrow">
            <a:avLst/>
          </a:prstGeom>
          <a:solidFill>
            <a:srgbClr val="C8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641848" y="3840480"/>
            <a:ext cx="868680" cy="274320"/>
          </a:xfrm>
          <a:prstGeom prst="rect">
            <a:avLst/>
          </a:prstGeom>
          <a:noFill/>
        </p:spPr>
        <p:txBody>
          <a:bodyPr wrap="none">
            <a:spAutoFit/>
          </a:bodyPr>
          <a:lstStyle/>
          <a:p>
            <a:pPr indent="0" marL="0" algn="ctr">
              <a:buNone/>
            </a:pPr>
            <a:r>
              <a:rPr lang="en-US" sz="850" b="1" i="0" dirty="0">
                <a:solidFill>
                  <a:srgbClr val="A4161A"/>
                </a:solidFill>
                <a:latin typeface="Calibri"/>
                <a:ea typeface="Calibri"/>
                <a:cs typeface="Calibri"/>
              </a:rPr>
              <a:t>Clean Data</a:t>
            </a:r>
          </a:p>
        </p:txBody>
      </p:sp>
      <p:sp>
        <p:nvSpPr>
          <p:cNvPr id="32" name="Rounded Rectangle 31"/>
          <p:cNvSpPr/>
          <p:nvPr/>
        </p:nvSpPr>
        <p:spPr>
          <a:xfrm>
            <a:off x="6547104" y="370332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indent="0" marL="0" algn="ctr">
              <a:buNone/>
            </a:pPr>
            <a:r>
              <a:rPr lang="en-US" sz="1050" b="1" i="0" dirty="0">
                <a:solidFill>
                  <a:srgbClr val="1B2A55"/>
                </a:solidFill>
                <a:latin typeface="Calibri"/>
                <a:ea typeface="Calibri"/>
                <a:cs typeface="Calibri"/>
              </a:rPr>
              <a:t>Step 3: RFM Extraction</a:t>
            </a:r>
          </a:p>
          <a:p>
            <a:pPr indent="0" marL="0" algn="ctr">
              <a:buNone/>
            </a:pPr>
            <a:r>
              <a:rPr lang="en-US" sz="900" b="0" i="0" dirty="0">
                <a:solidFill>
                  <a:srgbClr val="1F2430"/>
                </a:solidFill>
                <a:latin typeface="Calibri"/>
                <a:ea typeface="Calibri"/>
                <a:cs typeface="Calibri"/>
              </a:rPr>
              <a:t>Recency, Frequency, Monetary</a:t>
            </a:r>
          </a:p>
          <a:p>
            <a:pPr indent="0" marL="0" algn="ctr">
              <a:buNone/>
            </a:pPr>
            <a:r>
              <a:rPr lang="en-US" sz="850" b="0" i="1" dirty="0">
                <a:solidFill>
                  <a:srgbClr val="6B7280"/>
                </a:solidFill>
                <a:latin typeface="Calibri"/>
                <a:ea typeface="Calibri"/>
                <a:cs typeface="Calibri"/>
              </a:rPr>
              <a:t>Customer-level behavioral vectors</a:t>
            </a:r>
          </a:p>
        </p:txBody>
      </p:sp>
      <p:sp>
        <p:nvSpPr>
          <p:cNvPr id="33" name="Right Arrow 32"/>
          <p:cNvSpPr/>
          <p:nvPr/>
        </p:nvSpPr>
        <p:spPr>
          <a:xfrm>
            <a:off x="8714232" y="4142232"/>
            <a:ext cx="722376" cy="164592"/>
          </a:xfrm>
          <a:prstGeom prst="rightArrow">
            <a:avLst/>
          </a:prstGeom>
          <a:solidFill>
            <a:srgbClr val="C8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41080" y="3840480"/>
            <a:ext cx="868680" cy="274320"/>
          </a:xfrm>
          <a:prstGeom prst="rect">
            <a:avLst/>
          </a:prstGeom>
          <a:noFill/>
        </p:spPr>
        <p:txBody>
          <a:bodyPr wrap="none">
            <a:spAutoFit/>
          </a:bodyPr>
          <a:lstStyle/>
          <a:p>
            <a:pPr indent="0" marL="0" algn="ctr">
              <a:buNone/>
            </a:pPr>
            <a:r>
              <a:rPr lang="en-US" sz="850" b="1" i="0" dirty="0">
                <a:solidFill>
                  <a:srgbClr val="A4161A"/>
                </a:solidFill>
                <a:latin typeface="Calibri"/>
                <a:ea typeface="Calibri"/>
                <a:cs typeface="Calibri"/>
              </a:rPr>
              <a:t>RFM Vectors</a:t>
            </a:r>
          </a:p>
        </p:txBody>
      </p:sp>
      <p:sp>
        <p:nvSpPr>
          <p:cNvPr id="35" name="Rounded Rectangle 34"/>
          <p:cNvSpPr/>
          <p:nvPr/>
        </p:nvSpPr>
        <p:spPr>
          <a:xfrm>
            <a:off x="9546336" y="370332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indent="0" marL="0" algn="ctr">
              <a:buNone/>
            </a:pPr>
            <a:r>
              <a:rPr lang="en-US" sz="1050" b="1" i="0" dirty="0">
                <a:solidFill>
                  <a:srgbClr val="1B2A55"/>
                </a:solidFill>
                <a:latin typeface="Calibri"/>
                <a:ea typeface="Calibri"/>
                <a:cs typeface="Calibri"/>
              </a:rPr>
              <a:t>Step 4: Feature Scaling</a:t>
            </a:r>
          </a:p>
          <a:p>
            <a:pPr indent="0" marL="0" algn="ctr">
              <a:buNone/>
            </a:pPr>
            <a:r>
              <a:rPr lang="en-US" sz="900" b="0" i="0" dirty="0">
                <a:solidFill>
                  <a:srgbClr val="1F2430"/>
                </a:solidFill>
                <a:latin typeface="Calibri"/>
                <a:ea typeface="Calibri"/>
                <a:cs typeface="Calibri"/>
              </a:rPr>
              <a:t>StandardScaler normalization</a:t>
            </a:r>
          </a:p>
          <a:p>
            <a:pPr indent="0" marL="0" algn="ctr">
              <a:buNone/>
            </a:pPr>
            <a:r>
              <a:rPr lang="en-US" sz="850" b="0" i="1" dirty="0">
                <a:solidFill>
                  <a:srgbClr val="6B7280"/>
                </a:solidFill>
                <a:latin typeface="Calibri"/>
                <a:ea typeface="Calibri"/>
                <a:cs typeface="Calibri"/>
              </a:rPr>
              <a:t>Uniform feature contribution</a:t>
            </a:r>
          </a:p>
        </p:txBody>
      </p:sp>
      <p:sp>
        <p:nvSpPr>
          <p:cNvPr id="36" name="Down Arrow 35"/>
          <p:cNvSpPr/>
          <p:nvPr/>
        </p:nvSpPr>
        <p:spPr>
          <a:xfrm>
            <a:off x="10415016" y="4727448"/>
            <a:ext cx="320040" cy="219456"/>
          </a:xfrm>
          <a:prstGeom prst="downArrow">
            <a:avLst/>
          </a:prstGeom>
          <a:solidFill>
            <a:srgbClr val="C8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180576" y="4709160"/>
            <a:ext cx="1188720" cy="237744"/>
          </a:xfrm>
          <a:prstGeom prst="rect">
            <a:avLst/>
          </a:prstGeom>
          <a:noFill/>
        </p:spPr>
        <p:txBody>
          <a:bodyPr wrap="none">
            <a:spAutoFit/>
          </a:bodyPr>
          <a:lstStyle/>
          <a:p>
            <a:pPr indent="0" marL="0" algn="r">
              <a:buNone/>
            </a:pPr>
            <a:r>
              <a:rPr lang="en-US" sz="850" b="1" i="0" dirty="0">
                <a:solidFill>
                  <a:srgbClr val="A4161A"/>
                </a:solidFill>
                <a:latin typeface="Calibri"/>
                <a:ea typeface="Calibri"/>
                <a:cs typeface="Calibri"/>
              </a:rPr>
              <a:t>Scaled Matrix</a:t>
            </a:r>
          </a:p>
        </p:txBody>
      </p:sp>
      <p:sp>
        <p:nvSpPr>
          <p:cNvPr id="38" name="Rounded Rectangle 37"/>
          <p:cNvSpPr/>
          <p:nvPr/>
        </p:nvSpPr>
        <p:spPr>
          <a:xfrm>
            <a:off x="548640" y="498348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indent="0" marL="0" algn="ctr">
              <a:buNone/>
            </a:pPr>
            <a:r>
              <a:rPr lang="en-US" sz="1050" b="1" i="0" dirty="0">
                <a:solidFill>
                  <a:srgbClr val="1B2A55"/>
                </a:solidFill>
                <a:latin typeface="Calibri"/>
                <a:ea typeface="Calibri"/>
                <a:cs typeface="Calibri"/>
              </a:rPr>
              <a:t>Step 8: Retail Personas</a:t>
            </a:r>
          </a:p>
          <a:p>
            <a:pPr indent="0" marL="0" algn="ctr">
              <a:buNone/>
            </a:pPr>
            <a:r>
              <a:rPr lang="en-US" sz="900" b="0" i="0" dirty="0">
                <a:solidFill>
                  <a:srgbClr val="1F2430"/>
                </a:solidFill>
                <a:latin typeface="Calibri"/>
                <a:ea typeface="Calibri"/>
                <a:cs typeface="Calibri"/>
              </a:rPr>
              <a:t>Cluster profiling &amp; centroids</a:t>
            </a:r>
          </a:p>
          <a:p>
            <a:pPr indent="0" marL="0" algn="ctr">
              <a:buNone/>
            </a:pPr>
            <a:r>
              <a:rPr lang="en-US" sz="850" b="0" i="1" dirty="0">
                <a:solidFill>
                  <a:srgbClr val="6B7280"/>
                </a:solidFill>
                <a:latin typeface="Calibri"/>
                <a:ea typeface="Calibri"/>
                <a:cs typeface="Calibri"/>
              </a:rPr>
              <a:t>Actionable business strategies</a:t>
            </a:r>
          </a:p>
        </p:txBody>
      </p:sp>
      <p:sp>
        <p:nvSpPr>
          <p:cNvPr id="39" name="Left Arrow 38"/>
          <p:cNvSpPr/>
          <p:nvPr/>
        </p:nvSpPr>
        <p:spPr>
          <a:xfrm>
            <a:off x="2715768" y="5422392"/>
            <a:ext cx="722376" cy="164592"/>
          </a:xfrm>
          <a:prstGeom prst="leftArrow">
            <a:avLst/>
          </a:prstGeom>
          <a:solidFill>
            <a:srgbClr val="C8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642616" y="5120640"/>
            <a:ext cx="868680" cy="274320"/>
          </a:xfrm>
          <a:prstGeom prst="rect">
            <a:avLst/>
          </a:prstGeom>
          <a:noFill/>
        </p:spPr>
        <p:txBody>
          <a:bodyPr wrap="none">
            <a:spAutoFit/>
          </a:bodyPr>
          <a:lstStyle/>
          <a:p>
            <a:pPr indent="0" marL="0" algn="ctr">
              <a:buNone/>
            </a:pPr>
            <a:r>
              <a:rPr lang="en-US" sz="850" b="1" i="0" dirty="0">
                <a:solidFill>
                  <a:srgbClr val="A4161A"/>
                </a:solidFill>
                <a:latin typeface="Calibri"/>
                <a:ea typeface="Calibri"/>
                <a:cs typeface="Calibri"/>
              </a:rPr>
              <a:t>Target Insights</a:t>
            </a:r>
          </a:p>
        </p:txBody>
      </p:sp>
      <p:sp>
        <p:nvSpPr>
          <p:cNvPr id="41" name="Rounded Rectangle 40"/>
          <p:cNvSpPr/>
          <p:nvPr/>
        </p:nvSpPr>
        <p:spPr>
          <a:xfrm>
            <a:off x="3547872" y="498348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indent="0" marL="0" algn="ctr">
              <a:buNone/>
            </a:pPr>
            <a:r>
              <a:rPr lang="en-US" sz="1050" b="1" i="0" dirty="0">
                <a:solidFill>
                  <a:srgbClr val="1B2A55"/>
                </a:solidFill>
                <a:latin typeface="Calibri"/>
                <a:ea typeface="Calibri"/>
                <a:cs typeface="Calibri"/>
              </a:rPr>
              <a:t>Step 7: PCA Visualization</a:t>
            </a:r>
          </a:p>
          <a:p>
            <a:pPr indent="0" marL="0" algn="ctr">
              <a:buNone/>
            </a:pPr>
            <a:r>
              <a:rPr lang="en-US" sz="900" b="0" i="0" dirty="0">
                <a:solidFill>
                  <a:srgbClr val="1F2430"/>
                </a:solidFill>
                <a:latin typeface="Calibri"/>
                <a:ea typeface="Calibri"/>
                <a:cs typeface="Calibri"/>
              </a:rPr>
              <a:t>Dimensionality reduction</a:t>
            </a:r>
          </a:p>
          <a:p>
            <a:pPr indent="0" marL="0" algn="ctr">
              <a:buNone/>
            </a:pPr>
            <a:r>
              <a:rPr lang="en-US" sz="850" b="0" i="1" dirty="0">
                <a:solidFill>
                  <a:srgbClr val="6B7280"/>
                </a:solidFill>
                <a:latin typeface="Calibri"/>
                <a:ea typeface="Calibri"/>
                <a:cs typeface="Calibri"/>
              </a:rPr>
              <a:t>2D projection for visual separation</a:t>
            </a:r>
          </a:p>
        </p:txBody>
      </p:sp>
      <p:sp>
        <p:nvSpPr>
          <p:cNvPr id="42" name="Left Arrow 41"/>
          <p:cNvSpPr/>
          <p:nvPr/>
        </p:nvSpPr>
        <p:spPr>
          <a:xfrm>
            <a:off x="5715000" y="5422392"/>
            <a:ext cx="722376" cy="164592"/>
          </a:xfrm>
          <a:prstGeom prst="leftArrow">
            <a:avLst/>
          </a:prstGeom>
          <a:solidFill>
            <a:srgbClr val="C8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641848" y="5120640"/>
            <a:ext cx="868680" cy="274320"/>
          </a:xfrm>
          <a:prstGeom prst="rect">
            <a:avLst/>
          </a:prstGeom>
          <a:noFill/>
        </p:spPr>
        <p:txBody>
          <a:bodyPr wrap="none">
            <a:spAutoFit/>
          </a:bodyPr>
          <a:lstStyle/>
          <a:p>
            <a:pPr indent="0" marL="0" algn="ctr">
              <a:buNone/>
            </a:pPr>
            <a:r>
              <a:rPr lang="en-US" sz="850" b="1" i="0" dirty="0">
                <a:solidFill>
                  <a:srgbClr val="A4161A"/>
                </a:solidFill>
                <a:latin typeface="Calibri"/>
                <a:ea typeface="Calibri"/>
                <a:cs typeface="Calibri"/>
              </a:rPr>
              <a:t>2D Projection</a:t>
            </a:r>
          </a:p>
        </p:txBody>
      </p:sp>
      <p:sp>
        <p:nvSpPr>
          <p:cNvPr id="44" name="Rounded Rectangle 43"/>
          <p:cNvSpPr/>
          <p:nvPr/>
        </p:nvSpPr>
        <p:spPr>
          <a:xfrm>
            <a:off x="6547104" y="498348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indent="0" marL="0" algn="ctr">
              <a:buNone/>
            </a:pPr>
            <a:r>
              <a:rPr lang="en-US" sz="1050" b="1" i="0" dirty="0">
                <a:solidFill>
                  <a:srgbClr val="1B2A55"/>
                </a:solidFill>
                <a:latin typeface="Calibri"/>
                <a:ea typeface="Calibri"/>
                <a:cs typeface="Calibri"/>
              </a:rPr>
              <a:t>Step 6: Clustering Models</a:t>
            </a:r>
          </a:p>
          <a:p>
            <a:pPr indent="0" marL="0" algn="ctr">
              <a:buNone/>
            </a:pPr>
            <a:r>
              <a:rPr lang="en-US" sz="900" b="0" i="0" dirty="0">
                <a:solidFill>
                  <a:srgbClr val="1F2430"/>
                </a:solidFill>
                <a:latin typeface="Calibri"/>
                <a:ea typeface="Calibri"/>
                <a:cs typeface="Calibri"/>
              </a:rPr>
              <a:t>K-Means &amp; Hierarchical</a:t>
            </a:r>
          </a:p>
          <a:p>
            <a:pPr indent="0" marL="0" algn="ctr">
              <a:buNone/>
            </a:pPr>
            <a:r>
              <a:rPr lang="en-US" sz="850" b="0" i="1" dirty="0">
                <a:solidFill>
                  <a:srgbClr val="6B7280"/>
                </a:solidFill>
                <a:latin typeface="Calibri"/>
                <a:ea typeface="Calibri"/>
                <a:cs typeface="Calibri"/>
              </a:rPr>
              <a:t>Partition customers &amp; validate tree</a:t>
            </a:r>
          </a:p>
        </p:txBody>
      </p:sp>
      <p:sp>
        <p:nvSpPr>
          <p:cNvPr id="45" name="Left Arrow 44"/>
          <p:cNvSpPr/>
          <p:nvPr/>
        </p:nvSpPr>
        <p:spPr>
          <a:xfrm>
            <a:off x="8714232" y="5422392"/>
            <a:ext cx="722376" cy="164592"/>
          </a:xfrm>
          <a:prstGeom prst="leftArrow">
            <a:avLst/>
          </a:prstGeom>
          <a:solidFill>
            <a:srgbClr val="C8A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41080" y="5120640"/>
            <a:ext cx="868680" cy="274320"/>
          </a:xfrm>
          <a:prstGeom prst="rect">
            <a:avLst/>
          </a:prstGeom>
          <a:noFill/>
        </p:spPr>
        <p:txBody>
          <a:bodyPr wrap="none">
            <a:spAutoFit/>
          </a:bodyPr>
          <a:lstStyle/>
          <a:p>
            <a:pPr indent="0" marL="0" algn="ctr">
              <a:buNone/>
            </a:pPr>
            <a:r>
              <a:rPr lang="en-US" sz="850" b="1" i="0" dirty="0">
                <a:solidFill>
                  <a:srgbClr val="A4161A"/>
                </a:solidFill>
                <a:latin typeface="Calibri"/>
                <a:ea typeface="Calibri"/>
                <a:cs typeface="Calibri"/>
              </a:rPr>
              <a:t>Cluster IDs</a:t>
            </a:r>
          </a:p>
        </p:txBody>
      </p:sp>
      <p:sp>
        <p:nvSpPr>
          <p:cNvPr id="47" name="Rounded Rectangle 46"/>
          <p:cNvSpPr/>
          <p:nvPr/>
        </p:nvSpPr>
        <p:spPr>
          <a:xfrm>
            <a:off x="9546336" y="4983480"/>
            <a:ext cx="2057400" cy="1005840"/>
          </a:xfrm>
          <a:prstGeom prst="roundRect">
            <a:avLst/>
          </a:prstGeom>
          <a:solidFill>
            <a:srgbClr val="F1F4F9"/>
          </a:solidFill>
          <a:ln w="15875">
            <a:solidFill>
              <a:srgbClr val="1B2A55"/>
            </a:solidFill>
          </a:ln>
        </p:spPr>
        <p:style>
          <a:lnRef idx="1">
            <a:schemeClr val="accent1"/>
          </a:lnRef>
          <a:fillRef idx="3">
            <a:schemeClr val="accent1"/>
          </a:fillRef>
          <a:effectRef idx="2">
            <a:schemeClr val="accent1"/>
          </a:effectRef>
          <a:fontRef idx="minor">
            <a:schemeClr val="lt1"/>
          </a:fontRef>
        </p:style>
        <p:txBody>
          <a:bodyPr rtlCol="0" anchor="ctr"/>
          <a:lstStyle/>
          <a:p>
            <a:pPr indent="0" marL="0" algn="ctr">
              <a:buNone/>
            </a:pPr>
            <a:r>
              <a:rPr lang="en-US" sz="1050" b="1" i="0" dirty="0">
                <a:solidFill>
                  <a:srgbClr val="1B2A55"/>
                </a:solidFill>
                <a:latin typeface="Calibri"/>
                <a:ea typeface="Calibri"/>
                <a:cs typeface="Calibri"/>
              </a:rPr>
              <a:t>Step 5: Cluster Evaluation</a:t>
            </a:r>
          </a:p>
          <a:p>
            <a:pPr indent="0" marL="0" algn="ctr">
              <a:buNone/>
            </a:pPr>
            <a:r>
              <a:rPr lang="en-US" sz="900" b="0" i="0" dirty="0">
                <a:solidFill>
                  <a:srgbClr val="1F2430"/>
                </a:solidFill>
                <a:latin typeface="Calibri"/>
                <a:ea typeface="Calibri"/>
                <a:cs typeface="Calibri"/>
              </a:rPr>
              <a:t>Elbow Method &amp; Silhouette</a:t>
            </a:r>
          </a:p>
          <a:p>
            <a:pPr indent="0" marL="0" algn="ctr">
              <a:buNone/>
            </a:pPr>
            <a:r>
              <a:rPr lang="en-US" sz="850" b="0" i="1" dirty="0">
                <a:solidFill>
                  <a:srgbClr val="6B7280"/>
                </a:solidFill>
                <a:latin typeface="Calibri"/>
                <a:ea typeface="Calibri"/>
                <a:cs typeface="Calibri"/>
              </a:rPr>
              <a:t>Determine optimal cluster count 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7</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Methodology &amp; Modules</a:t>
            </a:r>
            <a:endParaRPr lang="en-US" sz="3100" dirty="0"/>
          </a:p>
        </p:txBody>
      </p:sp>
      <p:sp>
        <p:nvSpPr>
          <p:cNvPr id="4" name="Shape 2"/>
          <p:cNvSpPr/>
          <p:nvPr/>
        </p:nvSpPr>
        <p:spPr>
          <a:xfrm>
            <a:off x="548640" y="1463040"/>
            <a:ext cx="5349240" cy="1965960"/>
          </a:xfrm>
          <a:prstGeom prst="roundRect">
            <a:avLst>
              <a:gd name="adj" fmla="val 3721"/>
            </a:avLst>
          </a:prstGeom>
          <a:solidFill>
            <a:srgbClr val="F1F4F9"/>
          </a:solidFill>
          <a:ln w="12700">
            <a:solidFill>
              <a:srgbClr val="DDE3EC"/>
            </a:solidFill>
            <a:prstDash val="solid"/>
          </a:ln>
        </p:spPr>
      </p:sp>
      <p:sp>
        <p:nvSpPr>
          <p:cNvPr id="5" name="Shape 3"/>
          <p:cNvSpPr/>
          <p:nvPr/>
        </p:nvSpPr>
        <p:spPr>
          <a:xfrm>
            <a:off x="822960" y="1737360"/>
            <a:ext cx="411480" cy="411480"/>
          </a:xfrm>
          <a:prstGeom prst="ellipse">
            <a:avLst/>
          </a:prstGeom>
          <a:solidFill>
            <a:srgbClr val="1B2A55"/>
          </a:solidFill>
          <a:ln/>
        </p:spPr>
      </p:sp>
      <p:sp>
        <p:nvSpPr>
          <p:cNvPr id="6" name="Text 4"/>
          <p:cNvSpPr txBox="1"/>
          <p:nvPr/>
        </p:nvSpPr>
        <p:spPr>
          <a:xfrm>
            <a:off x="822960" y="1737360"/>
            <a:ext cx="411480" cy="411480"/>
          </a:xfrm>
          <a:prstGeom prst="rect">
            <a:avLst/>
          </a:prstGeom>
          <a:noFill/>
          <a:ln/>
        </p:spPr>
        <p:txBody>
          <a:bodyPr wrap="square" lIns="0" tIns="0" rIns="0" bIns="0" rtlCol="0" anchor="ctr"/>
          <a:lstStyle/>
          <a:p>
            <a:pPr algn="ctr" indent="0" marL="0">
              <a:buNone/>
            </a:pPr>
            <a:r>
              <a:rPr lang="en-US" sz="1300" b="1" dirty="0">
                <a:solidFill>
                  <a:srgbClr val="C8A02C"/>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17320" y="1755648"/>
            <a:ext cx="4206240" cy="384048"/>
          </a:xfrm>
          <a:prstGeom prst="rect">
            <a:avLst/>
          </a:prstGeom>
          <a:noFill/>
          <a:ln/>
        </p:spPr>
        <p:txBody>
          <a:bodyPr wrap="square" lIns="0" tIns="0" rIns="0" bIns="0" rtlCol="0" anchor="ctr"/>
          <a:lstStyle/>
          <a:p>
            <a:pPr indent="0" marL="0">
              <a:buNone/>
            </a:pPr>
            <a:r>
              <a:rPr lang="en-US" sz="1450" b="1" i="0" dirty="0">
                <a:solidFill>
                  <a:srgbClr val="1B2A55"/>
                </a:solidFill>
                <a:latin typeface="Calibri"/>
                <a:ea typeface="Calibri"/>
                <a:cs typeface="Calibri"/>
              </a:rPr>
              <a:t>Module 1 - Data Collection &amp; Preprocessing</a:t>
            </a:r>
          </a:p>
        </p:txBody>
      </p:sp>
      <p:sp>
        <p:nvSpPr>
          <p:cNvPr id="8" name="Text 6"/>
          <p:cNvSpPr txBox="1"/>
          <p:nvPr/>
        </p:nvSpPr>
        <p:spPr>
          <a:xfrm>
            <a:off x="822960" y="2331720"/>
            <a:ext cx="4800600" cy="914400"/>
          </a:xfrm>
          <a:prstGeom prst="rect">
            <a:avLst/>
          </a:prstGeom>
          <a:noFill/>
          <a:ln/>
        </p:spPr>
        <p:txBody>
          <a:bodyPr wrap="square" lIns="0" tIns="0" rIns="0" bIns="0" rtlCol="0" anchor="ctr"/>
          <a:lstStyle/>
          <a:p>
            <a:pPr indent="0" marL="0">
              <a:buNone/>
              <a:spcAft>
                <a:spcPts val="200"/>
              </a:spcAft>
            </a:pPr>
            <a:r>
              <a:rPr lang="en-US" sz="1100" b="0" i="0" dirty="0">
                <a:solidFill>
                  <a:srgbClr val="1F2430"/>
                </a:solidFill>
                <a:latin typeface="Calibri"/>
                <a:ea typeface="Calibri"/>
                <a:cs typeface="Calibri"/>
              </a:rPr>
              <a:t>• Planned Source: UCI Online Retail Dataset containing transactional records.</a:t>
            </a:r>
          </a:p>
          <a:p>
            <a:pPr indent="0" marL="0">
              <a:buNone/>
              <a:spcAft>
                <a:spcPts val="200"/>
              </a:spcAft>
            </a:pPr>
            <a:r>
              <a:rPr lang="en-US" sz="1100" b="0" i="0" dirty="0">
                <a:solidFill>
                  <a:srgbClr val="1F2430"/>
                </a:solidFill>
                <a:latin typeface="Calibri"/>
                <a:ea typeface="Calibri"/>
                <a:cs typeface="Calibri"/>
              </a:rPr>
              <a:t>• Data Cleaning: Filter records with missing CustomerID and invalid quantities.</a:t>
            </a:r>
          </a:p>
          <a:p>
            <a:pPr indent="0" marL="0">
              <a:buNone/>
              <a:spcAft>
                <a:spcPts val="200"/>
              </a:spcAft>
            </a:pPr>
            <a:r>
              <a:rPr lang="en-US" sz="1100" b="0" i="0" dirty="0">
                <a:solidFill>
                  <a:srgbClr val="1F2430"/>
                </a:solidFill>
                <a:latin typeface="Calibri"/>
                <a:ea typeface="Calibri"/>
                <a:cs typeface="Calibri"/>
              </a:rPr>
              <a:t>• Handling Returns: Exclude cancelled transactions (invoice codes starting with 'C').</a:t>
            </a:r>
          </a:p>
          <a:p>
            <a:pPr indent="0" marL="0">
              <a:buNone/>
            </a:pPr>
            <a:r>
              <a:rPr lang="en-US" sz="1100" b="0" i="0" dirty="0">
                <a:solidFill>
                  <a:srgbClr val="1F2430"/>
                </a:solidFill>
                <a:latin typeface="Calibri"/>
                <a:ea typeface="Calibri"/>
                <a:cs typeface="Calibri"/>
              </a:rPr>
              <a:t>• Transaction Value: Compute line total = Quantity x UnitPrice; parse datetime stamps.</a:t>
            </a:r>
          </a:p>
        </p:txBody>
      </p:sp>
      <p:sp>
        <p:nvSpPr>
          <p:cNvPr id="9" name="Shape 7"/>
          <p:cNvSpPr/>
          <p:nvPr/>
        </p:nvSpPr>
        <p:spPr>
          <a:xfrm>
            <a:off x="6217920" y="1463040"/>
            <a:ext cx="5349240" cy="1965960"/>
          </a:xfrm>
          <a:prstGeom prst="roundRect">
            <a:avLst>
              <a:gd name="adj" fmla="val 3721"/>
            </a:avLst>
          </a:prstGeom>
          <a:solidFill>
            <a:srgbClr val="F1F4F9"/>
          </a:solidFill>
          <a:ln w="12700">
            <a:solidFill>
              <a:srgbClr val="DDE3EC"/>
            </a:solidFill>
            <a:prstDash val="solid"/>
          </a:ln>
        </p:spPr>
      </p:sp>
      <p:sp>
        <p:nvSpPr>
          <p:cNvPr id="10" name="Shape 8"/>
          <p:cNvSpPr/>
          <p:nvPr/>
        </p:nvSpPr>
        <p:spPr>
          <a:xfrm>
            <a:off x="6492240" y="1737360"/>
            <a:ext cx="411480" cy="411480"/>
          </a:xfrm>
          <a:prstGeom prst="ellipse">
            <a:avLst/>
          </a:prstGeom>
          <a:solidFill>
            <a:srgbClr val="1B2A55"/>
          </a:solidFill>
          <a:ln/>
        </p:spPr>
      </p:sp>
      <p:sp>
        <p:nvSpPr>
          <p:cNvPr id="11" name="Text 9"/>
          <p:cNvSpPr txBox="1"/>
          <p:nvPr/>
        </p:nvSpPr>
        <p:spPr>
          <a:xfrm>
            <a:off x="6492240" y="1737360"/>
            <a:ext cx="411480" cy="411480"/>
          </a:xfrm>
          <a:prstGeom prst="rect">
            <a:avLst/>
          </a:prstGeom>
          <a:noFill/>
          <a:ln/>
        </p:spPr>
        <p:txBody>
          <a:bodyPr wrap="square" lIns="0" tIns="0" rIns="0" bIns="0" rtlCol="0" anchor="ctr"/>
          <a:lstStyle/>
          <a:p>
            <a:pPr algn="ctr" indent="0" marL="0">
              <a:buNone/>
            </a:pPr>
            <a:r>
              <a:rPr lang="en-US" sz="1300" b="1" dirty="0">
                <a:solidFill>
                  <a:srgbClr val="C8A02C"/>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7086600" y="1755648"/>
            <a:ext cx="4206240" cy="384048"/>
          </a:xfrm>
          <a:prstGeom prst="rect">
            <a:avLst/>
          </a:prstGeom>
          <a:noFill/>
          <a:ln/>
        </p:spPr>
        <p:txBody>
          <a:bodyPr wrap="square" lIns="0" tIns="0" rIns="0" bIns="0" rtlCol="0" anchor="ctr"/>
          <a:lstStyle/>
          <a:p>
            <a:pPr indent="0" marL="0">
              <a:buNone/>
            </a:pPr>
            <a:r>
              <a:rPr lang="en-US" sz="1450" b="1" i="0" dirty="0">
                <a:solidFill>
                  <a:srgbClr val="1B2A55"/>
                </a:solidFill>
                <a:latin typeface="Calibri"/>
                <a:ea typeface="Calibri"/>
                <a:cs typeface="Calibri"/>
              </a:rPr>
              <a:t>Module 2 - RFM Feature Engineering</a:t>
            </a:r>
          </a:p>
        </p:txBody>
      </p:sp>
      <p:sp>
        <p:nvSpPr>
          <p:cNvPr id="13" name="Text 11"/>
          <p:cNvSpPr txBox="1"/>
          <p:nvPr/>
        </p:nvSpPr>
        <p:spPr>
          <a:xfrm>
            <a:off x="6492240" y="2331720"/>
            <a:ext cx="4800600" cy="914400"/>
          </a:xfrm>
          <a:prstGeom prst="rect">
            <a:avLst/>
          </a:prstGeom>
          <a:noFill/>
          <a:ln/>
        </p:spPr>
        <p:txBody>
          <a:bodyPr wrap="square" lIns="0" tIns="0" rIns="0" bIns="0" rtlCol="0" anchor="ctr"/>
          <a:lstStyle/>
          <a:p>
            <a:pPr indent="0" marL="0">
              <a:buNone/>
              <a:spcAft>
                <a:spcPts val="200"/>
              </a:spcAft>
            </a:pPr>
            <a:r>
              <a:rPr lang="en-US" sz="1100" b="0" i="0" dirty="0">
                <a:solidFill>
                  <a:srgbClr val="1F2430"/>
                </a:solidFill>
                <a:latin typeface="Calibri"/>
                <a:ea typeface="Calibri"/>
                <a:cs typeface="Calibri"/>
              </a:rPr>
              <a:t>• Recency (R): Calculate days elapsed between latest purchase and reference date.</a:t>
            </a:r>
          </a:p>
          <a:p>
            <a:pPr indent="0" marL="0">
              <a:buNone/>
              <a:spcAft>
                <a:spcPts val="200"/>
              </a:spcAft>
            </a:pPr>
            <a:r>
              <a:rPr lang="en-US" sz="1100" b="0" i="0" dirty="0">
                <a:solidFill>
                  <a:srgbClr val="1F2430"/>
                </a:solidFill>
                <a:latin typeface="Calibri"/>
                <a:ea typeface="Calibri"/>
                <a:cs typeface="Calibri"/>
              </a:rPr>
              <a:t>• Frequency (F): Count total unique purchase transactions per customer.</a:t>
            </a:r>
          </a:p>
          <a:p>
            <a:pPr indent="0" marL="0">
              <a:buNone/>
              <a:spcAft>
                <a:spcPts val="200"/>
              </a:spcAft>
            </a:pPr>
            <a:r>
              <a:rPr lang="en-US" sz="1100" b="0" i="0" dirty="0">
                <a:solidFill>
                  <a:srgbClr val="1F2430"/>
                </a:solidFill>
                <a:latin typeface="Calibri"/>
                <a:ea typeface="Calibri"/>
                <a:cs typeface="Calibri"/>
              </a:rPr>
              <a:t>• Monetary (M): Aggregate total amount spent across all customer invoices.</a:t>
            </a:r>
          </a:p>
          <a:p>
            <a:pPr indent="0" marL="0">
              <a:buNone/>
            </a:pPr>
            <a:r>
              <a:rPr lang="en-US" sz="1100" b="0" i="0" dirty="0">
                <a:solidFill>
                  <a:srgbClr val="1F2430"/>
                </a:solidFill>
                <a:latin typeface="Calibri"/>
                <a:ea typeface="Calibri"/>
                <a:cs typeface="Calibri"/>
              </a:rPr>
              <a:t>• Feature Scaling: Apply log-transformation &amp; StandardScaler to normalize distributions.</a:t>
            </a:r>
          </a:p>
        </p:txBody>
      </p:sp>
      <p:sp>
        <p:nvSpPr>
          <p:cNvPr id="14" name="Shape 12"/>
          <p:cNvSpPr/>
          <p:nvPr/>
        </p:nvSpPr>
        <p:spPr>
          <a:xfrm>
            <a:off x="548640" y="3703320"/>
            <a:ext cx="5349240" cy="1965960"/>
          </a:xfrm>
          <a:prstGeom prst="roundRect">
            <a:avLst>
              <a:gd name="adj" fmla="val 3721"/>
            </a:avLst>
          </a:prstGeom>
          <a:solidFill>
            <a:srgbClr val="F1F4F9"/>
          </a:solidFill>
          <a:ln w="12700">
            <a:solidFill>
              <a:srgbClr val="DDE3EC"/>
            </a:solidFill>
            <a:prstDash val="solid"/>
          </a:ln>
        </p:spPr>
      </p:sp>
      <p:sp>
        <p:nvSpPr>
          <p:cNvPr id="15" name="Shape 13"/>
          <p:cNvSpPr/>
          <p:nvPr/>
        </p:nvSpPr>
        <p:spPr>
          <a:xfrm>
            <a:off x="822960" y="3977640"/>
            <a:ext cx="411480" cy="411480"/>
          </a:xfrm>
          <a:prstGeom prst="ellipse">
            <a:avLst/>
          </a:prstGeom>
          <a:solidFill>
            <a:srgbClr val="1B2A55"/>
          </a:solidFill>
          <a:ln/>
        </p:spPr>
      </p:sp>
      <p:sp>
        <p:nvSpPr>
          <p:cNvPr id="16" name="Text 14"/>
          <p:cNvSpPr txBox="1"/>
          <p:nvPr/>
        </p:nvSpPr>
        <p:spPr>
          <a:xfrm>
            <a:off x="822960" y="3977640"/>
            <a:ext cx="411480" cy="411480"/>
          </a:xfrm>
          <a:prstGeom prst="rect">
            <a:avLst/>
          </a:prstGeom>
          <a:noFill/>
          <a:ln/>
        </p:spPr>
        <p:txBody>
          <a:bodyPr wrap="square" lIns="0" tIns="0" rIns="0" bIns="0" rtlCol="0" anchor="ctr"/>
          <a:lstStyle/>
          <a:p>
            <a:pPr algn="ctr" indent="0" marL="0">
              <a:buNone/>
            </a:pPr>
            <a:r>
              <a:rPr lang="en-US" sz="1300" b="1" dirty="0">
                <a:solidFill>
                  <a:srgbClr val="C8A02C"/>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17320" y="3995928"/>
            <a:ext cx="4206240" cy="384048"/>
          </a:xfrm>
          <a:prstGeom prst="rect">
            <a:avLst/>
          </a:prstGeom>
          <a:noFill/>
          <a:ln/>
        </p:spPr>
        <p:txBody>
          <a:bodyPr wrap="square" lIns="0" tIns="0" rIns="0" bIns="0" rtlCol="0" anchor="ctr"/>
          <a:lstStyle/>
          <a:p>
            <a:pPr indent="0" marL="0">
              <a:buNone/>
            </a:pPr>
            <a:r>
              <a:rPr lang="en-US" sz="1450" b="1" i="0" dirty="0">
                <a:solidFill>
                  <a:srgbClr val="1B2A55"/>
                </a:solidFill>
                <a:latin typeface="Calibri"/>
                <a:ea typeface="Calibri"/>
                <a:cs typeface="Calibri"/>
              </a:rPr>
              <a:t>Module 3 - Clustering &amp; Comparative Evaluation</a:t>
            </a:r>
          </a:p>
        </p:txBody>
      </p:sp>
      <p:sp>
        <p:nvSpPr>
          <p:cNvPr id="18" name="Text 16"/>
          <p:cNvSpPr txBox="1"/>
          <p:nvPr/>
        </p:nvSpPr>
        <p:spPr>
          <a:xfrm>
            <a:off x="822960" y="4572000"/>
            <a:ext cx="4800600" cy="914400"/>
          </a:xfrm>
          <a:prstGeom prst="rect">
            <a:avLst/>
          </a:prstGeom>
          <a:noFill/>
          <a:ln/>
        </p:spPr>
        <p:txBody>
          <a:bodyPr wrap="square" lIns="0" tIns="0" rIns="0" bIns="0" rtlCol="0" anchor="ctr"/>
          <a:lstStyle/>
          <a:p>
            <a:pPr indent="0" marL="0">
              <a:buNone/>
              <a:spcAft>
                <a:spcPts val="200"/>
              </a:spcAft>
            </a:pPr>
            <a:r>
              <a:rPr lang="en-US" sz="1100" b="0" i="0" dirty="0">
                <a:solidFill>
                  <a:srgbClr val="1F2430"/>
                </a:solidFill>
                <a:latin typeface="Calibri"/>
                <a:ea typeface="Calibri"/>
                <a:cs typeface="Calibri"/>
              </a:rPr>
              <a:t>• K-Means Clustering: Partition customer vectors into K clusters using Euclidean distance.</a:t>
            </a:r>
          </a:p>
          <a:p>
            <a:pPr indent="0" marL="0">
              <a:buNone/>
              <a:spcAft>
                <a:spcPts val="200"/>
              </a:spcAft>
            </a:pPr>
            <a:r>
              <a:rPr lang="en-US" sz="1100" b="0" i="0" dirty="0">
                <a:solidFill>
                  <a:srgbClr val="1F2430"/>
                </a:solidFill>
                <a:latin typeface="Calibri"/>
                <a:ea typeface="Calibri"/>
                <a:cs typeface="Calibri"/>
              </a:rPr>
              <a:t>• Optimal K Selection: Evaluate within-cluster inertia (Elbow) and Silhouette Scores.</a:t>
            </a:r>
          </a:p>
          <a:p>
            <a:pPr indent="0" marL="0">
              <a:buNone/>
              <a:spcAft>
                <a:spcPts val="200"/>
              </a:spcAft>
            </a:pPr>
            <a:r>
              <a:rPr lang="en-US" sz="1100" b="0" i="0" dirty="0">
                <a:solidFill>
                  <a:srgbClr val="1F2430"/>
                </a:solidFill>
                <a:latin typeface="Calibri"/>
                <a:ea typeface="Calibri"/>
                <a:cs typeface="Calibri"/>
              </a:rPr>
              <a:t>• Hierarchical Clustering: Apply Agglomerative Clustering with Ward's linkage for comparison.</a:t>
            </a:r>
          </a:p>
          <a:p>
            <a:pPr indent="0" marL="0">
              <a:buNone/>
            </a:pPr>
            <a:r>
              <a:rPr lang="en-US" sz="1100" b="0" i="0" dirty="0">
                <a:solidFill>
                  <a:srgbClr val="1F2430"/>
                </a:solidFill>
                <a:latin typeface="Calibri"/>
                <a:ea typeface="Calibri"/>
                <a:cs typeface="Calibri"/>
              </a:rPr>
              <a:t>• Dimensionality Reduction: Apply PCA to project 3D RFM features into 2D space.</a:t>
            </a:r>
          </a:p>
        </p:txBody>
      </p:sp>
      <p:sp>
        <p:nvSpPr>
          <p:cNvPr id="19" name="Shape 17"/>
          <p:cNvSpPr/>
          <p:nvPr/>
        </p:nvSpPr>
        <p:spPr>
          <a:xfrm>
            <a:off x="6217920" y="3703320"/>
            <a:ext cx="5349240" cy="1965960"/>
          </a:xfrm>
          <a:prstGeom prst="roundRect">
            <a:avLst>
              <a:gd name="adj" fmla="val 3721"/>
            </a:avLst>
          </a:prstGeom>
          <a:solidFill>
            <a:srgbClr val="F1F4F9"/>
          </a:solidFill>
          <a:ln w="12700">
            <a:solidFill>
              <a:srgbClr val="DDE3EC"/>
            </a:solidFill>
            <a:prstDash val="solid"/>
          </a:ln>
        </p:spPr>
      </p:sp>
      <p:sp>
        <p:nvSpPr>
          <p:cNvPr id="20" name="Shape 18"/>
          <p:cNvSpPr/>
          <p:nvPr/>
        </p:nvSpPr>
        <p:spPr>
          <a:xfrm>
            <a:off x="6492240" y="3977640"/>
            <a:ext cx="411480" cy="411480"/>
          </a:xfrm>
          <a:prstGeom prst="ellipse">
            <a:avLst/>
          </a:prstGeom>
          <a:solidFill>
            <a:srgbClr val="1B2A55"/>
          </a:solidFill>
          <a:ln/>
        </p:spPr>
      </p:sp>
      <p:sp>
        <p:nvSpPr>
          <p:cNvPr id="21" name="Text 19"/>
          <p:cNvSpPr txBox="1"/>
          <p:nvPr/>
        </p:nvSpPr>
        <p:spPr>
          <a:xfrm>
            <a:off x="6492240" y="3977640"/>
            <a:ext cx="411480" cy="411480"/>
          </a:xfrm>
          <a:prstGeom prst="rect">
            <a:avLst/>
          </a:prstGeom>
          <a:noFill/>
          <a:ln/>
        </p:spPr>
        <p:txBody>
          <a:bodyPr wrap="square" lIns="0" tIns="0" rIns="0" bIns="0" rtlCol="0" anchor="ctr"/>
          <a:lstStyle/>
          <a:p>
            <a:pPr algn="ctr" indent="0" marL="0">
              <a:buNone/>
            </a:pPr>
            <a:r>
              <a:rPr lang="en-US" sz="1300" b="1" dirty="0">
                <a:solidFill>
                  <a:srgbClr val="C8A02C"/>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7086600" y="3995928"/>
            <a:ext cx="4206240" cy="384048"/>
          </a:xfrm>
          <a:prstGeom prst="rect">
            <a:avLst/>
          </a:prstGeom>
          <a:noFill/>
          <a:ln/>
        </p:spPr>
        <p:txBody>
          <a:bodyPr wrap="square" lIns="0" tIns="0" rIns="0" bIns="0" rtlCol="0" anchor="ctr"/>
          <a:lstStyle/>
          <a:p>
            <a:pPr indent="0" marL="0">
              <a:buNone/>
            </a:pPr>
            <a:r>
              <a:rPr lang="en-US" sz="1450" b="1" i="0" dirty="0">
                <a:solidFill>
                  <a:srgbClr val="1B2A55"/>
                </a:solidFill>
                <a:latin typeface="Calibri"/>
                <a:ea typeface="Calibri"/>
                <a:cs typeface="Calibri"/>
              </a:rPr>
              <a:t>Module 4 - Customer Profiling &amp; Business Insights</a:t>
            </a:r>
          </a:p>
        </p:txBody>
      </p:sp>
      <p:sp>
        <p:nvSpPr>
          <p:cNvPr id="23" name="Text 21"/>
          <p:cNvSpPr txBox="1"/>
          <p:nvPr/>
        </p:nvSpPr>
        <p:spPr>
          <a:xfrm>
            <a:off x="6492240" y="4572000"/>
            <a:ext cx="4800600" cy="914400"/>
          </a:xfrm>
          <a:prstGeom prst="rect">
            <a:avLst/>
          </a:prstGeom>
          <a:noFill/>
          <a:ln/>
        </p:spPr>
        <p:txBody>
          <a:bodyPr wrap="square" lIns="0" tIns="0" rIns="0" bIns="0" rtlCol="0" anchor="ctr"/>
          <a:lstStyle/>
          <a:p>
            <a:pPr indent="0" marL="0">
              <a:buNone/>
              <a:spcAft>
                <a:spcPts val="200"/>
              </a:spcAft>
            </a:pPr>
            <a:r>
              <a:rPr lang="en-US" sz="1100" b="0" i="0" dirty="0">
                <a:solidFill>
                  <a:srgbClr val="1F2430"/>
                </a:solidFill>
                <a:latin typeface="Calibri"/>
                <a:ea typeface="Calibri"/>
                <a:cs typeface="Calibri"/>
              </a:rPr>
              <a:t>• Cluster Profiling: Compute mean and median RFM characteristics for each cluster.</a:t>
            </a:r>
          </a:p>
          <a:p>
            <a:pPr indent="0" marL="0">
              <a:buNone/>
              <a:spcAft>
                <a:spcPts val="200"/>
              </a:spcAft>
            </a:pPr>
            <a:r>
              <a:rPr lang="en-US" sz="1100" b="0" i="0" dirty="0">
                <a:solidFill>
                  <a:srgbClr val="1F2430"/>
                </a:solidFill>
                <a:latin typeface="Calibri"/>
                <a:ea typeface="Calibri"/>
                <a:cs typeface="Calibri"/>
              </a:rPr>
              <a:t>• Persona Mapping: Assign empirical descriptions (e.g., Loyal, Frequent, Occasional, At-Risk).</a:t>
            </a:r>
          </a:p>
          <a:p>
            <a:pPr indent="0" marL="0">
              <a:buNone/>
              <a:spcAft>
                <a:spcPts val="200"/>
              </a:spcAft>
            </a:pPr>
            <a:r>
              <a:rPr lang="en-US" sz="1100" b="0" i="0" dirty="0">
                <a:solidFill>
                  <a:srgbClr val="1F2430"/>
                </a:solidFill>
                <a:latin typeface="Calibri"/>
                <a:ea typeface="Calibri"/>
                <a:cs typeface="Calibri"/>
              </a:rPr>
              <a:t>• Retail Strategies: Formulate targeted retention, reward, and reactivation recommendations.</a:t>
            </a:r>
          </a:p>
          <a:p>
            <a:pPr indent="0" marL="0">
              <a:buNone/>
            </a:pPr>
            <a:r>
              <a:rPr lang="en-US" sz="1100" b="0" i="0" dirty="0">
                <a:solidFill>
                  <a:srgbClr val="1F2430"/>
                </a:solidFill>
                <a:latin typeface="Calibri"/>
                <a:ea typeface="Calibri"/>
                <a:cs typeface="Calibri"/>
              </a:rPr>
              <a:t>• Interface (Planned): Interactive Streamlit dashboard for business exploration.</a:t>
            </a:r>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8</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Tools and Technologies</a:t>
            </a:r>
            <a:endParaRPr lang="en-US" sz="3100" dirty="0"/>
          </a:p>
        </p:txBody>
      </p:sp>
      <p:sp>
        <p:nvSpPr>
          <p:cNvPr id="4" name="Shape 2"/>
          <p:cNvSpPr/>
          <p:nvPr/>
        </p:nvSpPr>
        <p:spPr>
          <a:xfrm>
            <a:off x="548640" y="1463040"/>
            <a:ext cx="5349240" cy="4114800"/>
          </a:xfrm>
          <a:prstGeom prst="roundRect">
            <a:avLst>
              <a:gd name="adj" fmla="val 1778"/>
            </a:avLst>
          </a:prstGeom>
          <a:solidFill>
            <a:srgbClr val="F1F4F9"/>
          </a:solidFill>
          <a:ln w="12700">
            <a:solidFill>
              <a:srgbClr val="DDE3EC"/>
            </a:solidFill>
            <a:prstDash val="solid"/>
          </a:ln>
        </p:spPr>
      </p:sp>
      <p:sp>
        <p:nvSpPr>
          <p:cNvPr id="5" name="Text 3"/>
          <p:cNvSpPr txBox="1"/>
          <p:nvPr/>
        </p:nvSpPr>
        <p:spPr>
          <a:xfrm>
            <a:off x="868680" y="1691640"/>
            <a:ext cx="4709160" cy="320040"/>
          </a:xfrm>
          <a:prstGeom prst="rect">
            <a:avLst/>
          </a:prstGeom>
          <a:noFill/>
          <a:ln/>
        </p:spPr>
        <p:txBody>
          <a:bodyPr wrap="square" lIns="0" tIns="0" rIns="0" bIns="0" rtlCol="0" anchor="ctr"/>
          <a:lstStyle/>
          <a:p>
            <a:pPr indent="0" marL="0">
              <a:buNone/>
            </a:pPr>
            <a:r>
              <a:rPr lang="en-US" sz="1200" b="1" spc="180" kern="0" dirty="0">
                <a:solidFill>
                  <a:srgbClr val="C8A02C"/>
                </a:solidFill>
                <a:latin typeface="Calibri" pitchFamily="34" charset="0"/>
                <a:ea typeface="Calibri" pitchFamily="34" charset="-122"/>
                <a:cs typeface="Calibri" pitchFamily="34" charset="-120"/>
              </a:rPr>
              <a:t>SOFTWARE</a:t>
            </a:r>
            <a:endParaRPr lang="en-US" sz="1200" dirty="0"/>
          </a:p>
        </p:txBody>
      </p:sp>
      <p:sp>
        <p:nvSpPr>
          <p:cNvPr id="6" name="Text 4"/>
          <p:cNvSpPr txBox="1"/>
          <p:nvPr/>
        </p:nvSpPr>
        <p:spPr>
          <a:xfrm>
            <a:off x="868680" y="2103120"/>
            <a:ext cx="4709160" cy="3200400"/>
          </a:xfrm>
          <a:prstGeom prst="rect">
            <a:avLst/>
          </a:prstGeom>
          <a:noFill/>
          <a:ln/>
        </p:spPr>
        <p:txBody>
          <a:bodyPr wrap="square" lIns="0" tIns="0" rIns="0" bIns="0" rtlCol="0" anchor="ctr"/>
          <a:lstStyle/>
          <a:p>
            <a:pPr indent="0" marL="0">
              <a:buNone/>
              <a:spcAft>
                <a:spcPts val="400"/>
              </a:spcAft>
            </a:pPr>
            <a:r>
              <a:rPr lang="en-US" sz="1350" b="0" i="0" dirty="0">
                <a:solidFill>
                  <a:srgbClr val="1F2430"/>
                </a:solidFill>
                <a:latin typeface="Calibri"/>
                <a:ea typeface="Calibri"/>
                <a:cs typeface="Calibri"/>
              </a:rPr>
              <a:t>Language: Python 3.10+</a:t>
            </a:r>
          </a:p>
          <a:p>
            <a:pPr indent="0" marL="0">
              <a:buNone/>
              <a:spcAft>
                <a:spcPts val="400"/>
              </a:spcAft>
            </a:pPr>
            <a:r>
              <a:rPr lang="en-US" sz="1350" b="0" i="0" dirty="0">
                <a:solidFill>
                  <a:srgbClr val="1F2430"/>
                </a:solidFill>
                <a:latin typeface="Calibri"/>
                <a:ea typeface="Calibri"/>
                <a:cs typeface="Calibri"/>
              </a:rPr>
              <a:t>Data Processing: Pandas, NumPy</a:t>
            </a:r>
          </a:p>
          <a:p>
            <a:pPr indent="0" marL="0">
              <a:buNone/>
              <a:spcAft>
                <a:spcPts val="400"/>
              </a:spcAft>
            </a:pPr>
            <a:r>
              <a:rPr lang="en-US" sz="1350" b="0" i="0" dirty="0">
                <a:solidFill>
                  <a:srgbClr val="1F2430"/>
                </a:solidFill>
                <a:latin typeface="Calibri"/>
                <a:ea typeface="Calibri"/>
                <a:cs typeface="Calibri"/>
              </a:rPr>
              <a:t>Machine Learning: Scikit-learn (K-Means, Agglomerative, PCA)</a:t>
            </a:r>
          </a:p>
          <a:p>
            <a:pPr indent="0" marL="0">
              <a:buNone/>
              <a:spcAft>
                <a:spcPts val="400"/>
              </a:spcAft>
            </a:pPr>
            <a:r>
              <a:rPr lang="en-US" sz="1350" b="0" i="0" dirty="0">
                <a:solidFill>
                  <a:srgbClr val="1F2430"/>
                </a:solidFill>
                <a:latin typeface="Calibri"/>
                <a:ea typeface="Calibri"/>
                <a:cs typeface="Calibri"/>
              </a:rPr>
              <a:t>Visualization: Matplotlib, Seaborn</a:t>
            </a:r>
          </a:p>
          <a:p>
            <a:pPr indent="0" marL="0">
              <a:buNone/>
              <a:spcAft>
                <a:spcPts val="400"/>
              </a:spcAft>
            </a:pPr>
            <a:r>
              <a:rPr lang="en-US" sz="1350" b="0" i="0" dirty="0">
                <a:solidFill>
                  <a:srgbClr val="1F2430"/>
                </a:solidFill>
                <a:latin typeface="Calibri"/>
                <a:ea typeface="Calibri"/>
                <a:cs typeface="Calibri"/>
              </a:rPr>
              <a:t>User Interface: Streamlit (Planned for prototype deployment)</a:t>
            </a:r>
          </a:p>
          <a:p>
            <a:pPr indent="0" marL="0">
              <a:buNone/>
            </a:pPr>
            <a:r>
              <a:rPr lang="en-US" sz="1350" b="0" i="0" dirty="0">
                <a:solidFill>
                  <a:srgbClr val="1F2430"/>
                </a:solidFill>
                <a:latin typeface="Calibri"/>
                <a:ea typeface="Calibri"/>
                <a:cs typeface="Calibri"/>
              </a:rPr>
              <a:t>IDE / Environment: VS Code / Jupyter Notebook / Google Colab</a:t>
            </a:r>
          </a:p>
        </p:txBody>
      </p:sp>
      <p:sp>
        <p:nvSpPr>
          <p:cNvPr id="7" name="Shape 5"/>
          <p:cNvSpPr/>
          <p:nvPr/>
        </p:nvSpPr>
        <p:spPr>
          <a:xfrm>
            <a:off x="6217920" y="1463040"/>
            <a:ext cx="5349240" cy="4114800"/>
          </a:xfrm>
          <a:prstGeom prst="roundRect">
            <a:avLst>
              <a:gd name="adj" fmla="val 1778"/>
            </a:avLst>
          </a:prstGeom>
          <a:solidFill>
            <a:srgbClr val="F1F4F9"/>
          </a:solidFill>
          <a:ln w="12700">
            <a:solidFill>
              <a:srgbClr val="DDE3EC"/>
            </a:solidFill>
            <a:prstDash val="solid"/>
          </a:ln>
        </p:spPr>
      </p:sp>
      <p:sp>
        <p:nvSpPr>
          <p:cNvPr id="8" name="Text 6"/>
          <p:cNvSpPr txBox="1"/>
          <p:nvPr/>
        </p:nvSpPr>
        <p:spPr>
          <a:xfrm>
            <a:off x="6537960" y="1691640"/>
            <a:ext cx="4709160" cy="320040"/>
          </a:xfrm>
          <a:prstGeom prst="rect">
            <a:avLst/>
          </a:prstGeom>
          <a:noFill/>
          <a:ln/>
        </p:spPr>
        <p:txBody>
          <a:bodyPr wrap="square" lIns="0" tIns="0" rIns="0" bIns="0" rtlCol="0" anchor="ctr"/>
          <a:lstStyle/>
          <a:p>
            <a:pPr indent="0" marL="0">
              <a:buNone/>
            </a:pPr>
            <a:r>
              <a:rPr lang="en-US" sz="1200" b="1" spc="180" kern="0" dirty="0">
                <a:solidFill>
                  <a:srgbClr val="C8A02C"/>
                </a:solidFill>
                <a:latin typeface="Calibri" pitchFamily="34" charset="0"/>
                <a:ea typeface="Calibri" pitchFamily="34" charset="-122"/>
                <a:cs typeface="Calibri" pitchFamily="34" charset="-120"/>
              </a:rPr>
              <a:t>HARDWARE / PLATFORM</a:t>
            </a:r>
            <a:endParaRPr lang="en-US" sz="1200" dirty="0"/>
          </a:p>
        </p:txBody>
      </p:sp>
      <p:sp>
        <p:nvSpPr>
          <p:cNvPr id="9" name="Text 7"/>
          <p:cNvSpPr txBox="1"/>
          <p:nvPr/>
        </p:nvSpPr>
        <p:spPr>
          <a:xfrm>
            <a:off x="6537960" y="2103120"/>
            <a:ext cx="4709160" cy="3200400"/>
          </a:xfrm>
          <a:prstGeom prst="rect">
            <a:avLst/>
          </a:prstGeom>
          <a:noFill/>
          <a:ln/>
        </p:spPr>
        <p:txBody>
          <a:bodyPr wrap="square" lIns="0" tIns="0" rIns="0" bIns="0" rtlCol="0" anchor="ctr"/>
          <a:lstStyle/>
          <a:p>
            <a:pPr indent="0" marL="0">
              <a:buNone/>
              <a:spcAft>
                <a:spcPts val="400"/>
              </a:spcAft>
            </a:pPr>
            <a:r>
              <a:rPr lang="en-US" sz="1350" b="0" i="0" dirty="0">
                <a:solidFill>
                  <a:srgbClr val="1F2430"/>
                </a:solidFill>
                <a:latin typeface="Calibri"/>
                <a:ea typeface="Calibri"/>
                <a:cs typeface="Calibri"/>
              </a:rPr>
              <a:t>Processor: Intel Core i5 / AMD Ryzen 5 or equivalent</a:t>
            </a:r>
          </a:p>
          <a:p>
            <a:pPr indent="0" marL="0">
              <a:buNone/>
              <a:spcAft>
                <a:spcPts val="400"/>
              </a:spcAft>
            </a:pPr>
            <a:r>
              <a:rPr lang="en-US" sz="1350" b="0" i="0" dirty="0">
                <a:solidFill>
                  <a:srgbClr val="1F2430"/>
                </a:solidFill>
                <a:latin typeface="Calibri"/>
                <a:ea typeface="Calibri"/>
                <a:cs typeface="Calibri"/>
              </a:rPr>
              <a:t>RAM: 8 GB minimum (16 GB recommended for pandas efficiency)</a:t>
            </a:r>
          </a:p>
          <a:p>
            <a:pPr indent="0" marL="0">
              <a:buNone/>
              <a:spcAft>
                <a:spcPts val="400"/>
              </a:spcAft>
            </a:pPr>
            <a:r>
              <a:rPr lang="en-US" sz="1350" b="0" i="0" dirty="0">
                <a:solidFill>
                  <a:srgbClr val="1F2430"/>
                </a:solidFill>
                <a:latin typeface="Calibri"/>
                <a:ea typeface="Calibri"/>
                <a:cs typeface="Calibri"/>
              </a:rPr>
              <a:t>Storage: 512 GB SSD</a:t>
            </a:r>
          </a:p>
          <a:p>
            <a:pPr indent="0" marL="0">
              <a:buNone/>
              <a:spcAft>
                <a:spcPts val="400"/>
              </a:spcAft>
            </a:pPr>
            <a:r>
              <a:rPr lang="en-US" sz="1350" b="0" i="0" dirty="0">
                <a:solidFill>
                  <a:srgbClr val="1F2430"/>
                </a:solidFill>
                <a:latin typeface="Calibri"/>
                <a:ea typeface="Calibri"/>
                <a:cs typeface="Calibri"/>
              </a:rPr>
              <a:t>Compute / GPU: Standard CPU compute (GPU not required)</a:t>
            </a:r>
          </a:p>
          <a:p>
            <a:pPr indent="0" marL="0">
              <a:buNone/>
              <a:spcAft>
                <a:spcPts val="400"/>
              </a:spcAft>
            </a:pPr>
            <a:r>
              <a:rPr lang="en-US" sz="1350" b="0" i="0" dirty="0">
                <a:solidFill>
                  <a:srgbClr val="1F2430"/>
                </a:solidFill>
                <a:latin typeface="Calibri"/>
                <a:ea typeface="Calibri"/>
                <a:cs typeface="Calibri"/>
              </a:rPr>
              <a:t>Operating System: Windows 11 / Linux</a:t>
            </a:r>
          </a:p>
          <a:p>
            <a:pPr indent="0" marL="0">
              <a:buNone/>
            </a:pPr>
            <a:r>
              <a:rPr lang="en-US" sz="1350" b="0" i="0" dirty="0">
                <a:solidFill>
                  <a:srgbClr val="1F2430"/>
                </a:solidFill>
                <a:latin typeface="Calibri"/>
                <a:ea typeface="Calibri"/>
                <a:cs typeface="Calibri"/>
              </a:rPr>
              <a:t>Version Control: Git &amp; GitHub repository</a:t>
            </a:r>
          </a:p>
        </p:txBody>
      </p:sp>
      <p:sp>
        <p:nvSpPr>
          <p:cNvPr id="10" name="Text 8"/>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1" name="Text 9"/>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9</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Work Completed / Demo</a:t>
            </a:r>
            <a:endParaRPr lang="en-US" sz="3100" dirty="0"/>
          </a:p>
        </p:txBody>
      </p:sp>
      <p:sp>
        <p:nvSpPr>
          <p:cNvPr id="4" name="Shape 2"/>
          <p:cNvSpPr/>
          <p:nvPr/>
        </p:nvSpPr>
        <p:spPr>
          <a:xfrm>
            <a:off x="548640" y="1463040"/>
            <a:ext cx="5852160" cy="566928"/>
          </a:xfrm>
          <a:prstGeom prst="roundRect">
            <a:avLst>
              <a:gd name="adj" fmla="val 12903"/>
            </a:avLst>
          </a:prstGeom>
          <a:solidFill>
            <a:srgbClr val="F1F4F9"/>
          </a:solidFill>
          <a:ln w="12700">
            <a:solidFill>
              <a:srgbClr val="DDE3EC"/>
            </a:solidFill>
            <a:prstDash val="solid"/>
          </a:ln>
        </p:spPr>
      </p:sp>
      <p:sp>
        <p:nvSpPr>
          <p:cNvPr id="5" name="Shape 3"/>
          <p:cNvSpPr/>
          <p:nvPr/>
        </p:nvSpPr>
        <p:spPr>
          <a:xfrm>
            <a:off x="777240" y="1655064"/>
            <a:ext cx="182880" cy="182880"/>
          </a:xfrm>
          <a:prstGeom prst="ellipse">
            <a:avLst/>
          </a:prstGeom>
          <a:solidFill>
            <a:srgbClr val="1E7A46"/>
          </a:solidFill>
          <a:ln/>
        </p:spPr>
      </p:sp>
      <p:sp>
        <p:nvSpPr>
          <p:cNvPr id="6" name="Text 4"/>
          <p:cNvSpPr txBox="1"/>
          <p:nvPr/>
        </p:nvSpPr>
        <p:spPr>
          <a:xfrm>
            <a:off x="1097280" y="1463040"/>
            <a:ext cx="3291840" cy="566928"/>
          </a:xfrm>
          <a:prstGeom prst="rect">
            <a:avLst/>
          </a:prstGeom>
          <a:noFill/>
          <a:ln/>
        </p:spPr>
        <p:txBody>
          <a:bodyPr wrap="square" lIns="0" tIns="0" rIns="0" bIns="0" rtlCol="0" anchor="ctr"/>
          <a:lstStyle/>
          <a:p>
            <a:pPr indent="0" marL="0">
              <a:buNone/>
            </a:pPr>
            <a:r>
              <a:rPr lang="en-US" sz="1300" b="0" i="0" dirty="0">
                <a:solidFill>
                  <a:srgbClr val="1F2430"/>
                </a:solidFill>
                <a:latin typeface="Calibri"/>
                <a:ea typeface="Calibri"/>
                <a:cs typeface="Calibri"/>
              </a:rPr>
              <a:t>Literature survey &amp; domain study</a:t>
            </a:r>
          </a:p>
        </p:txBody>
      </p:sp>
      <p:sp>
        <p:nvSpPr>
          <p:cNvPr id="7" name="Text 5"/>
          <p:cNvSpPr txBox="1"/>
          <p:nvPr/>
        </p:nvSpPr>
        <p:spPr>
          <a:xfrm>
            <a:off x="4480560" y="1463040"/>
            <a:ext cx="1691640" cy="566928"/>
          </a:xfrm>
          <a:prstGeom prst="rect">
            <a:avLst/>
          </a:prstGeom>
          <a:noFill/>
          <a:ln/>
        </p:spPr>
        <p:txBody>
          <a:bodyPr wrap="square" lIns="0" tIns="0" rIns="0" bIns="0" rtlCol="0" anchor="ctr"/>
          <a:lstStyle/>
          <a:p>
            <a:pPr algn="r" indent="0" marL="0">
              <a:buNone/>
            </a:pPr>
            <a:r>
              <a:rPr lang="en-US" sz="1200" b="1" dirty="0">
                <a:solidFill>
                  <a:srgbClr val="1E7A46"/>
                </a:solidFill>
                <a:latin typeface="Calibri" pitchFamily="34" charset="0"/>
                <a:ea typeface="Calibri" pitchFamily="34" charset="-122"/>
                <a:cs typeface="Calibri" pitchFamily="34" charset="-120"/>
              </a:rPr>
              <a:t>Completed</a:t>
            </a:r>
            <a:endParaRPr lang="en-US" sz="1200" dirty="0"/>
          </a:p>
        </p:txBody>
      </p:sp>
      <p:sp>
        <p:nvSpPr>
          <p:cNvPr id="8" name="Shape 6"/>
          <p:cNvSpPr/>
          <p:nvPr/>
        </p:nvSpPr>
        <p:spPr>
          <a:xfrm>
            <a:off x="548640" y="2176272"/>
            <a:ext cx="5852160" cy="566928"/>
          </a:xfrm>
          <a:prstGeom prst="roundRect">
            <a:avLst>
              <a:gd name="adj" fmla="val 12903"/>
            </a:avLst>
          </a:prstGeom>
          <a:solidFill>
            <a:srgbClr val="F1F4F9"/>
          </a:solidFill>
          <a:ln w="12700">
            <a:solidFill>
              <a:srgbClr val="DDE3EC"/>
            </a:solidFill>
            <a:prstDash val="solid"/>
          </a:ln>
        </p:spPr>
      </p:sp>
      <p:sp>
        <p:nvSpPr>
          <p:cNvPr id="9" name="Shape 7"/>
          <p:cNvSpPr/>
          <p:nvPr/>
        </p:nvSpPr>
        <p:spPr>
          <a:xfrm>
            <a:off x="777240" y="2368296"/>
            <a:ext cx="182880" cy="182880"/>
          </a:xfrm>
          <a:prstGeom prst="ellipse">
            <a:avLst/>
          </a:prstGeom>
          <a:solidFill>
            <a:srgbClr val="1E7A46"/>
          </a:solidFill>
          <a:ln/>
        </p:spPr>
      </p:sp>
      <p:sp>
        <p:nvSpPr>
          <p:cNvPr id="10" name="Text 8"/>
          <p:cNvSpPr txBox="1"/>
          <p:nvPr/>
        </p:nvSpPr>
        <p:spPr>
          <a:xfrm>
            <a:off x="1097280" y="2176272"/>
            <a:ext cx="3291840" cy="566928"/>
          </a:xfrm>
          <a:prstGeom prst="rect">
            <a:avLst/>
          </a:prstGeom>
          <a:noFill/>
          <a:ln/>
        </p:spPr>
        <p:txBody>
          <a:bodyPr wrap="square" lIns="0" tIns="0" rIns="0" bIns="0" rtlCol="0" anchor="ctr"/>
          <a:lstStyle/>
          <a:p>
            <a:pPr indent="0" marL="0">
              <a:buNone/>
            </a:pPr>
            <a:r>
              <a:rPr lang="en-US" sz="1300" b="0" i="0" dirty="0">
                <a:solidFill>
                  <a:srgbClr val="1F2430"/>
                </a:solidFill>
                <a:latin typeface="Calibri"/>
                <a:ea typeface="Calibri"/>
                <a:cs typeface="Calibri"/>
              </a:rPr>
              <a:t>Dataset identification (UCI Retail)</a:t>
            </a:r>
          </a:p>
        </p:txBody>
      </p:sp>
      <p:sp>
        <p:nvSpPr>
          <p:cNvPr id="11" name="Text 9"/>
          <p:cNvSpPr txBox="1"/>
          <p:nvPr/>
        </p:nvSpPr>
        <p:spPr>
          <a:xfrm>
            <a:off x="4480560" y="2176272"/>
            <a:ext cx="1691640" cy="566928"/>
          </a:xfrm>
          <a:prstGeom prst="rect">
            <a:avLst/>
          </a:prstGeom>
          <a:noFill/>
          <a:ln/>
        </p:spPr>
        <p:txBody>
          <a:bodyPr wrap="square" lIns="0" tIns="0" rIns="0" bIns="0" rtlCol="0" anchor="ctr"/>
          <a:lstStyle/>
          <a:p>
            <a:pPr algn="r" indent="0" marL="0">
              <a:buNone/>
            </a:pPr>
            <a:r>
              <a:rPr lang="en-US" sz="1200" b="1" dirty="0">
                <a:solidFill>
                  <a:srgbClr val="1E7A46"/>
                </a:solidFill>
                <a:latin typeface="Calibri" pitchFamily="34" charset="0"/>
                <a:ea typeface="Calibri" pitchFamily="34" charset="-122"/>
                <a:cs typeface="Calibri" pitchFamily="34" charset="-120"/>
              </a:rPr>
              <a:t>Completed</a:t>
            </a:r>
            <a:endParaRPr lang="en-US" sz="1200" dirty="0"/>
          </a:p>
        </p:txBody>
      </p:sp>
      <p:sp>
        <p:nvSpPr>
          <p:cNvPr id="12" name="Shape 10"/>
          <p:cNvSpPr/>
          <p:nvPr/>
        </p:nvSpPr>
        <p:spPr>
          <a:xfrm>
            <a:off x="548640" y="2889504"/>
            <a:ext cx="5852160" cy="566928"/>
          </a:xfrm>
          <a:prstGeom prst="roundRect">
            <a:avLst>
              <a:gd name="adj" fmla="val 12903"/>
            </a:avLst>
          </a:prstGeom>
          <a:solidFill>
            <a:srgbClr val="F1F4F9"/>
          </a:solidFill>
          <a:ln w="12700">
            <a:solidFill>
              <a:srgbClr val="DDE3EC"/>
            </a:solidFill>
            <a:prstDash val="solid"/>
          </a:ln>
        </p:spPr>
      </p:sp>
      <p:sp>
        <p:nvSpPr>
          <p:cNvPr id="13" name="Shape 11"/>
          <p:cNvSpPr/>
          <p:nvPr/>
        </p:nvSpPr>
        <p:spPr>
          <a:xfrm>
            <a:off x="777240" y="3081528"/>
            <a:ext cx="182880" cy="182880"/>
          </a:xfrm>
          <a:prstGeom prst="ellipse">
            <a:avLst/>
          </a:prstGeom>
          <a:solidFill>
            <a:srgbClr val="C8A02C"/>
          </a:solidFill>
          <a:ln/>
        </p:spPr>
      </p:sp>
      <p:sp>
        <p:nvSpPr>
          <p:cNvPr id="14" name="Text 12"/>
          <p:cNvSpPr txBox="1"/>
          <p:nvPr/>
        </p:nvSpPr>
        <p:spPr>
          <a:xfrm>
            <a:off x="1097280" y="2889504"/>
            <a:ext cx="3291840" cy="566928"/>
          </a:xfrm>
          <a:prstGeom prst="rect">
            <a:avLst/>
          </a:prstGeom>
          <a:noFill/>
          <a:ln/>
        </p:spPr>
        <p:txBody>
          <a:bodyPr wrap="square" lIns="0" tIns="0" rIns="0" bIns="0" rtlCol="0" anchor="ctr"/>
          <a:lstStyle/>
          <a:p>
            <a:pPr indent="0" marL="0">
              <a:buNone/>
            </a:pPr>
            <a:r>
              <a:rPr lang="en-US" sz="1300" b="0" i="0" dirty="0">
                <a:solidFill>
                  <a:srgbClr val="1F2430"/>
                </a:solidFill>
                <a:latin typeface="Calibri"/>
                <a:ea typeface="Calibri"/>
                <a:cs typeface="Calibri"/>
              </a:rPr>
              <a:t>Data preprocessing pipeline</a:t>
            </a:r>
          </a:p>
        </p:txBody>
      </p:sp>
      <p:sp>
        <p:nvSpPr>
          <p:cNvPr id="15" name="Text 13"/>
          <p:cNvSpPr txBox="1"/>
          <p:nvPr/>
        </p:nvSpPr>
        <p:spPr>
          <a:xfrm>
            <a:off x="4480560" y="2889504"/>
            <a:ext cx="1691640" cy="566928"/>
          </a:xfrm>
          <a:prstGeom prst="rect">
            <a:avLst/>
          </a:prstGeom>
          <a:noFill/>
          <a:ln/>
        </p:spPr>
        <p:txBody>
          <a:bodyPr wrap="square" lIns="0" tIns="0" rIns="0" bIns="0" rtlCol="0" anchor="ctr"/>
          <a:lstStyle/>
          <a:p>
            <a:pPr algn="r" indent="0" marL="0">
              <a:buNone/>
            </a:pPr>
            <a:r>
              <a:rPr lang="en-US" sz="1200" b="1" dirty="0">
                <a:solidFill>
                  <a:srgbClr val="C8A02C"/>
                </a:solidFill>
                <a:latin typeface="Calibri" pitchFamily="34" charset="0"/>
                <a:ea typeface="Calibri" pitchFamily="34" charset="-122"/>
                <a:cs typeface="Calibri" pitchFamily="34" charset="-120"/>
              </a:rPr>
              <a:t>In progress</a:t>
            </a:r>
            <a:endParaRPr lang="en-US" sz="1200" dirty="0"/>
          </a:p>
        </p:txBody>
      </p:sp>
      <p:sp>
        <p:nvSpPr>
          <p:cNvPr id="16" name="Shape 14"/>
          <p:cNvSpPr/>
          <p:nvPr/>
        </p:nvSpPr>
        <p:spPr>
          <a:xfrm>
            <a:off x="548640" y="3602736"/>
            <a:ext cx="5852160" cy="566928"/>
          </a:xfrm>
          <a:prstGeom prst="roundRect">
            <a:avLst>
              <a:gd name="adj" fmla="val 12903"/>
            </a:avLst>
          </a:prstGeom>
          <a:solidFill>
            <a:srgbClr val="F1F4F9"/>
          </a:solidFill>
          <a:ln w="12700">
            <a:solidFill>
              <a:srgbClr val="DDE3EC"/>
            </a:solidFill>
            <a:prstDash val="solid"/>
          </a:ln>
        </p:spPr>
      </p:sp>
      <p:sp>
        <p:nvSpPr>
          <p:cNvPr id="17" name="Shape 15"/>
          <p:cNvSpPr/>
          <p:nvPr/>
        </p:nvSpPr>
        <p:spPr>
          <a:xfrm>
            <a:off x="777240" y="3794760"/>
            <a:ext cx="182880" cy="182880"/>
          </a:xfrm>
          <a:prstGeom prst="ellipse">
            <a:avLst/>
          </a:prstGeom>
          <a:solidFill>
            <a:srgbClr val="C8A02C"/>
          </a:solidFill>
          <a:ln/>
        </p:spPr>
      </p:sp>
      <p:sp>
        <p:nvSpPr>
          <p:cNvPr id="18" name="Text 16"/>
          <p:cNvSpPr txBox="1"/>
          <p:nvPr/>
        </p:nvSpPr>
        <p:spPr>
          <a:xfrm>
            <a:off x="1097280" y="3602736"/>
            <a:ext cx="3291840" cy="566928"/>
          </a:xfrm>
          <a:prstGeom prst="rect">
            <a:avLst/>
          </a:prstGeom>
          <a:noFill/>
          <a:ln/>
        </p:spPr>
        <p:txBody>
          <a:bodyPr wrap="square" lIns="0" tIns="0" rIns="0" bIns="0" rtlCol="0" anchor="ctr"/>
          <a:lstStyle/>
          <a:p>
            <a:pPr indent="0" marL="0">
              <a:buNone/>
            </a:pPr>
            <a:r>
              <a:rPr lang="en-US" sz="1300" b="0" i="0" dirty="0">
                <a:solidFill>
                  <a:srgbClr val="1F2430"/>
                </a:solidFill>
                <a:latin typeface="Calibri"/>
                <a:ea typeface="Calibri"/>
                <a:cs typeface="Calibri"/>
              </a:rPr>
              <a:t>RFM feature engineering logic</a:t>
            </a:r>
          </a:p>
        </p:txBody>
      </p:sp>
      <p:sp>
        <p:nvSpPr>
          <p:cNvPr id="19" name="Text 17"/>
          <p:cNvSpPr txBox="1"/>
          <p:nvPr/>
        </p:nvSpPr>
        <p:spPr>
          <a:xfrm>
            <a:off x="4480560" y="3602736"/>
            <a:ext cx="1691640" cy="566928"/>
          </a:xfrm>
          <a:prstGeom prst="rect">
            <a:avLst/>
          </a:prstGeom>
          <a:noFill/>
          <a:ln/>
        </p:spPr>
        <p:txBody>
          <a:bodyPr wrap="square" lIns="0" tIns="0" rIns="0" bIns="0" rtlCol="0" anchor="ctr"/>
          <a:lstStyle/>
          <a:p>
            <a:pPr algn="r" indent="0" marL="0">
              <a:buNone/>
            </a:pPr>
            <a:r>
              <a:rPr lang="en-US" sz="1200" b="1" dirty="0">
                <a:solidFill>
                  <a:srgbClr val="C8A02C"/>
                </a:solidFill>
                <a:latin typeface="Calibri" pitchFamily="34" charset="0"/>
                <a:ea typeface="Calibri" pitchFamily="34" charset="-122"/>
                <a:cs typeface="Calibri" pitchFamily="34" charset="-120"/>
              </a:rPr>
              <a:t>In progress</a:t>
            </a:r>
            <a:endParaRPr lang="en-US" sz="1200" dirty="0"/>
          </a:p>
        </p:txBody>
      </p:sp>
      <p:sp>
        <p:nvSpPr>
          <p:cNvPr id="20" name="Shape 18"/>
          <p:cNvSpPr/>
          <p:nvPr/>
        </p:nvSpPr>
        <p:spPr>
          <a:xfrm>
            <a:off x="548640" y="4315968"/>
            <a:ext cx="5852160" cy="566928"/>
          </a:xfrm>
          <a:prstGeom prst="roundRect">
            <a:avLst>
              <a:gd name="adj" fmla="val 12903"/>
            </a:avLst>
          </a:prstGeom>
          <a:solidFill>
            <a:srgbClr val="F1F4F9"/>
          </a:solidFill>
          <a:ln w="12700">
            <a:solidFill>
              <a:srgbClr val="DDE3EC"/>
            </a:solidFill>
            <a:prstDash val="solid"/>
          </a:ln>
        </p:spPr>
      </p:sp>
      <p:sp>
        <p:nvSpPr>
          <p:cNvPr id="21" name="Shape 19"/>
          <p:cNvSpPr/>
          <p:nvPr/>
        </p:nvSpPr>
        <p:spPr>
          <a:xfrm>
            <a:off x="777240" y="4507992"/>
            <a:ext cx="182880" cy="182880"/>
          </a:xfrm>
          <a:prstGeom prst="ellipse">
            <a:avLst/>
          </a:prstGeom>
          <a:solidFill>
            <a:srgbClr val="C8A02C"/>
          </a:solidFill>
          <a:ln/>
        </p:spPr>
      </p:sp>
      <p:sp>
        <p:nvSpPr>
          <p:cNvPr id="22" name="Text 20"/>
          <p:cNvSpPr txBox="1"/>
          <p:nvPr/>
        </p:nvSpPr>
        <p:spPr>
          <a:xfrm>
            <a:off x="1097280" y="4315968"/>
            <a:ext cx="3291840" cy="566928"/>
          </a:xfrm>
          <a:prstGeom prst="rect">
            <a:avLst/>
          </a:prstGeom>
          <a:noFill/>
          <a:ln/>
        </p:spPr>
        <p:txBody>
          <a:bodyPr wrap="square" lIns="0" tIns="0" rIns="0" bIns="0" rtlCol="0" anchor="ctr"/>
          <a:lstStyle/>
          <a:p>
            <a:pPr indent="0" marL="0">
              <a:buNone/>
            </a:pPr>
            <a:r>
              <a:rPr lang="en-US" sz="1300" b="0" i="0" dirty="0">
                <a:solidFill>
                  <a:srgbClr val="1F2430"/>
                </a:solidFill>
                <a:latin typeface="Calibri"/>
                <a:ea typeface="Calibri"/>
                <a:cs typeface="Calibri"/>
              </a:rPr>
              <a:t>Clustering models (K-Means/Hierarchical)</a:t>
            </a:r>
          </a:p>
        </p:txBody>
      </p:sp>
      <p:sp>
        <p:nvSpPr>
          <p:cNvPr id="23" name="Text 21"/>
          <p:cNvSpPr txBox="1"/>
          <p:nvPr/>
        </p:nvSpPr>
        <p:spPr>
          <a:xfrm>
            <a:off x="4480560" y="4315968"/>
            <a:ext cx="1691640" cy="566928"/>
          </a:xfrm>
          <a:prstGeom prst="rect">
            <a:avLst/>
          </a:prstGeom>
          <a:noFill/>
          <a:ln/>
        </p:spPr>
        <p:txBody>
          <a:bodyPr wrap="square" lIns="0" tIns="0" rIns="0" bIns="0" rtlCol="0" anchor="ctr"/>
          <a:lstStyle/>
          <a:p>
            <a:pPr indent="0" marL="0">
              <a:buNone/>
            </a:pPr>
            <a:r>
              <a:rPr lang="en-US" sz="1200" b="1" i="0" dirty="0">
                <a:solidFill>
                  <a:srgbClr val="C8A02C"/>
                </a:solidFill>
                <a:latin typeface="Calibri"/>
                <a:ea typeface="Calibri"/>
                <a:cs typeface="Calibri"/>
              </a:rPr>
              <a:t>To be evaluated</a:t>
            </a:r>
          </a:p>
        </p:txBody>
      </p:sp>
      <p:sp>
        <p:nvSpPr>
          <p:cNvPr id="24" name="Shape 22"/>
          <p:cNvSpPr/>
          <p:nvPr/>
        </p:nvSpPr>
        <p:spPr>
          <a:xfrm>
            <a:off x="548640" y="5029200"/>
            <a:ext cx="5852160" cy="566928"/>
          </a:xfrm>
          <a:prstGeom prst="roundRect">
            <a:avLst>
              <a:gd name="adj" fmla="val 12903"/>
            </a:avLst>
          </a:prstGeom>
          <a:solidFill>
            <a:srgbClr val="F1F4F9"/>
          </a:solidFill>
          <a:ln w="12700">
            <a:solidFill>
              <a:srgbClr val="DDE3EC"/>
            </a:solidFill>
            <a:prstDash val="solid"/>
          </a:ln>
        </p:spPr>
      </p:sp>
      <p:sp>
        <p:nvSpPr>
          <p:cNvPr id="25" name="Shape 23"/>
          <p:cNvSpPr/>
          <p:nvPr/>
        </p:nvSpPr>
        <p:spPr>
          <a:xfrm>
            <a:off x="777240" y="5221224"/>
            <a:ext cx="182880" cy="182880"/>
          </a:xfrm>
          <a:prstGeom prst="ellipse">
            <a:avLst/>
          </a:prstGeom>
          <a:solidFill>
            <a:srgbClr val="6B7280"/>
          </a:solidFill>
          <a:ln/>
        </p:spPr>
      </p:sp>
      <p:sp>
        <p:nvSpPr>
          <p:cNvPr id="26" name="Text 24"/>
          <p:cNvSpPr txBox="1"/>
          <p:nvPr/>
        </p:nvSpPr>
        <p:spPr>
          <a:xfrm>
            <a:off x="1097280" y="5029200"/>
            <a:ext cx="3291840" cy="566928"/>
          </a:xfrm>
          <a:prstGeom prst="rect">
            <a:avLst/>
          </a:prstGeom>
          <a:noFill/>
          <a:ln/>
        </p:spPr>
        <p:txBody>
          <a:bodyPr wrap="square" lIns="0" tIns="0" rIns="0" bIns="0" rtlCol="0" anchor="ctr"/>
          <a:lstStyle/>
          <a:p>
            <a:pPr indent="0" marL="0">
              <a:buNone/>
            </a:pPr>
            <a:r>
              <a:rPr lang="en-US" sz="1300" b="0" i="0" dirty="0">
                <a:solidFill>
                  <a:srgbClr val="1F2430"/>
                </a:solidFill>
                <a:latin typeface="Calibri"/>
                <a:ea typeface="Calibri"/>
                <a:cs typeface="Calibri"/>
              </a:rPr>
              <a:t>PCA visualization &amp; UI dashboard</a:t>
            </a:r>
          </a:p>
        </p:txBody>
      </p:sp>
      <p:sp>
        <p:nvSpPr>
          <p:cNvPr id="27" name="Text 25"/>
          <p:cNvSpPr txBox="1"/>
          <p:nvPr/>
        </p:nvSpPr>
        <p:spPr>
          <a:xfrm>
            <a:off x="4480560" y="5029200"/>
            <a:ext cx="1691640" cy="566928"/>
          </a:xfrm>
          <a:prstGeom prst="rect">
            <a:avLst/>
          </a:prstGeom>
          <a:noFill/>
          <a:ln/>
        </p:spPr>
        <p:txBody>
          <a:bodyPr wrap="square" lIns="0" tIns="0" rIns="0" bIns="0" rtlCol="0" anchor="ctr"/>
          <a:lstStyle/>
          <a:p>
            <a:pPr indent="0" marL="0">
              <a:buNone/>
            </a:pPr>
            <a:r>
              <a:rPr lang="en-US" sz="1200" b="1" i="0" dirty="0">
                <a:solidFill>
                  <a:srgbClr val="6B7280"/>
                </a:solidFill>
                <a:latin typeface="Calibri"/>
                <a:ea typeface="Calibri"/>
                <a:cs typeface="Calibri"/>
              </a:rPr>
              <a:t>Planned</a:t>
            </a:r>
          </a:p>
        </p:txBody>
      </p:sp>
      <p:sp>
        <p:nvSpPr>
          <p:cNvPr id="28" name="Shape 26"/>
          <p:cNvSpPr/>
          <p:nvPr/>
        </p:nvSpPr>
        <p:spPr>
          <a:xfrm>
            <a:off x="6675120" y="1463040"/>
            <a:ext cx="4937760" cy="3246120"/>
          </a:xfrm>
          <a:prstGeom prst="roundRect">
            <a:avLst>
              <a:gd name="adj" fmla="val 2254"/>
            </a:avLst>
          </a:prstGeom>
          <a:solidFill>
            <a:srgbClr val="FFFFFF"/>
          </a:solidFill>
          <a:ln w="12700">
            <a:solidFill>
              <a:srgbClr val="9AA5B8"/>
            </a:solidFill>
            <a:prstDash val="dash"/>
          </a:ln>
        </p:spPr>
      </p:sp>
      <p:sp>
        <p:nvSpPr>
          <p:cNvPr id="29" name="Text 27"/>
          <p:cNvSpPr txBox="1"/>
          <p:nvPr/>
        </p:nvSpPr>
        <p:spPr>
          <a:xfrm>
            <a:off x="6812280" y="1463040"/>
            <a:ext cx="4663440" cy="3246120"/>
          </a:xfrm>
          <a:prstGeom prst="rect">
            <a:avLst/>
          </a:prstGeom>
          <a:noFill/>
          <a:ln/>
        </p:spPr>
        <p:txBody>
          <a:bodyPr wrap="square" lIns="0" tIns="0" rIns="0" bIns="0" rtlCol="0" anchor="ctr"/>
          <a:lstStyle/>
          <a:p>
            <a:pPr indent="0" marL="0">
              <a:buNone/>
              <a:spcAft>
                <a:spcPts val="400"/>
              </a:spcAft>
            </a:pPr>
            <a:r>
              <a:rPr lang="en-US" sz="1150" b="1" i="0" dirty="0">
                <a:solidFill>
                  <a:srgbClr val="1B2A55"/>
                </a:solidFill>
                <a:latin typeface="Calibri"/>
                <a:ea typeface="Calibri"/>
                <a:cs typeface="Calibri"/>
              </a:rPr>
              <a:t>CURRENT IMPLEMENTATION FOCUS: DATA PIPELINE &amp; RFM SCHEMA</a:t>
            </a:r>
          </a:p>
          <a:p>
            <a:pPr indent="0" marL="0">
              <a:buNone/>
            </a:pPr>
            <a:r>
              <a:rPr lang="en-US" sz="1050" b="1" i="0" dirty="0">
                <a:solidFill>
                  <a:srgbClr val="1F2430"/>
                </a:solidFill>
                <a:latin typeface="Calibri"/>
                <a:ea typeface="Calibri"/>
                <a:cs typeface="Calibri"/>
              </a:rPr>
              <a:t>Planned Input Schema (UCI Online Retail Dataset):</a:t>
            </a:r>
          </a:p>
          <a:p>
            <a:pPr indent="0" marL="0">
              <a:buNone/>
              <a:spcAft>
                <a:spcPts val="400"/>
              </a:spcAft>
            </a:pPr>
            <a:r>
              <a:rPr lang="en-US" sz="950" b="0" i="0" dirty="0">
                <a:solidFill>
                  <a:srgbClr val="1F2430"/>
                </a:solidFill>
                <a:latin typeface="Calibri"/>
                <a:ea typeface="Calibri"/>
                <a:cs typeface="Calibri"/>
              </a:rPr>
              <a:t>• Attributes: InvoiceNo, StockCode, Description, Quantity, InvoiceDate, UnitPrice, CustomerID, Country</a:t>
            </a:r>
            <a:br>
              <a:rPr lang="en-US" sz="950" b="0" i="0" dirty="0">
                <a:solidFill>
                  <a:srgbClr val="1F2430"/>
                </a:solidFill>
                <a:latin typeface="Calibri"/>
              </a:rPr>
            </a:br>
            <a:r>
              <a:rPr lang="en-US" sz="950" b="0" i="0" dirty="0">
                <a:solidFill>
                  <a:srgbClr val="1F2430"/>
                </a:solidFill>
                <a:latin typeface="Calibri"/>
                <a:ea typeface="Calibri"/>
                <a:cs typeface="Calibri"/>
              </a:rPr>
              <a:t>• Format: Transaction-level tabular records (~541k instances in raw corpus)</a:t>
            </a:r>
          </a:p>
          <a:p>
            <a:pPr indent="0" marL="0">
              <a:buNone/>
            </a:pPr>
            <a:r>
              <a:rPr lang="en-US" sz="1050" b="1" i="0" dirty="0">
                <a:solidFill>
                  <a:srgbClr val="1F2430"/>
                </a:solidFill>
                <a:latin typeface="Calibri"/>
                <a:ea typeface="Calibri"/>
                <a:cs typeface="Calibri"/>
              </a:rPr>
              <a:t>Mathematical RFM Extraction Formulae:</a:t>
            </a:r>
          </a:p>
          <a:p>
            <a:pPr indent="0" marL="0">
              <a:buNone/>
              <a:spcAft>
                <a:spcPts val="400"/>
              </a:spcAft>
            </a:pPr>
            <a:r>
              <a:rPr lang="en-US" sz="950" b="0" i="0" dirty="0">
                <a:solidFill>
                  <a:srgbClr val="1B2A55"/>
                </a:solidFill>
                <a:latin typeface="Calibri"/>
                <a:ea typeface="Calibri"/>
                <a:cs typeface="Calibri"/>
              </a:rPr>
              <a:t>• Recency (R) = max(InvoiceDate) - max(InvoiceDate_i)  [days elapsed]</a:t>
            </a:r>
            <a:br>
              <a:rPr lang="en-US" sz="950" b="0" i="0" dirty="0">
                <a:solidFill>
                  <a:srgbClr val="1B2A55"/>
                </a:solidFill>
                <a:latin typeface="Calibri"/>
              </a:rPr>
            </a:br>
            <a:r>
              <a:rPr lang="en-US" sz="950" b="0" i="0" dirty="0">
                <a:solidFill>
                  <a:srgbClr val="1B2A55"/>
                </a:solidFill>
                <a:latin typeface="Calibri"/>
                <a:ea typeface="Calibri"/>
                <a:cs typeface="Calibri"/>
              </a:rPr>
              <a:t>• Frequency (F) = Count(Unique InvoiceNo per CustomerID)</a:t>
            </a:r>
            <a:br>
              <a:rPr lang="en-US" sz="950" b="0" i="0" dirty="0">
                <a:solidFill>
                  <a:srgbClr val="1B2A55"/>
                </a:solidFill>
                <a:latin typeface="Calibri"/>
              </a:rPr>
            </a:br>
            <a:r>
              <a:rPr lang="en-US" sz="950" b="0" i="0" dirty="0">
                <a:solidFill>
                  <a:srgbClr val="1B2A55"/>
                </a:solidFill>
                <a:latin typeface="Calibri"/>
                <a:ea typeface="Calibri"/>
                <a:cs typeface="Calibri"/>
              </a:rPr>
              <a:t>• Monetary (M) = Sigma (Quantity x UnitPrice) per CustomerID</a:t>
            </a:r>
          </a:p>
          <a:p>
            <a:pPr indent="0" marL="0">
              <a:buNone/>
            </a:pPr>
            <a:r>
              <a:rPr lang="en-US" sz="1050" b="1" i="0" dirty="0">
                <a:solidFill>
                  <a:srgbClr val="1F2430"/>
                </a:solidFill>
                <a:latin typeface="Calibri"/>
                <a:ea typeface="Calibri"/>
                <a:cs typeface="Calibri"/>
              </a:rPr>
              <a:t>Active Data Cleaning Rules:</a:t>
            </a:r>
          </a:p>
          <a:p>
            <a:pPr indent="0" marL="0">
              <a:buNone/>
            </a:pPr>
            <a:r>
              <a:rPr lang="en-US" sz="950" b="0" i="0" dirty="0">
                <a:solidFill>
                  <a:srgbClr val="1F2430"/>
                </a:solidFill>
                <a:latin typeface="Calibri"/>
                <a:ea typeface="Calibri"/>
                <a:cs typeface="Calibri"/>
              </a:rPr>
              <a:t>• Dropping null CustomerID records; removing negative quantities (cancellations/returns).</a:t>
            </a:r>
            <a:br>
              <a:rPr lang="en-US" sz="950" b="0" i="0" dirty="0">
                <a:solidFill>
                  <a:srgbClr val="1F2430"/>
                </a:solidFill>
                <a:latin typeface="Calibri"/>
              </a:rPr>
            </a:br>
            <a:r>
              <a:rPr lang="en-US" sz="950" b="0" i="0" dirty="0">
                <a:solidFill>
                  <a:srgbClr val="1F2430"/>
                </a:solidFill>
                <a:latin typeface="Calibri"/>
                <a:ea typeface="Calibri"/>
                <a:cs typeface="Calibri"/>
              </a:rPr>
              <a:t>• Applying log-transform and StandardScaler to eliminate heavy monetary skewness.</a:t>
            </a:r>
          </a:p>
        </p:txBody>
      </p:sp>
      <p:sp>
        <p:nvSpPr>
          <p:cNvPr id="30" name="Shape 28"/>
          <p:cNvSpPr/>
          <p:nvPr/>
        </p:nvSpPr>
        <p:spPr>
          <a:xfrm>
            <a:off x="6675120" y="4892040"/>
            <a:ext cx="4937760" cy="1005840"/>
          </a:xfrm>
          <a:prstGeom prst="roundRect">
            <a:avLst>
              <a:gd name="adj" fmla="val 7273"/>
            </a:avLst>
          </a:prstGeom>
          <a:solidFill>
            <a:srgbClr val="FDF6E6"/>
          </a:solidFill>
          <a:ln w="12700">
            <a:solidFill>
              <a:srgbClr val="DDE3EC"/>
            </a:solidFill>
            <a:prstDash val="solid"/>
          </a:ln>
        </p:spPr>
      </p:sp>
      <p:sp>
        <p:nvSpPr>
          <p:cNvPr id="31" name="Text 29"/>
          <p:cNvSpPr txBox="1"/>
          <p:nvPr/>
        </p:nvSpPr>
        <p:spPr>
          <a:xfrm>
            <a:off x="6903720" y="5029200"/>
            <a:ext cx="4480560" cy="731520"/>
          </a:xfrm>
          <a:prstGeom prst="rect">
            <a:avLst/>
          </a:prstGeom>
          <a:noFill/>
          <a:ln/>
        </p:spPr>
        <p:txBody>
          <a:bodyPr wrap="square" lIns="0" tIns="0" rIns="0" bIns="0" rtlCol="0" anchor="ctr"/>
          <a:lstStyle/>
          <a:p>
            <a:pPr indent="0" marL="0">
              <a:buNone/>
            </a:pPr>
            <a:r>
              <a:rPr lang="en-US" sz="1150" b="0" i="0" dirty="0">
                <a:solidFill>
                  <a:srgbClr val="1F2430"/>
                </a:solidFill>
                <a:latin typeface="Calibri"/>
                <a:ea typeface="Calibri"/>
                <a:cs typeface="Calibri"/>
              </a:rPr>
              <a:t>Review 1 Status: Data ingestion &amp; RFM engineering logic are formulated. Model clustering and evaluation will execute once normalized vectors are finalized.</a:t>
            </a:r>
          </a:p>
        </p:txBody>
      </p:sp>
      <p:sp>
        <p:nvSpPr>
          <p:cNvPr id="32" name="Text 30"/>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33" name="Text 31"/>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10</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Timeline &amp; Review Plan</a:t>
            </a:r>
            <a:endParaRPr lang="en-US" sz="3100" dirty="0"/>
          </a:p>
        </p:txBody>
      </p:sp>
      <p:sp>
        <p:nvSpPr>
          <p:cNvPr id="4" name="Shape 2"/>
          <p:cNvSpPr/>
          <p:nvPr/>
        </p:nvSpPr>
        <p:spPr>
          <a:xfrm>
            <a:off x="1645920" y="2880360"/>
            <a:ext cx="8915400" cy="0"/>
          </a:xfrm>
          <a:prstGeom prst="line">
            <a:avLst/>
          </a:prstGeom>
          <a:noFill/>
          <a:ln w="38100">
            <a:solidFill>
              <a:srgbClr val="DDE3EC"/>
            </a:solidFill>
            <a:prstDash val="solid"/>
          </a:ln>
        </p:spPr>
      </p:sp>
      <p:sp>
        <p:nvSpPr>
          <p:cNvPr id="5" name="Shape 3"/>
          <p:cNvSpPr/>
          <p:nvPr/>
        </p:nvSpPr>
        <p:spPr>
          <a:xfrm>
            <a:off x="1444752" y="2679192"/>
            <a:ext cx="402336" cy="402336"/>
          </a:xfrm>
          <a:prstGeom prst="ellipse">
            <a:avLst/>
          </a:prstGeom>
          <a:solidFill>
            <a:srgbClr val="A4161A"/>
          </a:solidFill>
          <a:ln w="25400">
            <a:solidFill>
              <a:srgbClr val="A4161A"/>
            </a:solidFill>
            <a:prstDash val="solid"/>
          </a:ln>
        </p:spPr>
      </p:sp>
      <p:sp>
        <p:nvSpPr>
          <p:cNvPr id="6" name="Text 4"/>
          <p:cNvSpPr txBox="1"/>
          <p:nvPr/>
        </p:nvSpPr>
        <p:spPr>
          <a:xfrm>
            <a:off x="457200" y="2148840"/>
            <a:ext cx="2377440" cy="320040"/>
          </a:xfrm>
          <a:prstGeom prst="rect">
            <a:avLst/>
          </a:prstGeom>
          <a:noFill/>
          <a:ln/>
        </p:spPr>
        <p:txBody>
          <a:bodyPr wrap="square" lIns="0" tIns="0" rIns="0" bIns="0" rtlCol="0" anchor="ctr"/>
          <a:lstStyle/>
          <a:p>
            <a:pPr algn="ctr" indent="0" marL="0">
              <a:buNone/>
            </a:pPr>
            <a:r>
              <a:rPr lang="en-US" sz="1500" b="1" dirty="0">
                <a:solidFill>
                  <a:srgbClr val="1B2A55"/>
                </a:solidFill>
                <a:latin typeface="Calibri" pitchFamily="34" charset="0"/>
                <a:ea typeface="Calibri" pitchFamily="34" charset="-122"/>
                <a:cs typeface="Calibri" pitchFamily="34" charset="-120"/>
              </a:rPr>
              <a:t>Review 0</a:t>
            </a:r>
            <a:endParaRPr lang="en-US" sz="1500" dirty="0"/>
          </a:p>
        </p:txBody>
      </p:sp>
      <p:sp>
        <p:nvSpPr>
          <p:cNvPr id="7" name="Text 5"/>
          <p:cNvSpPr txBox="1"/>
          <p:nvPr/>
        </p:nvSpPr>
        <p:spPr>
          <a:xfrm>
            <a:off x="457200" y="3200400"/>
            <a:ext cx="2377440" cy="274320"/>
          </a:xfrm>
          <a:prstGeom prst="rect">
            <a:avLst/>
          </a:prstGeom>
          <a:noFill/>
          <a:ln/>
        </p:spPr>
        <p:txBody>
          <a:bodyPr wrap="square" lIns="0" tIns="0" rIns="0" bIns="0" rtlCol="0" anchor="ctr"/>
          <a:lstStyle/>
          <a:p>
            <a:pPr algn="ctr" indent="0" marL="0">
              <a:buNone/>
            </a:pPr>
            <a:r>
              <a:rPr lang="en-US" sz="1200" b="1" spc="120" kern="0" dirty="0">
                <a:solidFill>
                  <a:srgbClr val="C8A02C"/>
                </a:solidFill>
                <a:latin typeface="Calibri" pitchFamily="34" charset="0"/>
                <a:ea typeface="Calibri" pitchFamily="34" charset="-122"/>
                <a:cs typeface="Calibri" pitchFamily="34" charset="-120"/>
              </a:rPr>
              <a:t>Week 2</a:t>
            </a:r>
            <a:endParaRPr lang="en-US" sz="1200" dirty="0"/>
          </a:p>
        </p:txBody>
      </p:sp>
      <p:sp>
        <p:nvSpPr>
          <p:cNvPr id="8" name="Text 6"/>
          <p:cNvSpPr txBox="1"/>
          <p:nvPr/>
        </p:nvSpPr>
        <p:spPr>
          <a:xfrm>
            <a:off x="320040" y="3520440"/>
            <a:ext cx="2651760" cy="822960"/>
          </a:xfrm>
          <a:prstGeom prst="rect">
            <a:avLst/>
          </a:prstGeom>
          <a:noFill/>
          <a:ln/>
        </p:spPr>
        <p:txBody>
          <a:bodyPr wrap="square" lIns="0" tIns="0" rIns="0" bIns="0" rtlCol="0" anchor="ctr"/>
          <a:lstStyle/>
          <a:p>
            <a:pPr indent="0" marL="0">
              <a:buNone/>
            </a:pPr>
            <a:r>
              <a:rPr lang="en-US" sz="1200" b="0" i="0" dirty="0">
                <a:solidFill>
                  <a:srgbClr val="1F2430"/>
                </a:solidFill>
                <a:latin typeface="Calibri"/>
                <a:ea typeface="Calibri"/>
                <a:cs typeface="Calibri"/>
              </a:rPr>
              <a:t>Domain selection, team finalization &amp; abstract approved</a:t>
            </a:r>
          </a:p>
        </p:txBody>
      </p:sp>
      <p:sp>
        <p:nvSpPr>
          <p:cNvPr id="9" name="Shape 7"/>
          <p:cNvSpPr/>
          <p:nvPr/>
        </p:nvSpPr>
        <p:spPr>
          <a:xfrm>
            <a:off x="4416552" y="2679192"/>
            <a:ext cx="402336" cy="402336"/>
          </a:xfrm>
          <a:prstGeom prst="ellipse">
            <a:avLst/>
          </a:prstGeom>
          <a:solidFill>
            <a:srgbClr val="A4161A"/>
          </a:solidFill>
          <a:ln w="25400">
            <a:solidFill>
              <a:srgbClr val="A4161A"/>
            </a:solidFill>
            <a:prstDash val="solid"/>
          </a:ln>
        </p:spPr>
      </p:sp>
      <p:sp>
        <p:nvSpPr>
          <p:cNvPr id="10" name="Text 8"/>
          <p:cNvSpPr txBox="1"/>
          <p:nvPr/>
        </p:nvSpPr>
        <p:spPr>
          <a:xfrm>
            <a:off x="3429000" y="2148840"/>
            <a:ext cx="2377440" cy="320040"/>
          </a:xfrm>
          <a:prstGeom prst="rect">
            <a:avLst/>
          </a:prstGeom>
          <a:noFill/>
          <a:ln/>
        </p:spPr>
        <p:txBody>
          <a:bodyPr wrap="square" lIns="0" tIns="0" rIns="0" bIns="0" rtlCol="0" anchor="ctr"/>
          <a:lstStyle/>
          <a:p>
            <a:pPr algn="ctr" indent="0" marL="0">
              <a:buNone/>
            </a:pPr>
            <a:r>
              <a:rPr lang="en-US" sz="1500" b="1" dirty="0">
                <a:solidFill>
                  <a:srgbClr val="1B2A55"/>
                </a:solidFill>
                <a:latin typeface="Calibri" pitchFamily="34" charset="0"/>
                <a:ea typeface="Calibri" pitchFamily="34" charset="-122"/>
                <a:cs typeface="Calibri" pitchFamily="34" charset="-120"/>
              </a:rPr>
              <a:t>Review 1</a:t>
            </a:r>
            <a:endParaRPr lang="en-US" sz="1500" dirty="0"/>
          </a:p>
        </p:txBody>
      </p:sp>
      <p:sp>
        <p:nvSpPr>
          <p:cNvPr id="11" name="Text 9"/>
          <p:cNvSpPr txBox="1"/>
          <p:nvPr/>
        </p:nvSpPr>
        <p:spPr>
          <a:xfrm>
            <a:off x="3429000" y="3200400"/>
            <a:ext cx="2377440" cy="274320"/>
          </a:xfrm>
          <a:prstGeom prst="rect">
            <a:avLst/>
          </a:prstGeom>
          <a:noFill/>
          <a:ln/>
        </p:spPr>
        <p:txBody>
          <a:bodyPr wrap="square" lIns="0" tIns="0" rIns="0" bIns="0" rtlCol="0" anchor="ctr"/>
          <a:lstStyle/>
          <a:p>
            <a:pPr indent="0" marL="0">
              <a:buNone/>
            </a:pPr>
            <a:r>
              <a:rPr lang="en-US" sz="1200" b="1" i="0" dirty="0">
                <a:solidFill>
                  <a:srgbClr val="C8A02C"/>
                </a:solidFill>
                <a:latin typeface="Calibri"/>
                <a:ea typeface="Calibri"/>
                <a:cs typeface="Calibri"/>
              </a:rPr>
              <a:t>Week 5 (Current)</a:t>
            </a:r>
          </a:p>
        </p:txBody>
      </p:sp>
      <p:sp>
        <p:nvSpPr>
          <p:cNvPr id="12" name="Text 10"/>
          <p:cNvSpPr txBox="1"/>
          <p:nvPr/>
        </p:nvSpPr>
        <p:spPr>
          <a:xfrm>
            <a:off x="3291840" y="3520440"/>
            <a:ext cx="2651760" cy="822960"/>
          </a:xfrm>
          <a:prstGeom prst="rect">
            <a:avLst/>
          </a:prstGeom>
          <a:noFill/>
          <a:ln/>
        </p:spPr>
        <p:txBody>
          <a:bodyPr wrap="square" lIns="0" tIns="0" rIns="0" bIns="0" rtlCol="0" anchor="ctr"/>
          <a:lstStyle/>
          <a:p>
            <a:pPr indent="0" marL="0">
              <a:buNone/>
            </a:pPr>
            <a:r>
              <a:rPr lang="en-US" sz="1200" b="0" i="0" dirty="0">
                <a:solidFill>
                  <a:srgbClr val="1F2430"/>
                </a:solidFill>
                <a:latin typeface="Calibri"/>
                <a:ea typeface="Calibri"/>
                <a:cs typeface="Calibri"/>
              </a:rPr>
              <a:t>Literature survey, research gaps, architecture &amp; RFM methodology</a:t>
            </a:r>
          </a:p>
        </p:txBody>
      </p:sp>
      <p:sp>
        <p:nvSpPr>
          <p:cNvPr id="13" name="Shape 11"/>
          <p:cNvSpPr/>
          <p:nvPr/>
        </p:nvSpPr>
        <p:spPr>
          <a:xfrm>
            <a:off x="7388352" y="2679192"/>
            <a:ext cx="402336" cy="402336"/>
          </a:xfrm>
          <a:prstGeom prst="ellipse">
            <a:avLst/>
          </a:prstGeom>
          <a:solidFill>
            <a:srgbClr val="FFFFFF"/>
          </a:solidFill>
          <a:ln w="25400">
            <a:solidFill>
              <a:srgbClr val="9AA5B8"/>
            </a:solidFill>
            <a:prstDash val="solid"/>
          </a:ln>
        </p:spPr>
      </p:sp>
      <p:sp>
        <p:nvSpPr>
          <p:cNvPr id="14" name="Text 12"/>
          <p:cNvSpPr txBox="1"/>
          <p:nvPr/>
        </p:nvSpPr>
        <p:spPr>
          <a:xfrm>
            <a:off x="6400800" y="2148840"/>
            <a:ext cx="2377440" cy="320040"/>
          </a:xfrm>
          <a:prstGeom prst="rect">
            <a:avLst/>
          </a:prstGeom>
          <a:noFill/>
          <a:ln/>
        </p:spPr>
        <p:txBody>
          <a:bodyPr wrap="square" lIns="0" tIns="0" rIns="0" bIns="0" rtlCol="0" anchor="ctr"/>
          <a:lstStyle/>
          <a:p>
            <a:pPr algn="ctr" indent="0" marL="0">
              <a:buNone/>
            </a:pPr>
            <a:r>
              <a:rPr lang="en-US" sz="1500" b="1" dirty="0">
                <a:solidFill>
                  <a:srgbClr val="1B2A55"/>
                </a:solidFill>
                <a:latin typeface="Calibri" pitchFamily="34" charset="0"/>
                <a:ea typeface="Calibri" pitchFamily="34" charset="-122"/>
                <a:cs typeface="Calibri" pitchFamily="34" charset="-120"/>
              </a:rPr>
              <a:t>Review 2</a:t>
            </a:r>
            <a:endParaRPr lang="en-US" sz="1500" dirty="0"/>
          </a:p>
        </p:txBody>
      </p:sp>
      <p:sp>
        <p:nvSpPr>
          <p:cNvPr id="15" name="Text 13"/>
          <p:cNvSpPr txBox="1"/>
          <p:nvPr/>
        </p:nvSpPr>
        <p:spPr>
          <a:xfrm>
            <a:off x="6400800" y="3200400"/>
            <a:ext cx="2377440" cy="274320"/>
          </a:xfrm>
          <a:prstGeom prst="rect">
            <a:avLst/>
          </a:prstGeom>
          <a:noFill/>
          <a:ln/>
        </p:spPr>
        <p:txBody>
          <a:bodyPr wrap="square" lIns="0" tIns="0" rIns="0" bIns="0" rtlCol="0" anchor="ctr"/>
          <a:lstStyle/>
          <a:p>
            <a:pPr algn="ctr" indent="0" marL="0">
              <a:buNone/>
            </a:pPr>
            <a:r>
              <a:rPr lang="en-US" sz="1200" b="1" spc="120" kern="0" dirty="0">
                <a:solidFill>
                  <a:srgbClr val="C8A02C"/>
                </a:solidFill>
                <a:latin typeface="Calibri" pitchFamily="34" charset="0"/>
                <a:ea typeface="Calibri" pitchFamily="34" charset="-122"/>
                <a:cs typeface="Calibri" pitchFamily="34" charset="-120"/>
              </a:rPr>
              <a:t>Week 9</a:t>
            </a:r>
            <a:endParaRPr lang="en-US" sz="1200" dirty="0"/>
          </a:p>
        </p:txBody>
      </p:sp>
      <p:sp>
        <p:nvSpPr>
          <p:cNvPr id="16" name="Text 14"/>
          <p:cNvSpPr txBox="1"/>
          <p:nvPr/>
        </p:nvSpPr>
        <p:spPr>
          <a:xfrm>
            <a:off x="6263640" y="3520440"/>
            <a:ext cx="2651760" cy="822960"/>
          </a:xfrm>
          <a:prstGeom prst="rect">
            <a:avLst/>
          </a:prstGeom>
          <a:noFill/>
          <a:ln/>
        </p:spPr>
        <p:txBody>
          <a:bodyPr wrap="square" lIns="0" tIns="0" rIns="0" bIns="0" rtlCol="0" anchor="ctr"/>
          <a:lstStyle/>
          <a:p>
            <a:pPr indent="0" marL="0">
              <a:buNone/>
            </a:pPr>
            <a:r>
              <a:rPr lang="en-US" sz="1200" b="0" i="0" dirty="0">
                <a:solidFill>
                  <a:srgbClr val="1F2430"/>
                </a:solidFill>
                <a:latin typeface="Calibri"/>
                <a:ea typeface="Calibri"/>
                <a:cs typeface="Calibri"/>
              </a:rPr>
              <a:t>Data preprocessing, RFM scaling, K-Means &amp; Hierarchical evaluation</a:t>
            </a:r>
          </a:p>
        </p:txBody>
      </p:sp>
      <p:sp>
        <p:nvSpPr>
          <p:cNvPr id="17" name="Shape 15"/>
          <p:cNvSpPr/>
          <p:nvPr/>
        </p:nvSpPr>
        <p:spPr>
          <a:xfrm>
            <a:off x="10360152" y="2679192"/>
            <a:ext cx="402336" cy="402336"/>
          </a:xfrm>
          <a:prstGeom prst="ellipse">
            <a:avLst/>
          </a:prstGeom>
          <a:solidFill>
            <a:srgbClr val="FFFFFF"/>
          </a:solidFill>
          <a:ln w="25400">
            <a:solidFill>
              <a:srgbClr val="9AA5B8"/>
            </a:solidFill>
            <a:prstDash val="solid"/>
          </a:ln>
        </p:spPr>
      </p:sp>
      <p:sp>
        <p:nvSpPr>
          <p:cNvPr id="18" name="Text 16"/>
          <p:cNvSpPr txBox="1"/>
          <p:nvPr/>
        </p:nvSpPr>
        <p:spPr>
          <a:xfrm>
            <a:off x="9372600" y="2148840"/>
            <a:ext cx="2377440" cy="320040"/>
          </a:xfrm>
          <a:prstGeom prst="rect">
            <a:avLst/>
          </a:prstGeom>
          <a:noFill/>
          <a:ln/>
        </p:spPr>
        <p:txBody>
          <a:bodyPr wrap="square" lIns="0" tIns="0" rIns="0" bIns="0" rtlCol="0" anchor="ctr"/>
          <a:lstStyle/>
          <a:p>
            <a:pPr algn="ctr" indent="0" marL="0">
              <a:buNone/>
            </a:pPr>
            <a:r>
              <a:rPr lang="en-US" sz="1500" b="1" dirty="0">
                <a:solidFill>
                  <a:srgbClr val="1B2A55"/>
                </a:solidFill>
                <a:latin typeface="Calibri" pitchFamily="34" charset="0"/>
                <a:ea typeface="Calibri" pitchFamily="34" charset="-122"/>
                <a:cs typeface="Calibri" pitchFamily="34" charset="-120"/>
              </a:rPr>
              <a:t>Final</a:t>
            </a:r>
            <a:endParaRPr lang="en-US" sz="1500" dirty="0"/>
          </a:p>
        </p:txBody>
      </p:sp>
      <p:sp>
        <p:nvSpPr>
          <p:cNvPr id="19" name="Text 17"/>
          <p:cNvSpPr txBox="1"/>
          <p:nvPr/>
        </p:nvSpPr>
        <p:spPr>
          <a:xfrm>
            <a:off x="9372600" y="3200400"/>
            <a:ext cx="2377440" cy="274320"/>
          </a:xfrm>
          <a:prstGeom prst="rect">
            <a:avLst/>
          </a:prstGeom>
          <a:noFill/>
          <a:ln/>
        </p:spPr>
        <p:txBody>
          <a:bodyPr wrap="square" lIns="0" tIns="0" rIns="0" bIns="0" rtlCol="0" anchor="ctr"/>
          <a:lstStyle/>
          <a:p>
            <a:pPr algn="ctr" indent="0" marL="0">
              <a:buNone/>
            </a:pPr>
            <a:r>
              <a:rPr lang="en-US" sz="1200" b="1" spc="120" kern="0" dirty="0">
                <a:solidFill>
                  <a:srgbClr val="C8A02C"/>
                </a:solidFill>
                <a:latin typeface="Calibri" pitchFamily="34" charset="0"/>
                <a:ea typeface="Calibri" pitchFamily="34" charset="-122"/>
                <a:cs typeface="Calibri" pitchFamily="34" charset="-120"/>
              </a:rPr>
              <a:t>Week 14</a:t>
            </a:r>
            <a:endParaRPr lang="en-US" sz="1200" dirty="0"/>
          </a:p>
        </p:txBody>
      </p:sp>
      <p:sp>
        <p:nvSpPr>
          <p:cNvPr id="20" name="Text 18"/>
          <p:cNvSpPr txBox="1"/>
          <p:nvPr/>
        </p:nvSpPr>
        <p:spPr>
          <a:xfrm>
            <a:off x="9235440" y="3520440"/>
            <a:ext cx="2651760" cy="822960"/>
          </a:xfrm>
          <a:prstGeom prst="rect">
            <a:avLst/>
          </a:prstGeom>
          <a:noFill/>
          <a:ln/>
        </p:spPr>
        <p:txBody>
          <a:bodyPr wrap="square" lIns="0" tIns="0" rIns="0" bIns="0" rtlCol="0" anchor="ctr"/>
          <a:lstStyle/>
          <a:p>
            <a:pPr indent="0" marL="0">
              <a:buNone/>
            </a:pPr>
            <a:r>
              <a:rPr lang="en-US" sz="1200" b="0" i="0" dirty="0">
                <a:solidFill>
                  <a:srgbClr val="1F2430"/>
                </a:solidFill>
                <a:latin typeface="Calibri"/>
                <a:ea typeface="Calibri"/>
                <a:cs typeface="Calibri"/>
              </a:rPr>
              <a:t>PCA visualizations, customer profiling, dashboard UI &amp; report</a:t>
            </a:r>
          </a:p>
        </p:txBody>
      </p:sp>
      <p:sp>
        <p:nvSpPr>
          <p:cNvPr id="21" name="Text 19"/>
          <p:cNvSpPr txBox="1"/>
          <p:nvPr/>
        </p:nvSpPr>
        <p:spPr>
          <a:xfrm>
            <a:off x="548640" y="4434840"/>
            <a:ext cx="11064240" cy="320040"/>
          </a:xfrm>
          <a:prstGeom prst="rect">
            <a:avLst/>
          </a:prstGeom>
          <a:noFill/>
          <a:ln/>
        </p:spPr>
        <p:txBody>
          <a:bodyPr wrap="square" lIns="0" tIns="0" rIns="0" bIns="0" rtlCol="0" anchor="ctr"/>
          <a:lstStyle/>
          <a:p>
            <a:pPr indent="0" marL="0">
              <a:buNone/>
            </a:pPr>
            <a:r>
              <a:rPr lang="en-US" sz="1150" b="0" i="0" dirty="0">
                <a:solidFill>
                  <a:srgbClr val="6B7280"/>
                </a:solidFill>
                <a:latin typeface="Calibri"/>
                <a:ea typeface="Calibri"/>
                <a:cs typeface="Calibri"/>
              </a:rPr>
              <a:t>Status Tracking: Review 0 and Review 1 completed on schedule; data engineering progressing toward Review 2.</a:t>
            </a:r>
          </a:p>
        </p:txBody>
      </p:sp>
      <p:sp>
        <p:nvSpPr>
          <p:cNvPr id="22" name="Shape 20"/>
          <p:cNvSpPr/>
          <p:nvPr/>
        </p:nvSpPr>
        <p:spPr>
          <a:xfrm>
            <a:off x="548640" y="4937760"/>
            <a:ext cx="11064240" cy="1051560"/>
          </a:xfrm>
          <a:prstGeom prst="roundRect">
            <a:avLst>
              <a:gd name="adj" fmla="val 6957"/>
            </a:avLst>
          </a:prstGeom>
          <a:solidFill>
            <a:srgbClr val="FDF6E6"/>
          </a:solidFill>
          <a:ln w="12700">
            <a:solidFill>
              <a:srgbClr val="DDE3EC"/>
            </a:solidFill>
            <a:prstDash val="solid"/>
          </a:ln>
        </p:spPr>
      </p:sp>
      <p:sp>
        <p:nvSpPr>
          <p:cNvPr id="23" name="Text 21"/>
          <p:cNvSpPr txBox="1"/>
          <p:nvPr/>
        </p:nvSpPr>
        <p:spPr>
          <a:xfrm>
            <a:off x="868680" y="4937760"/>
            <a:ext cx="10424160" cy="1051560"/>
          </a:xfrm>
          <a:prstGeom prst="rect">
            <a:avLst/>
          </a:prstGeom>
          <a:noFill/>
          <a:ln/>
        </p:spPr>
        <p:txBody>
          <a:bodyPr wrap="square" lIns="0" tIns="0" rIns="0" bIns="0" rtlCol="0" anchor="ctr"/>
          <a:lstStyle/>
          <a:p>
            <a:pPr indent="0" marL="0">
              <a:buNone/>
            </a:pPr>
            <a:r>
              <a:rPr lang="en-US" sz="1250" b="1" i="0" dirty="0">
                <a:solidFill>
                  <a:srgbClr val="1F2430"/>
                </a:solidFill>
                <a:latin typeface="Calibri"/>
                <a:ea typeface="Calibri"/>
                <a:cs typeface="Calibri"/>
              </a:rPr>
              <a:t>Academic Compliance: All Review 1 deliverables achieved honestly without fabricated results; adequate timeline remains to complete subsequent clustering stages.</a:t>
            </a:r>
          </a:p>
        </p:txBody>
      </p:sp>
      <p:sp>
        <p:nvSpPr>
          <p:cNvPr id="24" name="Text 22"/>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25" name="Text 23"/>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11</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Expected Outcome &amp; Conclusion</a:t>
            </a:r>
            <a:endParaRPr lang="en-US" sz="3100" dirty="0"/>
          </a:p>
        </p:txBody>
      </p:sp>
      <p:sp>
        <p:nvSpPr>
          <p:cNvPr id="4" name="Shape 2"/>
          <p:cNvSpPr/>
          <p:nvPr/>
        </p:nvSpPr>
        <p:spPr>
          <a:xfrm>
            <a:off x="548640" y="1463040"/>
            <a:ext cx="3520440" cy="2194560"/>
          </a:xfrm>
          <a:prstGeom prst="roundRect">
            <a:avLst>
              <a:gd name="adj" fmla="val 3333"/>
            </a:avLst>
          </a:prstGeom>
          <a:solidFill>
            <a:srgbClr val="F1F4F9"/>
          </a:solidFill>
          <a:ln w="12700">
            <a:solidFill>
              <a:srgbClr val="DDE3EC"/>
            </a:solidFill>
            <a:prstDash val="solid"/>
          </a:ln>
        </p:spPr>
      </p:sp>
      <p:sp>
        <p:nvSpPr>
          <p:cNvPr id="5" name="Text 3"/>
          <p:cNvSpPr txBox="1"/>
          <p:nvPr/>
        </p:nvSpPr>
        <p:spPr>
          <a:xfrm>
            <a:off x="822960" y="1691640"/>
            <a:ext cx="2971800" cy="274320"/>
          </a:xfrm>
          <a:prstGeom prst="rect">
            <a:avLst/>
          </a:prstGeom>
          <a:noFill/>
          <a:ln/>
        </p:spPr>
        <p:txBody>
          <a:bodyPr wrap="square" lIns="0" tIns="0" rIns="0" bIns="0" rtlCol="0" anchor="ctr"/>
          <a:lstStyle/>
          <a:p>
            <a:pPr indent="0" marL="0">
              <a:buNone/>
            </a:pPr>
            <a:r>
              <a:rPr lang="en-US" sz="1050" b="1" spc="150" kern="0" dirty="0">
                <a:solidFill>
                  <a:srgbClr val="A4161A"/>
                </a:solidFill>
                <a:latin typeface="Calibri" pitchFamily="34" charset="0"/>
                <a:ea typeface="Calibri" pitchFamily="34" charset="-122"/>
                <a:cs typeface="Calibri" pitchFamily="34" charset="-120"/>
              </a:rPr>
              <a:t>DELIVERABLE</a:t>
            </a:r>
            <a:endParaRPr lang="en-US" sz="1050" dirty="0"/>
          </a:p>
        </p:txBody>
      </p:sp>
      <p:sp>
        <p:nvSpPr>
          <p:cNvPr id="6" name="Text 4"/>
          <p:cNvSpPr txBox="1"/>
          <p:nvPr/>
        </p:nvSpPr>
        <p:spPr>
          <a:xfrm>
            <a:off x="822960" y="2057400"/>
            <a:ext cx="2971800" cy="1371600"/>
          </a:xfrm>
          <a:prstGeom prst="rect">
            <a:avLst/>
          </a:prstGeom>
          <a:noFill/>
          <a:ln/>
        </p:spPr>
        <p:txBody>
          <a:bodyPr wrap="square" lIns="0" tIns="0" rIns="0" bIns="0" rtlCol="0" anchor="ctr"/>
          <a:lstStyle/>
          <a:p>
            <a:pPr indent="0" marL="0">
              <a:buNone/>
            </a:pPr>
            <a:r>
              <a:rPr lang="en-US" sz="1350" b="1" i="0" dirty="0">
                <a:solidFill>
                  <a:srgbClr val="1B2A55"/>
                </a:solidFill>
                <a:latin typeface="Cambria"/>
                <a:ea typeface="Cambria"/>
                <a:cs typeface="Cambria"/>
              </a:rPr>
              <a:t>A functional customer segmentation system that processes retail transaction logs, computes normalized RFM features, discovers behavioral customer segments, and presents 2D PCA cluster visualizations.</a:t>
            </a:r>
          </a:p>
        </p:txBody>
      </p:sp>
      <p:sp>
        <p:nvSpPr>
          <p:cNvPr id="7" name="Shape 5"/>
          <p:cNvSpPr/>
          <p:nvPr/>
        </p:nvSpPr>
        <p:spPr>
          <a:xfrm>
            <a:off x="4297680" y="1463040"/>
            <a:ext cx="3520440" cy="2194560"/>
          </a:xfrm>
          <a:prstGeom prst="roundRect">
            <a:avLst>
              <a:gd name="adj" fmla="val 3333"/>
            </a:avLst>
          </a:prstGeom>
          <a:solidFill>
            <a:srgbClr val="1B2A55"/>
          </a:solidFill>
          <a:ln w="12700">
            <a:solidFill>
              <a:srgbClr val="1B2A55"/>
            </a:solidFill>
            <a:prstDash val="solid"/>
          </a:ln>
        </p:spPr>
      </p:sp>
      <p:sp>
        <p:nvSpPr>
          <p:cNvPr id="8" name="Text 6"/>
          <p:cNvSpPr txBox="1"/>
          <p:nvPr/>
        </p:nvSpPr>
        <p:spPr>
          <a:xfrm>
            <a:off x="4572000" y="1691640"/>
            <a:ext cx="2971800" cy="274320"/>
          </a:xfrm>
          <a:prstGeom prst="rect">
            <a:avLst/>
          </a:prstGeom>
          <a:noFill/>
          <a:ln/>
        </p:spPr>
        <p:txBody>
          <a:bodyPr wrap="square" lIns="0" tIns="0" rIns="0" bIns="0" rtlCol="0" anchor="ctr"/>
          <a:lstStyle/>
          <a:p>
            <a:pPr indent="0" marL="0">
              <a:buNone/>
            </a:pPr>
            <a:r>
              <a:rPr lang="en-US" sz="1050" b="1" spc="150" kern="0" dirty="0">
                <a:solidFill>
                  <a:srgbClr val="C8A02C"/>
                </a:solidFill>
                <a:latin typeface="Calibri" pitchFamily="34" charset="0"/>
                <a:ea typeface="Calibri" pitchFamily="34" charset="-122"/>
                <a:cs typeface="Calibri" pitchFamily="34" charset="-120"/>
              </a:rPr>
              <a:t>MEASURABLE TARGET</a:t>
            </a:r>
            <a:endParaRPr lang="en-US" sz="1050" dirty="0"/>
          </a:p>
        </p:txBody>
      </p:sp>
      <p:sp>
        <p:nvSpPr>
          <p:cNvPr id="9" name="Text 7"/>
          <p:cNvSpPr txBox="1"/>
          <p:nvPr/>
        </p:nvSpPr>
        <p:spPr>
          <a:xfrm>
            <a:off x="4572000" y="2057400"/>
            <a:ext cx="2971800" cy="1371600"/>
          </a:xfrm>
          <a:prstGeom prst="rect">
            <a:avLst/>
          </a:prstGeom>
          <a:noFill/>
          <a:ln/>
        </p:spPr>
        <p:txBody>
          <a:bodyPr wrap="square" lIns="0" tIns="0" rIns="0" bIns="0" rtlCol="0" anchor="ctr"/>
          <a:lstStyle/>
          <a:p>
            <a:pPr indent="0" marL="0">
              <a:buNone/>
            </a:pPr>
            <a:r>
              <a:rPr lang="en-US" sz="1350" b="1" i="0" dirty="0">
                <a:solidFill>
                  <a:srgbClr val="FFFFFF"/>
                </a:solidFill>
                <a:latin typeface="Cambria"/>
                <a:ea typeface="Cambria"/>
                <a:cs typeface="Cambria"/>
              </a:rPr>
              <a:t>Evaluation of cluster cohesion via Silhouette Score and Elbow inertia curve to identify optimal K, avoiding arbitrary or subjective segment definitions.</a:t>
            </a:r>
          </a:p>
        </p:txBody>
      </p:sp>
      <p:sp>
        <p:nvSpPr>
          <p:cNvPr id="10" name="Shape 8"/>
          <p:cNvSpPr/>
          <p:nvPr/>
        </p:nvSpPr>
        <p:spPr>
          <a:xfrm>
            <a:off x="8046720" y="1463040"/>
            <a:ext cx="3520440" cy="2194560"/>
          </a:xfrm>
          <a:prstGeom prst="roundRect">
            <a:avLst>
              <a:gd name="adj" fmla="val 3333"/>
            </a:avLst>
          </a:prstGeom>
          <a:solidFill>
            <a:srgbClr val="F1F4F9"/>
          </a:solidFill>
          <a:ln w="12700">
            <a:solidFill>
              <a:srgbClr val="DDE3EC"/>
            </a:solidFill>
            <a:prstDash val="solid"/>
          </a:ln>
        </p:spPr>
      </p:sp>
      <p:sp>
        <p:nvSpPr>
          <p:cNvPr id="11" name="Text 9"/>
          <p:cNvSpPr txBox="1"/>
          <p:nvPr/>
        </p:nvSpPr>
        <p:spPr>
          <a:xfrm>
            <a:off x="8321040" y="1691640"/>
            <a:ext cx="2971800" cy="274320"/>
          </a:xfrm>
          <a:prstGeom prst="rect">
            <a:avLst/>
          </a:prstGeom>
          <a:noFill/>
          <a:ln/>
        </p:spPr>
        <p:txBody>
          <a:bodyPr wrap="square" lIns="0" tIns="0" rIns="0" bIns="0" rtlCol="0" anchor="ctr"/>
          <a:lstStyle/>
          <a:p>
            <a:pPr indent="0" marL="0">
              <a:buNone/>
            </a:pPr>
            <a:r>
              <a:rPr lang="en-US" sz="1050" b="1" spc="150" kern="0" dirty="0">
                <a:solidFill>
                  <a:srgbClr val="A4161A"/>
                </a:solidFill>
                <a:latin typeface="Calibri" pitchFamily="34" charset="0"/>
                <a:ea typeface="Calibri" pitchFamily="34" charset="-122"/>
                <a:cs typeface="Calibri" pitchFamily="34" charset="-120"/>
              </a:rPr>
              <a:t>BEYOND THE LAB</a:t>
            </a:r>
            <a:endParaRPr lang="en-US" sz="1050" dirty="0"/>
          </a:p>
        </p:txBody>
      </p:sp>
      <p:sp>
        <p:nvSpPr>
          <p:cNvPr id="12" name="Text 10"/>
          <p:cNvSpPr txBox="1"/>
          <p:nvPr/>
        </p:nvSpPr>
        <p:spPr>
          <a:xfrm>
            <a:off x="8321040" y="2057400"/>
            <a:ext cx="2971800" cy="1371600"/>
          </a:xfrm>
          <a:prstGeom prst="rect">
            <a:avLst/>
          </a:prstGeom>
          <a:noFill/>
          <a:ln/>
        </p:spPr>
        <p:txBody>
          <a:bodyPr wrap="square" lIns="0" tIns="0" rIns="0" bIns="0" rtlCol="0" anchor="ctr"/>
          <a:lstStyle/>
          <a:p>
            <a:pPr indent="0" marL="0">
              <a:buNone/>
            </a:pPr>
            <a:r>
              <a:rPr lang="en-US" sz="1350" b="1" i="0" dirty="0">
                <a:solidFill>
                  <a:srgbClr val="1B2A55"/>
                </a:solidFill>
                <a:latin typeface="Cambria"/>
                <a:ea typeface="Cambria"/>
                <a:cs typeface="Cambria"/>
              </a:rPr>
              <a:t>Retailers and marketing teams can utilize discovered customer personas to optimize promotional budgets, design loyalty rewards, and deploy re-engagement campaigns.</a:t>
            </a:r>
          </a:p>
        </p:txBody>
      </p:sp>
      <p:sp>
        <p:nvSpPr>
          <p:cNvPr id="13" name="Shape 11"/>
          <p:cNvSpPr/>
          <p:nvPr/>
        </p:nvSpPr>
        <p:spPr>
          <a:xfrm>
            <a:off x="548640" y="3931920"/>
            <a:ext cx="11064240" cy="1920240"/>
          </a:xfrm>
          <a:prstGeom prst="roundRect">
            <a:avLst>
              <a:gd name="adj" fmla="val 3810"/>
            </a:avLst>
          </a:prstGeom>
          <a:solidFill>
            <a:srgbClr val="F1F4F9"/>
          </a:solidFill>
          <a:ln w="12700">
            <a:solidFill>
              <a:srgbClr val="DDE3EC"/>
            </a:solidFill>
            <a:prstDash val="solid"/>
          </a:ln>
        </p:spPr>
      </p:sp>
      <p:sp>
        <p:nvSpPr>
          <p:cNvPr id="14" name="Text 12"/>
          <p:cNvSpPr txBox="1"/>
          <p:nvPr/>
        </p:nvSpPr>
        <p:spPr>
          <a:xfrm>
            <a:off x="868680" y="4160520"/>
            <a:ext cx="10424160" cy="274320"/>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CONCLUSION</a:t>
            </a:r>
            <a:endParaRPr lang="en-US" sz="1050" dirty="0"/>
          </a:p>
        </p:txBody>
      </p:sp>
      <p:sp>
        <p:nvSpPr>
          <p:cNvPr id="15" name="Text 13"/>
          <p:cNvSpPr txBox="1"/>
          <p:nvPr/>
        </p:nvSpPr>
        <p:spPr>
          <a:xfrm>
            <a:off x="868680" y="4480560"/>
            <a:ext cx="10424160" cy="1188720"/>
          </a:xfrm>
          <a:prstGeom prst="rect">
            <a:avLst/>
          </a:prstGeom>
          <a:noFill/>
          <a:ln/>
        </p:spPr>
        <p:txBody>
          <a:bodyPr wrap="square" lIns="0" tIns="0" rIns="0" bIns="0" rtlCol="0" anchor="ctr"/>
          <a:lstStyle/>
          <a:p>
            <a:pPr indent="0" marL="0">
              <a:buNone/>
              <a:spcAft>
                <a:spcPts val="300"/>
              </a:spcAft>
            </a:pPr>
            <a:r>
              <a:rPr lang="en-US" sz="1200" b="0" i="0" dirty="0">
                <a:solidFill>
                  <a:srgbClr val="1F2430"/>
                </a:solidFill>
                <a:latin typeface="Calibri"/>
                <a:ea typeface="Calibri"/>
                <a:cs typeface="Calibri"/>
              </a:rPr>
              <a:t>• Conclusion: The project establishes a structured unsupervised learning framework to transform raw retail sales data into actionable customer intelligence using RFM analysis, K-Means, and Hierarchical clustering.</a:t>
            </a:r>
          </a:p>
          <a:p>
            <a:pPr indent="0" marL="0">
              <a:buNone/>
              <a:spcAft>
                <a:spcPts val="300"/>
              </a:spcAft>
            </a:pPr>
            <a:r>
              <a:rPr lang="en-US" sz="1200" b="0" i="0" dirty="0">
                <a:solidFill>
                  <a:srgbClr val="1F2430"/>
                </a:solidFill>
                <a:latin typeface="Calibri"/>
                <a:ea typeface="Calibri"/>
                <a:cs typeface="Calibri"/>
              </a:rPr>
              <a:t>• Final Deliverable: By the final review, the system will output validated cluster profiles, PCA visualizations, and targeted business strategy mappings.</a:t>
            </a:r>
          </a:p>
          <a:p>
            <a:pPr indent="0" marL="0">
              <a:buNone/>
            </a:pPr>
            <a:r>
              <a:rPr lang="en-US" sz="1200" b="0" i="0" dirty="0">
                <a:solidFill>
                  <a:srgbClr val="A4161A"/>
                </a:solidFill>
                <a:latin typeface="Calibri"/>
                <a:ea typeface="Calibri"/>
                <a:cs typeface="Calibri"/>
              </a:rPr>
              <a:t>• Future Scope: Real-time streaming segmentation on live POS data and automated enterprise CRM integration are intentionally reserved for future work.</a:t>
            </a:r>
          </a:p>
        </p:txBody>
      </p:sp>
      <p:sp>
        <p:nvSpPr>
          <p:cNvPr id="16" name="Text 14"/>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17" name="Text 15"/>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47472"/>
            <a:ext cx="10515600" cy="256032"/>
          </a:xfrm>
          <a:prstGeom prst="rect">
            <a:avLst/>
          </a:prstGeom>
          <a:noFill/>
          <a:ln/>
        </p:spPr>
        <p:txBody>
          <a:bodyPr wrap="square" lIns="0" tIns="0" rIns="0" bIns="0" rtlCol="0" anchor="ctr"/>
          <a:lstStyle/>
          <a:p>
            <a:pPr indent="0" marL="0">
              <a:buNone/>
            </a:pPr>
            <a:r>
              <a:rPr lang="en-US" sz="1050" b="1" spc="200" kern="0" dirty="0">
                <a:solidFill>
                  <a:srgbClr val="C8A02C"/>
                </a:solidFill>
                <a:latin typeface="Calibri" pitchFamily="34" charset="0"/>
                <a:ea typeface="Calibri" pitchFamily="34" charset="-122"/>
                <a:cs typeface="Calibri" pitchFamily="34" charset="-120"/>
              </a:rPr>
              <a:t>SECTION 12</a:t>
            </a:r>
            <a:endParaRPr lang="en-US" sz="1050" dirty="0"/>
          </a:p>
        </p:txBody>
      </p:sp>
      <p:sp>
        <p:nvSpPr>
          <p:cNvPr id="3" name="Text 1"/>
          <p:cNvSpPr txBox="1"/>
          <p:nvPr/>
        </p:nvSpPr>
        <p:spPr>
          <a:xfrm>
            <a:off x="548640" y="603504"/>
            <a:ext cx="11064240" cy="566928"/>
          </a:xfrm>
          <a:prstGeom prst="rect">
            <a:avLst/>
          </a:prstGeom>
          <a:noFill/>
          <a:ln/>
        </p:spPr>
        <p:txBody>
          <a:bodyPr wrap="square" lIns="0" tIns="0" rIns="0" bIns="0" rtlCol="0" anchor="ctr"/>
          <a:lstStyle/>
          <a:p>
            <a:pPr indent="0" marL="0">
              <a:buNone/>
            </a:pPr>
            <a:r>
              <a:rPr lang="en-US" sz="3100" b="1" dirty="0">
                <a:solidFill>
                  <a:srgbClr val="1B2A55"/>
                </a:solidFill>
                <a:latin typeface="Cambria" pitchFamily="34" charset="0"/>
                <a:ea typeface="Cambria" pitchFamily="34" charset="-122"/>
                <a:cs typeface="Cambria" pitchFamily="34" charset="-120"/>
              </a:rPr>
              <a:t>References</a:t>
            </a:r>
            <a:endParaRPr lang="en-US" sz="3100" dirty="0"/>
          </a:p>
        </p:txBody>
      </p:sp>
      <p:sp>
        <p:nvSpPr>
          <p:cNvPr id="4" name="Text 2"/>
          <p:cNvSpPr txBox="1"/>
          <p:nvPr/>
        </p:nvSpPr>
        <p:spPr>
          <a:xfrm>
            <a:off x="548640" y="1188720"/>
            <a:ext cx="11064240" cy="274320"/>
          </a:xfrm>
          <a:prstGeom prst="rect">
            <a:avLst/>
          </a:prstGeom>
          <a:noFill/>
          <a:ln/>
        </p:spPr>
        <p:txBody>
          <a:bodyPr wrap="square" lIns="0" tIns="0" rIns="0" bIns="0" rtlCol="0" anchor="ctr"/>
          <a:lstStyle/>
          <a:p>
            <a:pPr indent="0" marL="0">
              <a:buNone/>
            </a:pPr>
            <a:r>
              <a:rPr lang="en-US" sz="1050" b="0" i="0" dirty="0">
                <a:solidFill>
                  <a:srgbClr val="6B7280"/>
                </a:solidFill>
                <a:latin typeface="Calibri"/>
                <a:ea typeface="Calibri"/>
                <a:cs typeface="Calibri"/>
              </a:rPr>
              <a:t>IEEE style, numbered in citation order. Peer-reviewed research papers and dataset repository for Minor Project Review 1.</a:t>
            </a:r>
          </a:p>
        </p:txBody>
      </p:sp>
      <p:sp>
        <p:nvSpPr>
          <p:cNvPr id="5" name="Shape 3"/>
          <p:cNvSpPr/>
          <p:nvPr/>
        </p:nvSpPr>
        <p:spPr>
          <a:xfrm>
            <a:off x="548640" y="1572768"/>
            <a:ext cx="11064240" cy="3657600"/>
          </a:xfrm>
          <a:prstGeom prst="roundRect">
            <a:avLst>
              <a:gd name="adj" fmla="val 2000"/>
            </a:avLst>
          </a:prstGeom>
          <a:solidFill>
            <a:srgbClr val="F1F4F9"/>
          </a:solidFill>
          <a:ln w="12700">
            <a:solidFill>
              <a:srgbClr val="DDE3EC"/>
            </a:solidFill>
            <a:prstDash val="solid"/>
          </a:ln>
        </p:spPr>
      </p:sp>
      <p:sp>
        <p:nvSpPr>
          <p:cNvPr id="6" name="Text 4"/>
          <p:cNvSpPr txBox="1"/>
          <p:nvPr/>
        </p:nvSpPr>
        <p:spPr>
          <a:xfrm>
            <a:off x="868680" y="1783080"/>
            <a:ext cx="10424160" cy="3246120"/>
          </a:xfrm>
          <a:prstGeom prst="rect">
            <a:avLst/>
          </a:prstGeom>
          <a:noFill/>
          <a:ln/>
        </p:spPr>
        <p:txBody>
          <a:bodyPr wrap="square" lIns="0" tIns="0" rIns="0" bIns="0" rtlCol="0" anchor="ctr"/>
          <a:lstStyle/>
          <a:p>
            <a:pPr indent="0" marL="0">
              <a:buNone/>
              <a:spcAft>
                <a:spcPts val="200"/>
              </a:spcAft>
            </a:pPr>
            <a:r>
              <a:rPr lang="en-US" sz="950" b="0" i="0" dirty="0">
                <a:solidFill>
                  <a:srgbClr val="1F2430"/>
                </a:solidFill>
                <a:latin typeface="Calibri"/>
                <a:ea typeface="Calibri"/>
                <a:cs typeface="Calibri"/>
              </a:rPr>
              <a:t>[1]  A. Wani, M. Priyanka, and R. Prasath, "Unleashing Customer Insights: Segmentation Through Machine Learning," in Proc. World Conf. on Communication &amp; Computing (WCONF), Raipur, India, 2023, pp. 1–6.</a:t>
            </a:r>
          </a:p>
          <a:p>
            <a:pPr indent="0" marL="0">
              <a:buNone/>
              <a:spcAft>
                <a:spcPts val="200"/>
              </a:spcAft>
            </a:pPr>
            <a:r>
              <a:rPr lang="en-US" sz="950" b="0" i="0" dirty="0">
                <a:solidFill>
                  <a:srgbClr val="1F2430"/>
                </a:solidFill>
                <a:latin typeface="Calibri"/>
                <a:ea typeface="Calibri"/>
                <a:cs typeface="Calibri"/>
              </a:rPr>
              <a:t>[2]  D. Teslenko, A. Sorokina, K. Smelyakov, and O. Filipov, "Comparative Analysis of the Applicability of Five Clustering Algorithms for Market Segmentation," in Proc. IEEE Open Conf. of Electrical, Electronic and Information Sciences (eStream), Vilnius, Lithuania, 2023, pp. 1–5.</a:t>
            </a:r>
          </a:p>
          <a:p>
            <a:pPr indent="0" marL="0">
              <a:buNone/>
              <a:spcAft>
                <a:spcPts val="200"/>
              </a:spcAft>
            </a:pPr>
            <a:r>
              <a:rPr lang="en-US" sz="950" b="0" i="0" dirty="0">
                <a:solidFill>
                  <a:srgbClr val="1F2430"/>
                </a:solidFill>
                <a:latin typeface="Calibri"/>
                <a:ea typeface="Calibri"/>
                <a:cs typeface="Calibri"/>
              </a:rPr>
              <a:t>[3]  P. Li, C. Wang, J. Wu, and R. Madleňák, "An E-commerce Customer Segmentation Method based on RFM Weighted K-means," in Proc. Int. Conf. on Management Engineering, Software Engineering and Service Sciences (ICMSS), Wuhan, China, 2022, pp. 61–68.</a:t>
            </a:r>
          </a:p>
          <a:p>
            <a:pPr indent="0" marL="0">
              <a:buNone/>
              <a:spcAft>
                <a:spcPts val="200"/>
              </a:spcAft>
            </a:pPr>
            <a:r>
              <a:rPr lang="en-US" sz="950" b="0" i="0" dirty="0">
                <a:solidFill>
                  <a:srgbClr val="1F2430"/>
                </a:solidFill>
                <a:latin typeface="Calibri"/>
                <a:ea typeface="Calibri"/>
                <a:cs typeface="Calibri"/>
              </a:rPr>
              <a:t>[4]  O. Akande, A. O. Badmus, and B. S. Adekunle, "Customer Segmentation through RFM Analysis and K-means Clustering: Leveraging Data-Driven Insights for Effective Marketing Strategy," Ceddi J. Inf. Syst. Technol., vol. 2, no. 1, pp. 12–21, 2024.</a:t>
            </a:r>
          </a:p>
          <a:p>
            <a:pPr indent="0" marL="0">
              <a:buNone/>
              <a:spcAft>
                <a:spcPts val="200"/>
              </a:spcAft>
            </a:pPr>
            <a:r>
              <a:rPr lang="en-US" sz="950" b="0" i="0" dirty="0">
                <a:solidFill>
                  <a:srgbClr val="1F2430"/>
                </a:solidFill>
                <a:latin typeface="Calibri"/>
                <a:ea typeface="Calibri"/>
                <a:cs typeface="Calibri"/>
              </a:rPr>
              <a:t>[5]  Y. Huang, M. Zhang, and Y. He, "Research on Improved RFM Customer Segmentation Model Based on K-Means Algorithm," in Proc. IEEE Int. Conf. on Artificial Intelligence and Computer Applications (ICAICA), Dalian, China, 2020, pp. 1010–1014.</a:t>
            </a:r>
          </a:p>
          <a:p>
            <a:pPr indent="0" marL="0">
              <a:buNone/>
              <a:spcAft>
                <a:spcPts val="200"/>
              </a:spcAft>
            </a:pPr>
            <a:r>
              <a:rPr lang="en-US" sz="950" b="0" i="0" dirty="0">
                <a:solidFill>
                  <a:srgbClr val="1F2430"/>
                </a:solidFill>
                <a:latin typeface="Calibri"/>
                <a:ea typeface="Calibri"/>
                <a:cs typeface="Calibri"/>
              </a:rPr>
              <a:t>[6]  D. Chen, S. L. Sain, and K. Guo, "Data mining for the online retail industry: A case study of RFM model-based customer segmentation using data mining," J. Database Mark. Cust. Strategy Manag., vol. 19, no. 3, pp. 197–208, 2012.</a:t>
            </a:r>
          </a:p>
          <a:p>
            <a:pPr indent="0" marL="0">
              <a:buNone/>
              <a:spcAft>
                <a:spcPts val="200"/>
              </a:spcAft>
            </a:pPr>
            <a:r>
              <a:rPr lang="en-US" sz="950" b="0" i="0" dirty="0">
                <a:solidFill>
                  <a:srgbClr val="1F2430"/>
                </a:solidFill>
                <a:latin typeface="Calibri"/>
                <a:ea typeface="Calibri"/>
                <a:cs typeface="Calibri"/>
              </a:rPr>
              <a:t>[7]  D. Dua and C. Graff, "Online Retail Data Set," UCI Machine Learning Repository, University of California, Irvine, School of Information and Computer Sciences, 2019. [Online]. Available: https://archive.ics.uci.edu/dataset/352/online+retail</a:t>
            </a:r>
          </a:p>
          <a:p>
            <a:pPr indent="0" marL="0">
              <a:buNone/>
              <a:spcAft>
                <a:spcPts val="200"/>
              </a:spcAft>
            </a:pPr>
            <a:r>
              <a:rPr lang="en-US" sz="950" b="0" i="0" dirty="0">
                <a:solidFill>
                  <a:srgbClr val="1F2430"/>
                </a:solidFill>
                <a:latin typeface="Calibri"/>
                <a:ea typeface="Calibri"/>
                <a:cs typeface="Calibri"/>
              </a:rPr>
              <a:t>[8]  P. J. Rousseeuw, "Silhouettes: A graphical aid to the interpretation and validation of cluster analysis," J. Comput. Appl. Math., vol. 20, pp. 53–65, 1987.</a:t>
            </a:r>
          </a:p>
          <a:p>
            <a:pPr indent="0" marL="0">
              <a:buNone/>
              <a:spcAft>
                <a:spcPts val="200"/>
              </a:spcAft>
            </a:pPr>
            <a:r>
              <a:rPr lang="en-US" sz="950" b="0" i="0" dirty="0">
                <a:solidFill>
                  <a:srgbClr val="1F2430"/>
                </a:solidFill>
                <a:latin typeface="Calibri"/>
                <a:ea typeface="Calibri"/>
                <a:cs typeface="Calibri"/>
              </a:rPr>
              <a:t>[9]  J. MacQueen, "Some methods for classification and analysis of multivariate observations," in Proc. 5th Berkeley Symp. Math. Statist. Prob., vol. 1, 1967, pp. 281–297.</a:t>
            </a:r>
          </a:p>
        </p:txBody>
      </p:sp>
      <p:sp>
        <p:nvSpPr>
          <p:cNvPr id="7" name="Text 5"/>
          <p:cNvSpPr txBox="1"/>
          <p:nvPr/>
        </p:nvSpPr>
        <p:spPr>
          <a:xfrm>
            <a:off x="548640" y="5440680"/>
            <a:ext cx="11064240" cy="365760"/>
          </a:xfrm>
          <a:prstGeom prst="rect">
            <a:avLst/>
          </a:prstGeom>
          <a:noFill/>
          <a:ln/>
        </p:spPr>
        <p:txBody>
          <a:bodyPr wrap="square" lIns="0" tIns="0" rIns="0" bIns="0" rtlCol="0" anchor="ctr"/>
          <a:lstStyle/>
          <a:p>
            <a:pPr indent="0" marL="0">
              <a:buNone/>
            </a:pPr>
            <a:r>
              <a:rPr lang="en-US" sz="1150" b="1" i="0" dirty="0">
                <a:solidFill>
                  <a:srgbClr val="A4161A"/>
                </a:solidFill>
                <a:latin typeface="Calibri"/>
                <a:ea typeface="Calibri"/>
                <a:cs typeface="Calibri"/>
              </a:rPr>
              <a:t>Validation: All listed references are cited directly in the Literature Survey (Slide 5), Domain Context (Slide 3), and Methodology.</a:t>
            </a:r>
          </a:p>
        </p:txBody>
      </p:sp>
      <p:sp>
        <p:nvSpPr>
          <p:cNvPr id="8" name="Text 6"/>
          <p:cNvSpPr txBox="1"/>
          <p:nvPr/>
        </p:nvSpPr>
        <p:spPr>
          <a:xfrm>
            <a:off x="548640" y="6355080"/>
            <a:ext cx="6400800" cy="274320"/>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Dept. of CSE  |  KL University, Bachupally Campus</a:t>
            </a:r>
            <a:endParaRPr lang="en-US" sz="950" dirty="0"/>
          </a:p>
        </p:txBody>
      </p:sp>
      <p:sp>
        <p:nvSpPr>
          <p:cNvPr id="9" name="Text 7"/>
          <p:cNvSpPr txBox="1"/>
          <p:nvPr/>
        </p:nvSpPr>
        <p:spPr>
          <a:xfrm>
            <a:off x="11064240" y="6355080"/>
            <a:ext cx="548640" cy="274320"/>
          </a:xfrm>
          <a:prstGeom prst="rect">
            <a:avLst/>
          </a:prstGeom>
          <a:noFill/>
          <a:ln/>
        </p:spPr>
        <p:txBody>
          <a:bodyPr wrap="square" lIns="0" tIns="0" rIns="0" bIns="0" rtlCol="0" anchor="ctr"/>
          <a:lstStyle/>
          <a:p>
            <a:pPr algn="r" indent="0" marL="0">
              <a:buNone/>
            </a:pPr>
            <a:r>
              <a:rPr lang="en-US" sz="950" dirty="0">
                <a:solidFill>
                  <a:srgbClr val="6B7280"/>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01B3A"/>
        </a:solidFill>
      </p:bgPr>
    </p:bg>
    <p:spTree>
      <p:nvGrpSpPr>
        <p:cNvPr id="1" name=""/>
        <p:cNvGrpSpPr/>
        <p:nvPr/>
      </p:nvGrpSpPr>
      <p:grpSpPr>
        <a:xfrm>
          <a:off x="0" y="0"/>
          <a:ext cx="0" cy="0"/>
          <a:chOff x="0" y="0"/>
          <a:chExt cx="0" cy="0"/>
        </a:xfrm>
      </p:grpSpPr>
      <p:sp>
        <p:nvSpPr>
          <p:cNvPr id="2" name="Text 0"/>
          <p:cNvSpPr txBox="1"/>
          <p:nvPr/>
        </p:nvSpPr>
        <p:spPr>
          <a:xfrm>
            <a:off x="822960" y="2103120"/>
            <a:ext cx="10515600" cy="100584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Thank You</a:t>
            </a:r>
            <a:endParaRPr lang="en-US" sz="5200" dirty="0"/>
          </a:p>
        </p:txBody>
      </p:sp>
      <p:sp>
        <p:nvSpPr>
          <p:cNvPr id="3" name="Text 1"/>
          <p:cNvSpPr txBox="1"/>
          <p:nvPr/>
        </p:nvSpPr>
        <p:spPr>
          <a:xfrm>
            <a:off x="822960" y="3154680"/>
            <a:ext cx="10515600" cy="457200"/>
          </a:xfrm>
          <a:prstGeom prst="rect">
            <a:avLst/>
          </a:prstGeom>
          <a:noFill/>
          <a:ln/>
        </p:spPr>
        <p:txBody>
          <a:bodyPr wrap="square" lIns="0" tIns="0" rIns="0" bIns="0" rtlCol="0" anchor="ctr"/>
          <a:lstStyle/>
          <a:p>
            <a:pPr indent="0" marL="0">
              <a:buNone/>
            </a:pPr>
            <a:r>
              <a:rPr lang="en-US" sz="2000" dirty="0">
                <a:solidFill>
                  <a:srgbClr val="C8A02C"/>
                </a:solidFill>
                <a:latin typeface="Calibri" pitchFamily="34" charset="0"/>
                <a:ea typeface="Calibri" pitchFamily="34" charset="-122"/>
                <a:cs typeface="Calibri" pitchFamily="34" charset="-120"/>
              </a:rPr>
              <a:t>Questions &amp; Suggestions</a:t>
            </a:r>
            <a:endParaRPr lang="en-US" sz="2000" dirty="0"/>
          </a:p>
        </p:txBody>
      </p:sp>
      <p:sp>
        <p:nvSpPr>
          <p:cNvPr id="4" name="Shape 2"/>
          <p:cNvSpPr/>
          <p:nvPr/>
        </p:nvSpPr>
        <p:spPr>
          <a:xfrm>
            <a:off x="822960" y="3977640"/>
            <a:ext cx="2926080" cy="0"/>
          </a:xfrm>
          <a:prstGeom prst="line">
            <a:avLst/>
          </a:prstGeom>
          <a:noFill/>
          <a:ln w="25400">
            <a:solidFill>
              <a:srgbClr val="2E3F6E"/>
            </a:solidFill>
            <a:prstDash val="solid"/>
          </a:ln>
        </p:spPr>
      </p:sp>
      <p:sp>
        <p:nvSpPr>
          <p:cNvPr id="5" name="Text 3"/>
          <p:cNvSpPr txBox="1"/>
          <p:nvPr/>
        </p:nvSpPr>
        <p:spPr>
          <a:xfrm>
            <a:off x="822960" y="4251960"/>
            <a:ext cx="10515600" cy="365760"/>
          </a:xfrm>
          <a:prstGeom prst="rect">
            <a:avLst/>
          </a:prstGeom>
          <a:noFill/>
          <a:ln/>
        </p:spPr>
        <p:txBody>
          <a:bodyPr wrap="square" lIns="0" tIns="0" rIns="0" bIns="0" rtlCol="0" anchor="ctr"/>
          <a:lstStyle/>
          <a:p>
            <a:pPr indent="0" marL="0">
              <a:buNone/>
            </a:pPr>
            <a:r>
              <a:rPr lang="en-US" sz="1400" b="0" i="0" dirty="0">
                <a:solidFill>
                  <a:srgbClr val="AEBBD6"/>
                </a:solidFill>
                <a:latin typeface="Calibri"/>
                <a:ea typeface="Calibri"/>
                <a:cs typeface="Calibri"/>
              </a:rPr>
              <a:t>Team: [Student 1 &amp; Student 2]   |   Guide: [Faculty Guide Name]   |   Dept. of CSE, KLH Bachupally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Minor Project - Model Review Presentation</dc:title>
  <dc:subject>PptxGenJS Presentation</dc:subject>
  <dc:creator>Dept. of CSE, KLH Bachupally</dc:creator>
  <cp:lastModifiedBy>Dept. of CSE, KLH Bachupally</cp:lastModifiedBy>
  <cp:revision>1</cp:revision>
  <dcterms:created xsi:type="dcterms:W3CDTF">2026-09-16T05:47:29Z</dcterms:created>
  <dcterms:modified xsi:type="dcterms:W3CDTF">2026-09-16T05:47:29Z</dcterms:modified>
</cp:coreProperties>
</file>