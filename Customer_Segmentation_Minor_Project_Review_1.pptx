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4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module per team member works well - it also answers the panel question 'who did what'.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marL="0" indent="0">
              <a:buNone/>
            </a:pPr>
            <a:r>
              <a:rPr lang="en-US" sz="1150" b="1" kern="0" spc="20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marL="0" indent="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pPr marL="0" indent="0">
              <a:buNone/>
            </a:pPr>
            <a:r>
              <a:rPr lang="en-US" sz="3800" b="1" i="0" dirty="0">
                <a:solidFill>
                  <a:srgbClr val="FFFFFF"/>
                </a:solidFill>
                <a:latin typeface="Cambria"/>
                <a:ea typeface="Cambria"/>
                <a:cs typeface="Cambria"/>
              </a:rPr>
              <a:t>Customer Segmentation for Retail</a:t>
            </a:r>
          </a:p>
        </p:txBody>
      </p:sp>
      <p:sp>
        <p:nvSpPr>
          <p:cNvPr id="5" name="Text 3"/>
          <p:cNvSpPr txBox="1"/>
          <p:nvPr/>
        </p:nvSpPr>
        <p:spPr>
          <a:xfrm>
            <a:off x="640080" y="2542032"/>
            <a:ext cx="10881360" cy="274320"/>
          </a:xfrm>
          <a:prstGeom prst="rect">
            <a:avLst/>
          </a:prstGeom>
          <a:noFill/>
          <a:ln/>
        </p:spPr>
        <p:txBody>
          <a:bodyPr wrap="square" lIns="0" tIns="0" rIns="0" bIns="0" rtlCol="0" anchor="ctr"/>
          <a:lstStyle/>
          <a:p>
            <a:pPr marL="0" indent="0">
              <a:buNone/>
            </a:pPr>
            <a:r>
              <a:rPr lang="en-US" sz="1350" b="0" i="0" dirty="0">
                <a:solidFill>
                  <a:srgbClr val="C8A02C"/>
                </a:solidFill>
                <a:latin typeface="Calibri"/>
                <a:ea typeface="Calibri"/>
                <a:cs typeface="Calibri"/>
              </a:rPr>
              <a:t>Unsupervised Machine Learning for Retail Customer Behavioral Analysis</a:t>
            </a:r>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7" name="Text 5"/>
          <p:cNvSpPr txBox="1"/>
          <p:nvPr/>
        </p:nvSpPr>
        <p:spPr>
          <a:xfrm>
            <a:off x="868680" y="3364992"/>
            <a:ext cx="512064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marL="0" indent="0">
              <a:buNone/>
            </a:pPr>
            <a:r>
              <a:rPr lang="en-US" sz="1450" b="0" i="0" dirty="0">
                <a:solidFill>
                  <a:srgbClr val="FFFFFF"/>
                </a:solidFill>
                <a:latin typeface="Calibri"/>
                <a:ea typeface="Calibri"/>
                <a:cs typeface="Calibri"/>
              </a:rPr>
              <a:t>Student 1 Name   [Roll No. / ID]</a:t>
            </a:r>
          </a:p>
          <a:p>
            <a:pPr marL="0" indent="0">
              <a:buNone/>
            </a:pPr>
            <a:r>
              <a:rPr lang="en-US" sz="1450" b="0" i="0" dirty="0">
                <a:solidFill>
                  <a:srgbClr val="FFFFFF"/>
                </a:solidFill>
                <a:latin typeface="Calibri"/>
                <a:ea typeface="Calibri"/>
                <a:cs typeface="Calibri"/>
              </a:rPr>
              <a:t>Student 2 Name   [Roll No. / ID]</a:t>
            </a:r>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10" name="Text 8"/>
          <p:cNvSpPr txBox="1"/>
          <p:nvPr/>
        </p:nvSpPr>
        <p:spPr>
          <a:xfrm>
            <a:off x="6720840" y="3364992"/>
            <a:ext cx="457200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marL="0" indent="0">
              <a:buNone/>
            </a:pPr>
            <a:r>
              <a:rPr lang="en-US" sz="1600" b="1" i="0" dirty="0">
                <a:solidFill>
                  <a:srgbClr val="FFFFFF"/>
                </a:solidFill>
                <a:latin typeface="Calibri"/>
                <a:ea typeface="Calibri"/>
                <a:cs typeface="Calibri"/>
              </a:rPr>
              <a:t>[Faculty Guide Name]</a:t>
            </a:r>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marL="0" indent="0">
              <a:buNone/>
            </a:pPr>
            <a:r>
              <a:rPr lang="en-US" sz="1300" b="0" i="0" dirty="0">
                <a:solidFill>
                  <a:srgbClr val="AEBBD6"/>
                </a:solidFill>
                <a:latin typeface="Calibri"/>
                <a:ea typeface="Calibri"/>
                <a:cs typeface="Calibri"/>
              </a:rPr>
              <a:t>Assistant Professor, Department of CSE</a:t>
            </a:r>
          </a:p>
          <a:p>
            <a:pPr marL="0" indent="0">
              <a:buNone/>
            </a:pPr>
            <a:r>
              <a:rPr lang="en-US" sz="1300" b="0" i="0" dirty="0">
                <a:solidFill>
                  <a:srgbClr val="AEBBD6"/>
                </a:solidFill>
                <a:latin typeface="Calibri"/>
                <a:ea typeface="Calibri"/>
                <a:cs typeface="Calibri"/>
              </a:rPr>
              <a:t>KLH Bachupally Campus</a:t>
            </a:r>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marL="0" indent="0">
              <a:buNone/>
            </a:pPr>
            <a:r>
              <a:rPr lang="en-US" sz="1150" b="0" i="0" dirty="0">
                <a:solidFill>
                  <a:srgbClr val="8C9BBC"/>
                </a:solidFill>
                <a:latin typeface="Calibri"/>
                <a:ea typeface="Calibri"/>
                <a:cs typeface="Calibri"/>
              </a:rPr>
              <a:t>B.Tech II Year  |  Minor Project - Review 1  |  Academic Year 2026-27  |  KL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731520" y="1527048"/>
            <a:ext cx="384048" cy="384048"/>
          </a:xfrm>
          <a:prstGeom prst="ellipse">
            <a:avLst/>
          </a:prstGeom>
          <a:solidFill>
            <a:srgbClr val="C8A02C"/>
          </a:solidFill>
          <a:ln/>
        </p:spPr>
        <p:txBody>
          <a:bodyPr/>
          <a:lstStyle/>
          <a:p>
            <a:endParaRPr lang="en-IN"/>
          </a:p>
        </p:txBody>
      </p:sp>
      <p:sp>
        <p:nvSpPr>
          <p:cNvPr id="6" name="Text 4"/>
          <p:cNvSpPr txBox="1"/>
          <p:nvPr/>
        </p:nvSpPr>
        <p:spPr>
          <a:xfrm>
            <a:off x="73152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31520" y="2276856"/>
            <a:ext cx="384048" cy="384048"/>
          </a:xfrm>
          <a:prstGeom prst="ellipse">
            <a:avLst/>
          </a:prstGeom>
          <a:solidFill>
            <a:srgbClr val="C8A02C"/>
          </a:solidFill>
          <a:ln/>
        </p:spPr>
        <p:txBody>
          <a:bodyPr/>
          <a:lstStyle/>
          <a:p>
            <a:endParaRPr lang="en-IN"/>
          </a:p>
        </p:txBody>
      </p:sp>
      <p:sp>
        <p:nvSpPr>
          <p:cNvPr id="10" name="Text 8"/>
          <p:cNvSpPr txBox="1"/>
          <p:nvPr/>
        </p:nvSpPr>
        <p:spPr>
          <a:xfrm>
            <a:off x="73152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3" name="Shape 11"/>
          <p:cNvSpPr/>
          <p:nvPr/>
        </p:nvSpPr>
        <p:spPr>
          <a:xfrm>
            <a:off x="731520" y="3026664"/>
            <a:ext cx="384048" cy="384048"/>
          </a:xfrm>
          <a:prstGeom prst="ellipse">
            <a:avLst/>
          </a:prstGeom>
          <a:solidFill>
            <a:srgbClr val="C8A02C"/>
          </a:solidFill>
          <a:ln/>
        </p:spPr>
        <p:txBody>
          <a:bodyPr/>
          <a:lstStyle/>
          <a:p>
            <a:endParaRPr lang="en-IN"/>
          </a:p>
        </p:txBody>
      </p:sp>
      <p:sp>
        <p:nvSpPr>
          <p:cNvPr id="14" name="Text 12"/>
          <p:cNvSpPr txBox="1"/>
          <p:nvPr/>
        </p:nvSpPr>
        <p:spPr>
          <a:xfrm>
            <a:off x="73152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7" name="Shape 15"/>
          <p:cNvSpPr/>
          <p:nvPr/>
        </p:nvSpPr>
        <p:spPr>
          <a:xfrm>
            <a:off x="731520" y="3776472"/>
            <a:ext cx="384048" cy="384048"/>
          </a:xfrm>
          <a:prstGeom prst="ellipse">
            <a:avLst/>
          </a:prstGeom>
          <a:solidFill>
            <a:srgbClr val="C8A02C"/>
          </a:solidFill>
          <a:ln/>
        </p:spPr>
        <p:txBody>
          <a:bodyPr/>
          <a:lstStyle/>
          <a:p>
            <a:endParaRPr lang="en-IN"/>
          </a:p>
        </p:txBody>
      </p:sp>
      <p:sp>
        <p:nvSpPr>
          <p:cNvPr id="18" name="Text 16"/>
          <p:cNvSpPr txBox="1"/>
          <p:nvPr/>
        </p:nvSpPr>
        <p:spPr>
          <a:xfrm>
            <a:off x="73152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1" name="Shape 19"/>
          <p:cNvSpPr/>
          <p:nvPr/>
        </p:nvSpPr>
        <p:spPr>
          <a:xfrm>
            <a:off x="731520" y="4526280"/>
            <a:ext cx="384048" cy="384048"/>
          </a:xfrm>
          <a:prstGeom prst="ellipse">
            <a:avLst/>
          </a:prstGeom>
          <a:solidFill>
            <a:srgbClr val="C8A02C"/>
          </a:solidFill>
          <a:ln/>
        </p:spPr>
        <p:txBody>
          <a:bodyPr/>
          <a:lstStyle/>
          <a:p>
            <a:endParaRPr lang="en-IN"/>
          </a:p>
        </p:txBody>
      </p:sp>
      <p:sp>
        <p:nvSpPr>
          <p:cNvPr id="22" name="Text 20"/>
          <p:cNvSpPr txBox="1"/>
          <p:nvPr/>
        </p:nvSpPr>
        <p:spPr>
          <a:xfrm>
            <a:off x="73152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5" name="Shape 23"/>
          <p:cNvSpPr/>
          <p:nvPr/>
        </p:nvSpPr>
        <p:spPr>
          <a:xfrm>
            <a:off x="731520" y="5276088"/>
            <a:ext cx="384048" cy="384048"/>
          </a:xfrm>
          <a:prstGeom prst="ellipse">
            <a:avLst/>
          </a:prstGeom>
          <a:solidFill>
            <a:srgbClr val="C8A02C"/>
          </a:solidFill>
          <a:ln/>
        </p:spPr>
        <p:txBody>
          <a:bodyPr/>
          <a:lstStyle/>
          <a:p>
            <a:endParaRPr lang="en-IN"/>
          </a:p>
        </p:txBody>
      </p:sp>
      <p:sp>
        <p:nvSpPr>
          <p:cNvPr id="26" name="Text 24"/>
          <p:cNvSpPr txBox="1"/>
          <p:nvPr/>
        </p:nvSpPr>
        <p:spPr>
          <a:xfrm>
            <a:off x="731520" y="527608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9" name="Shape 27"/>
          <p:cNvSpPr/>
          <p:nvPr/>
        </p:nvSpPr>
        <p:spPr>
          <a:xfrm>
            <a:off x="6400800" y="1527048"/>
            <a:ext cx="384048" cy="384048"/>
          </a:xfrm>
          <a:prstGeom prst="ellipse">
            <a:avLst/>
          </a:prstGeom>
          <a:solidFill>
            <a:srgbClr val="C8A02C"/>
          </a:solidFill>
          <a:ln/>
        </p:spPr>
        <p:txBody>
          <a:bodyPr/>
          <a:lstStyle/>
          <a:p>
            <a:endParaRPr lang="en-IN"/>
          </a:p>
        </p:txBody>
      </p:sp>
      <p:sp>
        <p:nvSpPr>
          <p:cNvPr id="30" name="Text 28"/>
          <p:cNvSpPr txBox="1"/>
          <p:nvPr/>
        </p:nvSpPr>
        <p:spPr>
          <a:xfrm>
            <a:off x="640080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3" name="Shape 31"/>
          <p:cNvSpPr/>
          <p:nvPr/>
        </p:nvSpPr>
        <p:spPr>
          <a:xfrm>
            <a:off x="6400800" y="2276856"/>
            <a:ext cx="384048" cy="384048"/>
          </a:xfrm>
          <a:prstGeom prst="ellipse">
            <a:avLst/>
          </a:prstGeom>
          <a:solidFill>
            <a:srgbClr val="C8A02C"/>
          </a:solidFill>
          <a:ln/>
        </p:spPr>
        <p:txBody>
          <a:bodyPr/>
          <a:lstStyle/>
          <a:p>
            <a:endParaRPr lang="en-IN"/>
          </a:p>
        </p:txBody>
      </p:sp>
      <p:sp>
        <p:nvSpPr>
          <p:cNvPr id="34" name="Text 32"/>
          <p:cNvSpPr txBox="1"/>
          <p:nvPr/>
        </p:nvSpPr>
        <p:spPr>
          <a:xfrm>
            <a:off x="640080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7" name="Shape 35"/>
          <p:cNvSpPr/>
          <p:nvPr/>
        </p:nvSpPr>
        <p:spPr>
          <a:xfrm>
            <a:off x="6400800" y="3026664"/>
            <a:ext cx="384048" cy="384048"/>
          </a:xfrm>
          <a:prstGeom prst="ellipse">
            <a:avLst/>
          </a:prstGeom>
          <a:solidFill>
            <a:srgbClr val="C8A02C"/>
          </a:solidFill>
          <a:ln/>
        </p:spPr>
        <p:txBody>
          <a:bodyPr/>
          <a:lstStyle/>
          <a:p>
            <a:endParaRPr lang="en-IN"/>
          </a:p>
        </p:txBody>
      </p:sp>
      <p:sp>
        <p:nvSpPr>
          <p:cNvPr id="38" name="Text 36"/>
          <p:cNvSpPr txBox="1"/>
          <p:nvPr/>
        </p:nvSpPr>
        <p:spPr>
          <a:xfrm>
            <a:off x="640080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1" name="Shape 39"/>
          <p:cNvSpPr/>
          <p:nvPr/>
        </p:nvSpPr>
        <p:spPr>
          <a:xfrm>
            <a:off x="6400800" y="3776472"/>
            <a:ext cx="384048" cy="384048"/>
          </a:xfrm>
          <a:prstGeom prst="ellipse">
            <a:avLst/>
          </a:prstGeom>
          <a:solidFill>
            <a:srgbClr val="C8A02C"/>
          </a:solidFill>
          <a:ln/>
        </p:spPr>
        <p:txBody>
          <a:bodyPr/>
          <a:lstStyle/>
          <a:p>
            <a:endParaRPr lang="en-IN"/>
          </a:p>
        </p:txBody>
      </p:sp>
      <p:sp>
        <p:nvSpPr>
          <p:cNvPr id="42" name="Text 40"/>
          <p:cNvSpPr txBox="1"/>
          <p:nvPr/>
        </p:nvSpPr>
        <p:spPr>
          <a:xfrm>
            <a:off x="640080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Timeline &amp; Review Plan</a:t>
            </a:r>
            <a:endParaRPr lang="en-US" sz="14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5" name="Shape 43"/>
          <p:cNvSpPr/>
          <p:nvPr/>
        </p:nvSpPr>
        <p:spPr>
          <a:xfrm>
            <a:off x="6400800" y="4526280"/>
            <a:ext cx="384048" cy="384048"/>
          </a:xfrm>
          <a:prstGeom prst="ellipse">
            <a:avLst/>
          </a:prstGeom>
          <a:solidFill>
            <a:srgbClr val="C8A02C"/>
          </a:solidFill>
          <a:ln/>
        </p:spPr>
        <p:txBody>
          <a:bodyPr/>
          <a:lstStyle/>
          <a:p>
            <a:endParaRPr lang="en-IN"/>
          </a:p>
        </p:txBody>
      </p:sp>
      <p:sp>
        <p:nvSpPr>
          <p:cNvPr id="46" name="Text 44"/>
          <p:cNvSpPr txBox="1"/>
          <p:nvPr/>
        </p:nvSpPr>
        <p:spPr>
          <a:xfrm>
            <a:off x="640080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9" name="Shape 47"/>
          <p:cNvSpPr/>
          <p:nvPr/>
        </p:nvSpPr>
        <p:spPr>
          <a:xfrm>
            <a:off x="6400800" y="5276088"/>
            <a:ext cx="384048" cy="384048"/>
          </a:xfrm>
          <a:prstGeom prst="ellipse">
            <a:avLst/>
          </a:prstGeom>
          <a:solidFill>
            <a:srgbClr val="C8A02C"/>
          </a:solidFill>
          <a:ln/>
        </p:spPr>
        <p:txBody>
          <a:bodyPr/>
          <a:lstStyle/>
          <a:p>
            <a:endParaRPr lang="en-IN"/>
          </a:p>
        </p:txBody>
      </p:sp>
      <p:sp>
        <p:nvSpPr>
          <p:cNvPr id="50" name="Text 48"/>
          <p:cNvSpPr txBox="1"/>
          <p:nvPr/>
        </p:nvSpPr>
        <p:spPr>
          <a:xfrm>
            <a:off x="6400800" y="527608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12</a:t>
            </a:r>
            <a:endParaRPr lang="en-US" sz="1300"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68680" y="1691640"/>
            <a:ext cx="6035040" cy="3931920"/>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What is the domain?</a:t>
            </a:r>
          </a:p>
          <a:p>
            <a:pPr marL="0" indent="0">
              <a:buNone/>
            </a:pPr>
            <a:r>
              <a:rPr lang="en-US" sz="1200" b="0" i="0" dirty="0">
                <a:solidFill>
                  <a:srgbClr val="1F2430"/>
                </a:solidFill>
                <a:latin typeface="Calibri"/>
                <a:ea typeface="Calibri"/>
                <a:cs typeface="Calibri"/>
              </a:rPr>
              <a:t>Modern retail and e-commerce enterprises generate massive volumes of customer transaction data daily. Customer purchasing behaviors vary substantially across frequency, timing, and expenditure. Treating all customers uniformly leads to suboptimal marketing efficiency and customer attrition.</a:t>
            </a:r>
          </a:p>
          <a:p>
            <a:pPr marL="0" indent="0">
              <a:buNone/>
            </a:pPr>
            <a:r>
              <a:rPr lang="en-US" sz="1450" b="1" i="0" dirty="0">
                <a:solidFill>
                  <a:srgbClr val="1B2A55"/>
                </a:solidFill>
                <a:latin typeface="Calibri"/>
                <a:ea typeface="Calibri"/>
                <a:cs typeface="Calibri"/>
              </a:rPr>
              <a:t>Why is it relevant today?</a:t>
            </a:r>
          </a:p>
          <a:p>
            <a:pPr marL="0" indent="0">
              <a:buNone/>
            </a:pPr>
            <a:r>
              <a:rPr lang="en-US" sz="1200" b="0" i="0" dirty="0">
                <a:solidFill>
                  <a:srgbClr val="1F2430"/>
                </a:solidFill>
                <a:latin typeface="Calibri"/>
                <a:ea typeface="Calibri"/>
                <a:cs typeface="Calibri"/>
              </a:rPr>
              <a:t>Studies in retail analytics indicate that acquiring a new customer costs up to 5 times more than retaining an existing customer [6]. Automated customer segmentation enables personalized marketing campaigns, improves retention rates, and maximizes customer lifetime value.</a:t>
            </a:r>
          </a:p>
          <a:p>
            <a:pPr marL="0" indent="0">
              <a:buNone/>
            </a:pPr>
            <a:r>
              <a:rPr lang="en-US" sz="1450" b="1" i="0" dirty="0">
                <a:solidFill>
                  <a:srgbClr val="1B2A55"/>
                </a:solidFill>
                <a:latin typeface="Calibri"/>
                <a:ea typeface="Calibri"/>
                <a:cs typeface="Calibri"/>
              </a:rPr>
              <a:t>Where does our project sit?</a:t>
            </a:r>
          </a:p>
          <a:p>
            <a:pPr marL="0" indent="0">
              <a:buNone/>
            </a:pPr>
            <a:r>
              <a:rPr lang="en-US" sz="1200" b="0" i="0" dirty="0">
                <a:solidFill>
                  <a:srgbClr val="1F2430"/>
                </a:solidFill>
                <a:latin typeface="Calibri"/>
                <a:ea typeface="Calibri"/>
                <a:cs typeface="Calibri"/>
              </a:rPr>
              <a:t>Our project applies unsupervised machine learning to retail transaction logs to discover natural customer cohorts using Recency, Frequency, and Monetary (RFM) behavioral feature extraction and clustering algorithms.</a:t>
            </a:r>
          </a:p>
        </p:txBody>
      </p:sp>
      <p:sp>
        <p:nvSpPr>
          <p:cNvPr id="6" name="Shape 4"/>
          <p:cNvSpPr/>
          <p:nvPr/>
        </p:nvSpPr>
        <p:spPr>
          <a:xfrm>
            <a:off x="7406640" y="1417320"/>
            <a:ext cx="4206240" cy="2834640"/>
          </a:xfrm>
          <a:prstGeom prst="roundRect">
            <a:avLst>
              <a:gd name="adj" fmla="val 2581"/>
            </a:avLst>
          </a:prstGeom>
          <a:solidFill>
            <a:srgbClr val="FFFFFF"/>
          </a:solidFill>
          <a:ln w="12700">
            <a:solidFill>
              <a:srgbClr val="9AA5B8"/>
            </a:solidFill>
            <a:prstDash val="dash"/>
          </a:ln>
        </p:spPr>
        <p:txBody>
          <a:bodyPr/>
          <a:lstStyle/>
          <a:p>
            <a:endParaRPr lang="en-IN"/>
          </a:p>
        </p:txBody>
      </p:sp>
      <p:sp>
        <p:nvSpPr>
          <p:cNvPr id="7" name="Text 5"/>
          <p:cNvSpPr txBox="1"/>
          <p:nvPr/>
        </p:nvSpPr>
        <p:spPr>
          <a:xfrm>
            <a:off x="7543800" y="1417320"/>
            <a:ext cx="3931920" cy="2834640"/>
          </a:xfrm>
          <a:prstGeom prst="rect">
            <a:avLst/>
          </a:prstGeom>
          <a:noFill/>
          <a:ln/>
        </p:spPr>
        <p:txBody>
          <a:bodyPr wrap="square" lIns="0" tIns="0" rIns="0" bIns="0" rtlCol="0" anchor="ctr"/>
          <a:lstStyle/>
          <a:p>
            <a:pPr marL="0" indent="0">
              <a:buNone/>
            </a:pPr>
            <a:r>
              <a:rPr lang="en-US" sz="1300" b="1" i="0" dirty="0">
                <a:solidFill>
                  <a:srgbClr val="1B2A55"/>
                </a:solidFill>
                <a:latin typeface="Calibri"/>
                <a:ea typeface="Calibri"/>
                <a:cs typeface="Calibri"/>
              </a:rPr>
              <a:t>RFM BEHAVIORAL MODEL</a:t>
            </a:r>
          </a:p>
          <a:p>
            <a:pPr marL="0" indent="0">
              <a:buNone/>
            </a:pPr>
            <a:r>
              <a:rPr lang="en-US" sz="1100" b="0" i="0" dirty="0">
                <a:solidFill>
                  <a:srgbClr val="1F2430"/>
                </a:solidFill>
                <a:latin typeface="Calibri"/>
                <a:ea typeface="Calibri"/>
                <a:cs typeface="Calibri"/>
              </a:rPr>
              <a:t>• Recency (R): Days since last purchase; distinguishes active from churning buyers.</a:t>
            </a:r>
          </a:p>
          <a:p>
            <a:pPr marL="0" indent="0">
              <a:buNone/>
            </a:pPr>
            <a:r>
              <a:rPr lang="en-US" sz="1100" b="0" i="0" dirty="0">
                <a:solidFill>
                  <a:srgbClr val="1F2430"/>
                </a:solidFill>
                <a:latin typeface="Calibri"/>
                <a:ea typeface="Calibri"/>
                <a:cs typeface="Calibri"/>
              </a:rPr>
              <a:t>• Frequency (F): Total count of purchases; measures brand engagement and loyalty.</a:t>
            </a:r>
          </a:p>
          <a:p>
            <a:pPr marL="0" indent="0">
              <a:buNone/>
            </a:pPr>
            <a:r>
              <a:rPr lang="en-US" sz="1100" b="0" i="0" dirty="0">
                <a:solidFill>
                  <a:srgbClr val="1F2430"/>
                </a:solidFill>
                <a:latin typeface="Calibri"/>
                <a:ea typeface="Calibri"/>
                <a:cs typeface="Calibri"/>
              </a:rPr>
              <a:t>• Monetary (M): Cumulative amount spent; identifies top revenue-generating customers.</a:t>
            </a:r>
          </a:p>
          <a:p>
            <a:pPr marL="0" indent="0">
              <a:buNone/>
            </a:pPr>
            <a:r>
              <a:rPr lang="en-US" sz="1050" b="0" i="1" dirty="0">
                <a:solidFill>
                  <a:srgbClr val="1B2A55"/>
                </a:solidFill>
                <a:latin typeface="Calibri"/>
                <a:ea typeface="Calibri"/>
                <a:cs typeface="Calibri"/>
              </a:rPr>
              <a:t>Unsupervised Clustering discovers organic customer segments directly from these behavioral vectors without predefined labels.</a:t>
            </a:r>
          </a:p>
        </p:txBody>
      </p:sp>
      <p:sp>
        <p:nvSpPr>
          <p:cNvPr id="8" name="Shape 6"/>
          <p:cNvSpPr/>
          <p:nvPr/>
        </p:nvSpPr>
        <p:spPr>
          <a:xfrm>
            <a:off x="7406640" y="4434840"/>
            <a:ext cx="4206240" cy="1463040"/>
          </a:xfrm>
          <a:prstGeom prst="roundRect">
            <a:avLst>
              <a:gd name="adj" fmla="val 5000"/>
            </a:avLst>
          </a:prstGeom>
          <a:solidFill>
            <a:srgbClr val="FDF6E6"/>
          </a:solidFill>
          <a:ln w="12700">
            <a:solidFill>
              <a:srgbClr val="DDE3EC"/>
            </a:solidFill>
            <a:prstDash val="solid"/>
          </a:ln>
        </p:spPr>
        <p:txBody>
          <a:bodyPr/>
          <a:lstStyle/>
          <a:p>
            <a:endParaRPr lang="en-IN"/>
          </a:p>
        </p:txBody>
      </p:sp>
      <p:sp>
        <p:nvSpPr>
          <p:cNvPr id="9" name="Text 7"/>
          <p:cNvSpPr txBox="1"/>
          <p:nvPr/>
        </p:nvSpPr>
        <p:spPr>
          <a:xfrm>
            <a:off x="7635240" y="4572000"/>
            <a:ext cx="3749040" cy="256032"/>
          </a:xfrm>
          <a:prstGeom prst="rect">
            <a:avLst/>
          </a:prstGeom>
          <a:noFill/>
          <a:ln/>
        </p:spPr>
        <p:txBody>
          <a:bodyPr wrap="square" lIns="0" tIns="0" rIns="0" bIns="0" rtlCol="0" anchor="ctr"/>
          <a:lstStyle/>
          <a:p>
            <a:pPr marL="0" indent="0">
              <a:buNone/>
            </a:pPr>
            <a:r>
              <a:rPr lang="en-US" sz="1050" b="1" i="0" dirty="0">
                <a:solidFill>
                  <a:srgbClr val="A4161A"/>
                </a:solidFill>
                <a:latin typeface="Calibri"/>
                <a:ea typeface="Calibri"/>
                <a:cs typeface="Calibri"/>
              </a:rPr>
              <a:t>Project Grounding</a:t>
            </a:r>
          </a:p>
        </p:txBody>
      </p:sp>
      <p:sp>
        <p:nvSpPr>
          <p:cNvPr id="10" name="Text 8"/>
          <p:cNvSpPr txBox="1"/>
          <p:nvPr/>
        </p:nvSpPr>
        <p:spPr>
          <a:xfrm>
            <a:off x="7635240" y="4864608"/>
            <a:ext cx="3749040" cy="86868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All domain insights and customer retention benchmarks are grounded in peer-reviewed retail analytics literature [1], [6].</a:t>
            </a:r>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txBody>
          <a:bodyPr/>
          <a:lstStyle/>
          <a:p>
            <a:endParaRPr lang="en-IN"/>
          </a:p>
        </p:txBody>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txBody>
          <a:bodyPr/>
          <a:lstStyle/>
          <a:p>
            <a:endParaRPr lang="en-IN"/>
          </a:p>
        </p:txBody>
      </p:sp>
      <p:sp>
        <p:nvSpPr>
          <p:cNvPr id="6" name="Text 4"/>
          <p:cNvSpPr txBox="1"/>
          <p:nvPr/>
        </p:nvSpPr>
        <p:spPr>
          <a:xfrm>
            <a:off x="914400" y="1627632"/>
            <a:ext cx="10424160" cy="256032"/>
          </a:xfrm>
          <a:prstGeom prst="rect">
            <a:avLst/>
          </a:prstGeom>
          <a:noFill/>
          <a:ln/>
        </p:spPr>
        <p:txBody>
          <a:bodyPr wrap="square" lIns="0" tIns="0" rIns="0" bIns="0" rtlCol="0" anchor="ctr"/>
          <a:lstStyle/>
          <a:p>
            <a:pPr marL="0" indent="0">
              <a:buNone/>
            </a:pPr>
            <a:r>
              <a:rPr lang="en-US" sz="1050" b="1" i="0" dirty="0">
                <a:solidFill>
                  <a:srgbClr val="A4161A"/>
                </a:solidFill>
                <a:latin typeface="Calibri"/>
                <a:ea typeface="Calibri"/>
                <a:cs typeface="Calibri"/>
              </a:rPr>
              <a:t>PROBLEM STATEMENT</a:t>
            </a:r>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marL="0" indent="0">
              <a:buNone/>
            </a:pPr>
            <a:r>
              <a:rPr lang="en-US" sz="1750" b="1" i="0" dirty="0">
                <a:solidFill>
                  <a:srgbClr val="1B2A55"/>
                </a:solidFill>
                <a:latin typeface="Cambria"/>
                <a:ea typeface="Cambria"/>
                <a:cs typeface="Cambria"/>
              </a:rPr>
              <a:t>"Retail businesses often struggle to identify distinct customer groups from large, high-dimensional transaction datasets, which limits their ability to design targeted marketing and customer retention strategies."</a:t>
            </a:r>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77240" y="3520440"/>
            <a:ext cx="384048" cy="384048"/>
          </a:xfrm>
          <a:prstGeom prst="ellipse">
            <a:avLst/>
          </a:prstGeom>
          <a:solidFill>
            <a:srgbClr val="C8A02C"/>
          </a:solidFill>
          <a:ln/>
        </p:spPr>
        <p:txBody>
          <a:bodyPr/>
          <a:lstStyle/>
          <a:p>
            <a:endParaRPr lang="en-IN"/>
          </a:p>
        </p:txBody>
      </p:sp>
      <p:sp>
        <p:nvSpPr>
          <p:cNvPr id="10" name="Text 8"/>
          <p:cNvSpPr txBox="1"/>
          <p:nvPr/>
        </p:nvSpPr>
        <p:spPr>
          <a:xfrm>
            <a:off x="77724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Who is affected?</a:t>
            </a:r>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marL="0" indent="0">
              <a:buNone/>
            </a:pPr>
            <a:r>
              <a:rPr lang="en-US" sz="1200" b="0" i="0" dirty="0">
                <a:solidFill>
                  <a:srgbClr val="1F2430"/>
                </a:solidFill>
                <a:latin typeface="Calibri"/>
                <a:ea typeface="Calibri"/>
                <a:cs typeface="Calibri"/>
              </a:rPr>
              <a:t>Retail enterprises, e-commerce businesses, CRM managers, and marketing strategists seeking data-driven customer retention and personalized engagement.</a:t>
            </a:r>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4526280" y="3520440"/>
            <a:ext cx="384048" cy="384048"/>
          </a:xfrm>
          <a:prstGeom prst="ellipse">
            <a:avLst/>
          </a:prstGeom>
          <a:solidFill>
            <a:srgbClr val="C8A02C"/>
          </a:solidFill>
          <a:ln/>
        </p:spPr>
        <p:txBody>
          <a:bodyPr/>
          <a:lstStyle/>
          <a:p>
            <a:endParaRPr lang="en-IN"/>
          </a:p>
        </p:txBody>
      </p:sp>
      <p:sp>
        <p:nvSpPr>
          <p:cNvPr id="15" name="Text 13"/>
          <p:cNvSpPr txBox="1"/>
          <p:nvPr/>
        </p:nvSpPr>
        <p:spPr>
          <a:xfrm>
            <a:off x="452628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What is the cost of the problem?</a:t>
            </a:r>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marL="0" indent="0">
              <a:buNone/>
            </a:pPr>
            <a:r>
              <a:rPr lang="en-US" sz="1200" b="0" i="0" dirty="0">
                <a:solidFill>
                  <a:srgbClr val="1F2430"/>
                </a:solidFill>
                <a:latin typeface="Calibri"/>
                <a:ea typeface="Calibri"/>
                <a:cs typeface="Calibri"/>
              </a:rPr>
              <a:t>Generic one-size-fits-all marketing wastes advertising budgets, fails to prevent customer churn among at-risk buyers, and misses opportunities to reward high-value loyal customers.</a:t>
            </a:r>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9" name="Shape 17"/>
          <p:cNvSpPr/>
          <p:nvPr/>
        </p:nvSpPr>
        <p:spPr>
          <a:xfrm>
            <a:off x="8275320" y="3520440"/>
            <a:ext cx="384048" cy="384048"/>
          </a:xfrm>
          <a:prstGeom prst="ellipse">
            <a:avLst/>
          </a:prstGeom>
          <a:solidFill>
            <a:srgbClr val="C8A02C"/>
          </a:solidFill>
          <a:ln/>
        </p:spPr>
        <p:txBody>
          <a:bodyPr/>
          <a:lstStyle/>
          <a:p>
            <a:endParaRPr lang="en-IN"/>
          </a:p>
        </p:txBody>
      </p:sp>
      <p:sp>
        <p:nvSpPr>
          <p:cNvPr id="20" name="Text 18"/>
          <p:cNvSpPr txBox="1"/>
          <p:nvPr/>
        </p:nvSpPr>
        <p:spPr>
          <a:xfrm>
            <a:off x="827532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Why solve it now?</a:t>
            </a:r>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marL="0" indent="0">
              <a:buNone/>
            </a:pPr>
            <a:r>
              <a:rPr lang="en-US" sz="1200" b="0" i="0" dirty="0">
                <a:solidFill>
                  <a:srgbClr val="1F2430"/>
                </a:solidFill>
                <a:latin typeface="Calibri"/>
                <a:ea typeface="Calibri"/>
                <a:cs typeface="Calibri"/>
              </a:rPr>
              <a:t>Transaction volumes make manual segmentation impossible; unsupervised ML automatically uncovers customer behavioral cohorts directly from transaction logs without human bias.</a:t>
            </a:r>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b="0" i="0" dirty="0">
                <a:solidFill>
                  <a:srgbClr val="6B7280"/>
                </a:solidFill>
                <a:latin typeface="Calibri"/>
                <a:ea typeface="Calibri"/>
                <a:cs typeface="Calibri"/>
              </a:rPr>
              <a:t>Comparative analysis of 4 key recent academic papers (2020–2024) establishing the foundation for retail customer segmentation.</a:t>
            </a: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3291840"/>
        </p:xfrm>
        <a:graphic>
          <a:graphicData uri="http://schemas.openxmlformats.org/drawingml/2006/table">
            <a:tbl>
              <a:tblPr/>
              <a:tblGrid>
                <a:gridCol w="548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411480">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buNone/>
                      </a:pPr>
                      <a:r>
                        <a:rPr lang="en-US" sz="1000" b="1" dirty="0">
                          <a:solidFill>
                            <a:srgbClr val="1F2430"/>
                          </a:solidFill>
                          <a:latin typeface="Calibri"/>
                        </a:rPr>
                        <a:t>1</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Wani et al. (2023) [1]</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Unleashing Customer Insights: Segmentation Through Machine Learning (K-Means on RFM)</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Retail Transaction Data / Python, Scikit-learn</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Successfully segmented retail customers into behavioral cohorts; optimized K using Elbow method to boost marketing efficiency.</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Relied strictly on standard K-Means without comparative evaluation against hierarchical algorithms; minimal 2D visual projection.</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000" b="1" dirty="0">
                          <a:solidFill>
                            <a:srgbClr val="1F2430"/>
                          </a:solidFill>
                          <a:latin typeface="Calibri"/>
                        </a:rPr>
                        <a:t>2</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Teslenko et al. (2023) [2]</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Comparative Analysis of Five Clustering Algorithms for Market Segmentation</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E-Commerce Customer Records / Scikit-learn, NumPy</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Benchmarked K-Means, Agglomerative, and DBSCAN; showed K-Means speed and Agglomerative hierarchy depth for customer groupings.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Focused purely on mathematical clustering metrics without RFM feature extraction or translating clusters into retail business personas.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000" b="1" dirty="0">
                          <a:solidFill>
                            <a:srgbClr val="1F2430"/>
                          </a:solidFill>
                          <a:latin typeface="Calibri"/>
                        </a:rPr>
                        <a:t>3</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Li et al. (2022) [3]</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E-commerce Customer Segmentation based on RFM Weighted K-means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E-commerce Transaction Logs / Python, Scikit-learn</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Weighting RFM features improved cluster compactness and differentiated high-spend customer tiers over raw transactional attributes.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Did not incorporate PCA dimensionality reduction to visualize high-dimensional customer boundaries for non-technical stakeholders.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000" b="1" dirty="0">
                          <a:solidFill>
                            <a:srgbClr val="1F2430"/>
                          </a:solidFill>
                          <a:latin typeface="Calibri"/>
                        </a:rPr>
                        <a:t>4</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Akande et al. (2024) [4]</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Customer Segmentation through RFM Analysis and K-means Clustering</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00" b="0" dirty="0">
                          <a:solidFill>
                            <a:srgbClr val="1F2430"/>
                          </a:solidFill>
                          <a:latin typeface="Calibri"/>
                        </a:rPr>
                        <a:t>UCI Online Retail Dataset / Python, Pandas, Seaborn</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Derived RFM metrics from raw retail transactions; validated cluster partitions using Elbow inertia and Silhouette analysis.</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b="0" dirty="0">
                          <a:solidFill>
                            <a:srgbClr val="1F2430"/>
                          </a:solidFill>
                          <a:latin typeface="Calibri"/>
                        </a:rPr>
                        <a:t>Examined K-Means in isolation without hierarchical dendrogram validation, and lacked a systematic framework for business persona profiling.</a:t>
                      </a:r>
                    </a:p>
                  </a:txBody>
                  <a:tcPr marL="54864" marR="54864">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3"/>
          <p:cNvSpPr txBox="1"/>
          <p:nvPr/>
        </p:nvSpPr>
        <p:spPr>
          <a:xfrm>
            <a:off x="548640" y="5440680"/>
            <a:ext cx="11064240" cy="32004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All identified limitations directly inform the research gaps addressed in Section 4 (Additional literature studied: [5]–[9]).</a:t>
            </a:r>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68680" y="1591056"/>
            <a:ext cx="1828800" cy="237744"/>
          </a:xfrm>
          <a:prstGeom prst="rect">
            <a:avLst/>
          </a:prstGeom>
          <a:noFill/>
          <a:ln/>
        </p:spPr>
        <p:txBody>
          <a:bodyPr wrap="square" lIns="0" tIns="0" rIns="0" bIns="0" rtlCol="0" anchor="ctr"/>
          <a:lstStyle/>
          <a:p>
            <a:pPr marL="0" indent="0">
              <a:buNone/>
            </a:pPr>
            <a:r>
              <a:rPr lang="en-US" sz="1050" b="1" i="0" dirty="0">
                <a:solidFill>
                  <a:srgbClr val="A4161A"/>
                </a:solidFill>
                <a:latin typeface="Calibri"/>
                <a:ea typeface="Calibri"/>
                <a:cs typeface="Calibri"/>
              </a:rPr>
              <a:t>GAP 1: DATA &amp; FEATURE ENGINEERING</a:t>
            </a:r>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Existing studies often cluster raw transaction summaries or unweighted features without standardizing skewed RFM behavioral distributions, causing centroid bias toward extreme monetary values (Li et al., 2022; Akande et al., 2024).</a:t>
            </a:r>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868680" y="2734056"/>
            <a:ext cx="1828800" cy="237744"/>
          </a:xfrm>
          <a:prstGeom prst="rect">
            <a:avLst/>
          </a:prstGeom>
          <a:noFill/>
          <a:ln/>
        </p:spPr>
        <p:txBody>
          <a:bodyPr wrap="square" lIns="0" tIns="0" rIns="0" bIns="0" rtlCol="0" anchor="ctr"/>
          <a:lstStyle/>
          <a:p>
            <a:pPr marL="0" indent="0">
              <a:buNone/>
            </a:pPr>
            <a:r>
              <a:rPr lang="en-US" sz="1050" b="1" i="0" dirty="0">
                <a:solidFill>
                  <a:srgbClr val="A4161A"/>
                </a:solidFill>
                <a:latin typeface="Calibri"/>
                <a:ea typeface="Calibri"/>
                <a:cs typeface="Calibri"/>
              </a:rPr>
              <a:t>GAP 2: METHODOLOGY &amp; COMPARISON</a:t>
            </a:r>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Most retail segmentation models rely exclusively on standard K-Means without comparative evaluation against hierarchical clustering, leaving cluster stability, tree hierarchies, and sensitivity to centroid initialization unverified (Wani et al., 2023).</a:t>
            </a:r>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68680" y="3877056"/>
            <a:ext cx="1828800" cy="237744"/>
          </a:xfrm>
          <a:prstGeom prst="rect">
            <a:avLst/>
          </a:prstGeom>
          <a:noFill/>
          <a:ln/>
        </p:spPr>
        <p:txBody>
          <a:bodyPr wrap="square" lIns="0" tIns="0" rIns="0" bIns="0" rtlCol="0" anchor="ctr"/>
          <a:lstStyle/>
          <a:p>
            <a:pPr marL="0" indent="0">
              <a:buNone/>
            </a:pPr>
            <a:r>
              <a:rPr lang="en-US" sz="1050" b="1" i="0" dirty="0">
                <a:solidFill>
                  <a:srgbClr val="A4161A"/>
                </a:solidFill>
                <a:latin typeface="Calibri"/>
                <a:ea typeface="Calibri"/>
                <a:cs typeface="Calibri"/>
              </a:rPr>
              <a:t>GAP 3: VISUALIZATION &amp; INTERPRETATION</a:t>
            </a:r>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Prior works output mathematical cluster labels but lack 2D PCA dimensionality reduction visualization and structured mapping into actionable retail customer personas for business decision-making (Teslenko et al., 2023; Li et al., 2022).</a:t>
            </a:r>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txBody>
          <a:bodyPr/>
          <a:lstStyle/>
          <a:p>
            <a:endParaRPr lang="en-IN"/>
          </a:p>
        </p:txBody>
      </p:sp>
      <p:sp>
        <p:nvSpPr>
          <p:cNvPr id="14" name="Text 12"/>
          <p:cNvSpPr txBox="1"/>
          <p:nvPr/>
        </p:nvSpPr>
        <p:spPr>
          <a:xfrm>
            <a:off x="7909560" y="1691640"/>
            <a:ext cx="3429000" cy="274320"/>
          </a:xfrm>
          <a:prstGeom prst="rect">
            <a:avLst/>
          </a:prstGeom>
          <a:noFill/>
          <a:ln/>
        </p:spPr>
        <p:txBody>
          <a:bodyPr wrap="square" lIns="0" tIns="0" rIns="0" bIns="0" rtlCol="0" anchor="ctr"/>
          <a:lstStyle/>
          <a:p>
            <a:pPr marL="0" indent="0">
              <a:buNone/>
            </a:pPr>
            <a:r>
              <a:rPr lang="en-US" sz="1050" b="1" i="0" dirty="0">
                <a:solidFill>
                  <a:srgbClr val="C8A02C"/>
                </a:solidFill>
                <a:latin typeface="Calibri"/>
                <a:ea typeface="Calibri"/>
                <a:cs typeface="Calibri"/>
              </a:rPr>
              <a:t>OUR PROJECT ADDRESSES</a:t>
            </a:r>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marL="0" indent="0">
              <a:buNone/>
            </a:pPr>
            <a:r>
              <a:rPr lang="en-US" sz="1200" b="0" i="0" dirty="0">
                <a:solidFill>
                  <a:schemeClr val="bg1"/>
                </a:solidFill>
                <a:latin typeface="Calibri"/>
                <a:ea typeface="Calibri"/>
                <a:cs typeface="Calibri"/>
              </a:rPr>
              <a:t>Our project addresses all three gaps by building an integrated unsupervised pipeline: extracting and scaling RFM features, benchmarking K-Means against Hierarchical Clustering with Elbow and Silhouette metrics, applying PCA for 2D visualization, and formulating data-driven retail customer personas.</a:t>
            </a:r>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marL="0" indent="0">
              <a:buNone/>
            </a:pPr>
            <a:r>
              <a:rPr lang="en-US" sz="1100" b="0" i="1" dirty="0">
                <a:solidFill>
                  <a:schemeClr val="bg1"/>
                </a:solidFill>
                <a:latin typeface="Calibri"/>
                <a:ea typeface="Calibri"/>
                <a:cs typeface="Calibri"/>
              </a:rPr>
              <a:t>Traceability: Every identified gap is directly grounded in the limitations column of our Literature Survey (Slide 5).</a:t>
            </a:r>
          </a:p>
        </p:txBody>
      </p:sp>
      <p:sp>
        <p:nvSpPr>
          <p:cNvPr id="17" name="Text 15"/>
          <p:cNvSpPr txBox="1"/>
          <p:nvPr/>
        </p:nvSpPr>
        <p:spPr>
          <a:xfrm>
            <a:off x="548640" y="5120640"/>
            <a:ext cx="6766560" cy="731520"/>
          </a:xfrm>
          <a:prstGeom prst="rect">
            <a:avLst/>
          </a:prstGeom>
          <a:noFill/>
          <a:ln/>
        </p:spPr>
        <p:txBody>
          <a:bodyPr wrap="square" lIns="0" tIns="0" rIns="0" bIns="0" rtlCol="0" anchor="ctr"/>
          <a:lstStyle/>
          <a:p>
            <a:pPr marL="0" indent="0">
              <a:buNone/>
            </a:pPr>
            <a:r>
              <a:rPr lang="en-US" sz="1150" b="0" i="0" dirty="0">
                <a:solidFill>
                  <a:srgbClr val="1F2430"/>
                </a:solidFill>
                <a:latin typeface="Calibri"/>
                <a:ea typeface="Calibri"/>
                <a:cs typeface="Calibri"/>
              </a:rPr>
              <a:t>Methodological Impact: Combines RFM feature engineering with multi-algorithm clustering and PCA visual interpretation.</a:t>
            </a:r>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b="0" i="0" dirty="0">
                <a:solidFill>
                  <a:srgbClr val="6B7280"/>
                </a:solidFill>
                <a:latin typeface="Calibri"/>
                <a:ea typeface="Calibri"/>
                <a:cs typeface="Calibri"/>
              </a:rPr>
              <a:t>Four action-oriented, measurable objectives formulated for Minor Project Review 1.</a:t>
            </a:r>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6" name="Shape 4"/>
          <p:cNvSpPr/>
          <p:nvPr/>
        </p:nvSpPr>
        <p:spPr>
          <a:xfrm>
            <a:off x="822960" y="1892808"/>
            <a:ext cx="384048" cy="384048"/>
          </a:xfrm>
          <a:prstGeom prst="ellipse">
            <a:avLst/>
          </a:prstGeom>
          <a:solidFill>
            <a:srgbClr val="C8A02C"/>
          </a:solidFill>
          <a:ln/>
        </p:spPr>
        <p:txBody>
          <a:bodyPr/>
          <a:lstStyle/>
          <a:p>
            <a:endParaRPr lang="en-IN"/>
          </a:p>
        </p:txBody>
      </p:sp>
      <p:sp>
        <p:nvSpPr>
          <p:cNvPr id="7" name="Text 5"/>
          <p:cNvSpPr txBox="1"/>
          <p:nvPr/>
        </p:nvSpPr>
        <p:spPr>
          <a:xfrm>
            <a:off x="822960" y="189280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marL="0" indent="0">
              <a:buNone/>
            </a:pPr>
            <a:r>
              <a:rPr lang="en-US" sz="1300" b="0" i="0" dirty="0">
                <a:solidFill>
                  <a:srgbClr val="1F2430"/>
                </a:solidFill>
                <a:latin typeface="Calibri"/>
                <a:ea typeface="Calibri"/>
                <a:cs typeface="Calibri"/>
              </a:rPr>
              <a:t>To collect and preprocess retail transaction data suitable for customer segmentation by cleaning missing customer IDs, removing cancelled/invalid transactions, and standardizing date formats.</a:t>
            </a:r>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822960" y="2971800"/>
            <a:ext cx="384048" cy="384048"/>
          </a:xfrm>
          <a:prstGeom prst="ellipse">
            <a:avLst/>
          </a:prstGeom>
          <a:solidFill>
            <a:srgbClr val="C8A02C"/>
          </a:solidFill>
          <a:ln/>
        </p:spPr>
        <p:txBody>
          <a:bodyPr/>
          <a:lstStyle/>
          <a:p>
            <a:endParaRPr lang="en-IN"/>
          </a:p>
        </p:txBody>
      </p:sp>
      <p:sp>
        <p:nvSpPr>
          <p:cNvPr id="11" name="Text 9"/>
          <p:cNvSpPr txBox="1"/>
          <p:nvPr/>
        </p:nvSpPr>
        <p:spPr>
          <a:xfrm>
            <a:off x="822960" y="297180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marL="0" indent="0">
              <a:buNone/>
            </a:pPr>
            <a:r>
              <a:rPr lang="en-US" sz="1300" b="0" i="0" dirty="0">
                <a:solidFill>
                  <a:srgbClr val="1F2430"/>
                </a:solidFill>
                <a:latin typeface="Calibri"/>
                <a:ea typeface="Calibri"/>
                <a:cs typeface="Calibri"/>
              </a:rPr>
              <a:t>To extract Recency, Frequency, and Monetary (RFM) behavioral features from customer transaction records and apply feature scaling to ensure uniform attribute contribution.</a:t>
            </a:r>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822960" y="4050792"/>
            <a:ext cx="384048" cy="384048"/>
          </a:xfrm>
          <a:prstGeom prst="ellipse">
            <a:avLst/>
          </a:prstGeom>
          <a:solidFill>
            <a:srgbClr val="C8A02C"/>
          </a:solidFill>
          <a:ln/>
        </p:spPr>
        <p:txBody>
          <a:bodyPr/>
          <a:lstStyle/>
          <a:p>
            <a:endParaRPr lang="en-IN"/>
          </a:p>
        </p:txBody>
      </p:sp>
      <p:sp>
        <p:nvSpPr>
          <p:cNvPr id="15" name="Text 13"/>
          <p:cNvSpPr txBox="1"/>
          <p:nvPr/>
        </p:nvSpPr>
        <p:spPr>
          <a:xfrm>
            <a:off x="822960" y="405079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marL="0" indent="0">
              <a:buNone/>
            </a:pPr>
            <a:r>
              <a:rPr lang="en-US" sz="1300" b="0" i="0" dirty="0">
                <a:solidFill>
                  <a:srgbClr val="1F2430"/>
                </a:solidFill>
                <a:latin typeface="Calibri"/>
                <a:ea typeface="Calibri"/>
                <a:cs typeface="Calibri"/>
              </a:rPr>
              <a:t>To implement and compare clustering approaches, primarily K-Means and Hierarchical Clustering, using the Elbow Method and Silhouette Score to determine optimal cluster configuration.</a:t>
            </a:r>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8" name="Shape 16"/>
          <p:cNvSpPr/>
          <p:nvPr/>
        </p:nvSpPr>
        <p:spPr>
          <a:xfrm>
            <a:off x="822960" y="5129784"/>
            <a:ext cx="384048" cy="384048"/>
          </a:xfrm>
          <a:prstGeom prst="ellipse">
            <a:avLst/>
          </a:prstGeom>
          <a:solidFill>
            <a:srgbClr val="C8A02C"/>
          </a:solidFill>
          <a:ln/>
        </p:spPr>
        <p:txBody>
          <a:bodyPr/>
          <a:lstStyle/>
          <a:p>
            <a:endParaRPr lang="en-IN"/>
          </a:p>
        </p:txBody>
      </p:sp>
      <p:sp>
        <p:nvSpPr>
          <p:cNvPr id="19" name="Text 17"/>
          <p:cNvSpPr txBox="1"/>
          <p:nvPr/>
        </p:nvSpPr>
        <p:spPr>
          <a:xfrm>
            <a:off x="822960" y="512978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marL="0" indent="0">
              <a:buNone/>
            </a:pPr>
            <a:r>
              <a:rPr lang="en-US" sz="1300" b="0" i="0" dirty="0">
                <a:solidFill>
                  <a:srgbClr val="1F2430"/>
                </a:solidFill>
                <a:latin typeface="Calibri"/>
                <a:ea typeface="Calibri"/>
                <a:cs typeface="Calibri"/>
              </a:rPr>
              <a:t>To visualize and interpret the resulting customer segments using Principal Component Analysis (PCA) and derive meaningful retail business personas and actionable marketing insights.</a:t>
            </a:r>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marL="0" indent="0">
              <a:buNone/>
            </a:pPr>
            <a:r>
              <a:rPr lang="en-US" sz="1150" b="0" i="1" dirty="0">
                <a:solidFill>
                  <a:srgbClr val="6B7280"/>
                </a:solidFill>
                <a:latin typeface="Calibri"/>
                <a:ea typeface="Calibri"/>
                <a:cs typeface="Calibri"/>
              </a:rPr>
              <a:t>Review 1 Alignment: Objectives will be verified one-to-one against experimental deliverables in Review 2 and Final Review.</a:t>
            </a:r>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685800"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marL="0" indent="0">
              <a:buNone/>
            </a:pPr>
            <a:r>
              <a:rPr lang="en-US" sz="1150" b="1" i="0" dirty="0">
                <a:solidFill>
                  <a:srgbClr val="1B2A55"/>
                </a:solidFill>
                <a:latin typeface="Calibri"/>
                <a:ea typeface="Calibri"/>
                <a:cs typeface="Calibri"/>
              </a:rPr>
              <a:t>• UCI Online Retail Dataset</a:t>
            </a:r>
          </a:p>
          <a:p>
            <a:pPr marL="0" indent="0">
              <a:buNone/>
            </a:pPr>
            <a:r>
              <a:rPr lang="en-US" sz="1050" b="0" i="0" dirty="0">
                <a:solidFill>
                  <a:srgbClr val="1F2430"/>
                </a:solidFill>
                <a:latin typeface="Calibri"/>
                <a:ea typeface="Calibri"/>
                <a:cs typeface="Calibri"/>
              </a:rPr>
              <a:t>• Customer IDs &amp; transaction logs</a:t>
            </a:r>
            <a:br>
              <a:rPr lang="en-US" sz="1050" b="0" i="0" dirty="0">
                <a:solidFill>
                  <a:srgbClr val="1F2430"/>
                </a:solidFill>
                <a:latin typeface="Calibri"/>
              </a:rPr>
            </a:br>
            <a:r>
              <a:rPr lang="en-US" sz="1050" b="0" i="0" dirty="0">
                <a:solidFill>
                  <a:srgbClr val="1F2430"/>
                </a:solidFill>
                <a:latin typeface="Calibri"/>
                <a:ea typeface="Calibri"/>
                <a:cs typeface="Calibri"/>
              </a:rPr>
              <a:t>• Invoices, quantities, unit prices</a:t>
            </a:r>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9" name="Text 7"/>
          <p:cNvSpPr txBox="1"/>
          <p:nvPr/>
        </p:nvSpPr>
        <p:spPr>
          <a:xfrm>
            <a:off x="3575304"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marL="0" indent="0">
              <a:buNone/>
            </a:pPr>
            <a:r>
              <a:rPr lang="en-US" sz="1150" b="1" i="0" dirty="0">
                <a:solidFill>
                  <a:srgbClr val="1B2A55"/>
                </a:solidFill>
                <a:latin typeface="Calibri"/>
                <a:ea typeface="Calibri"/>
                <a:cs typeface="Calibri"/>
              </a:rPr>
              <a:t>• Data Cleaning &amp; Filtering</a:t>
            </a:r>
          </a:p>
          <a:p>
            <a:pPr marL="0" indent="0">
              <a:buNone/>
            </a:pPr>
            <a:r>
              <a:rPr lang="en-US" sz="1050" b="0" i="0" dirty="0">
                <a:solidFill>
                  <a:srgbClr val="1F2430"/>
                </a:solidFill>
                <a:latin typeface="Calibri"/>
                <a:ea typeface="Calibri"/>
                <a:cs typeface="Calibri"/>
              </a:rPr>
              <a:t>• Filter returns &amp; missing IDs</a:t>
            </a:r>
            <a:br>
              <a:rPr lang="en-US" sz="1050" b="0" i="0" dirty="0">
                <a:solidFill>
                  <a:srgbClr val="1F2430"/>
                </a:solidFill>
                <a:latin typeface="Calibri"/>
              </a:rPr>
            </a:br>
            <a:r>
              <a:rPr lang="en-US" sz="1050" b="0" i="0" dirty="0">
                <a:solidFill>
                  <a:srgbClr val="1F2430"/>
                </a:solidFill>
                <a:latin typeface="Calibri"/>
                <a:ea typeface="Calibri"/>
                <a:cs typeface="Calibri"/>
              </a:rPr>
              <a:t>• RFM Calculation &amp; StandardScaler</a:t>
            </a:r>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txBody>
          <a:bodyPr/>
          <a:lstStyle/>
          <a:p>
            <a:endParaRPr lang="en-IN"/>
          </a:p>
        </p:txBody>
      </p:sp>
      <p:sp>
        <p:nvSpPr>
          <p:cNvPr id="13" name="Text 11"/>
          <p:cNvSpPr txBox="1"/>
          <p:nvPr/>
        </p:nvSpPr>
        <p:spPr>
          <a:xfrm>
            <a:off x="6464808"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marL="0" indent="0">
              <a:buNone/>
            </a:pPr>
            <a:r>
              <a:rPr lang="en-US" sz="1100" b="1" i="0" dirty="0">
                <a:solidFill>
                  <a:schemeClr val="bg1"/>
                </a:solidFill>
                <a:latin typeface="Calibri"/>
                <a:ea typeface="Calibri"/>
                <a:cs typeface="Calibri"/>
              </a:rPr>
              <a:t>• K-Means Clustering</a:t>
            </a:r>
          </a:p>
          <a:p>
            <a:pPr marL="0" indent="0">
              <a:buNone/>
            </a:pPr>
            <a:r>
              <a:rPr lang="en-US" sz="1050" b="0" i="0" dirty="0">
                <a:solidFill>
                  <a:schemeClr val="bg1"/>
                </a:solidFill>
                <a:latin typeface="Calibri"/>
                <a:ea typeface="Calibri"/>
                <a:cs typeface="Calibri"/>
              </a:rPr>
              <a:t>• Elbow &amp; Silhouette evaluation</a:t>
            </a:r>
            <a:br>
              <a:rPr lang="en-US" sz="1050" b="0" i="0" dirty="0">
                <a:solidFill>
                  <a:schemeClr val="bg1"/>
                </a:solidFill>
                <a:latin typeface="Calibri"/>
              </a:rPr>
            </a:br>
            <a:r>
              <a:rPr lang="en-US" sz="1050" b="0" i="0" dirty="0">
                <a:solidFill>
                  <a:schemeClr val="bg1"/>
                </a:solidFill>
                <a:latin typeface="Calibri"/>
                <a:ea typeface="Calibri"/>
                <a:cs typeface="Calibri"/>
              </a:rPr>
              <a:t>• Hierarchical clustering validation</a:t>
            </a:r>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17" name="Text 15"/>
          <p:cNvSpPr txBox="1"/>
          <p:nvPr/>
        </p:nvSpPr>
        <p:spPr>
          <a:xfrm>
            <a:off x="9354312"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marL="0" indent="0">
              <a:buNone/>
            </a:pPr>
            <a:r>
              <a:rPr lang="en-US" sz="1150" b="1" i="0" dirty="0">
                <a:solidFill>
                  <a:srgbClr val="1B2A55"/>
                </a:solidFill>
                <a:latin typeface="Calibri"/>
                <a:ea typeface="Calibri"/>
                <a:cs typeface="Calibri"/>
              </a:rPr>
              <a:t>• PCA 2D Visual Projections</a:t>
            </a:r>
          </a:p>
          <a:p>
            <a:pPr marL="0" indent="0">
              <a:buNone/>
            </a:pPr>
            <a:r>
              <a:rPr lang="en-US" sz="1050" b="0" i="0" dirty="0">
                <a:solidFill>
                  <a:srgbClr val="1F2430"/>
                </a:solidFill>
                <a:latin typeface="Calibri"/>
                <a:ea typeface="Calibri"/>
                <a:cs typeface="Calibri"/>
              </a:rPr>
              <a:t>• RFM cluster centroid profiles</a:t>
            </a:r>
            <a:br>
              <a:rPr lang="en-US" sz="1050" b="0" i="0" dirty="0">
                <a:solidFill>
                  <a:srgbClr val="1F2430"/>
                </a:solidFill>
                <a:latin typeface="Calibri"/>
              </a:rPr>
            </a:br>
            <a:r>
              <a:rPr lang="en-US" sz="1050" b="0" i="0" dirty="0">
                <a:solidFill>
                  <a:srgbClr val="1F2430"/>
                </a:solidFill>
                <a:latin typeface="Calibri"/>
                <a:ea typeface="Calibri"/>
                <a:cs typeface="Calibri"/>
              </a:rPr>
              <a:t>• Retail marketing &amp; retention plans</a:t>
            </a:r>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
        <p:nvSpPr>
          <p:cNvPr id="26" name="Rounded Rectangle 25"/>
          <p:cNvSpPr/>
          <p:nvPr/>
        </p:nvSpPr>
        <p:spPr>
          <a:xfrm>
            <a:off x="548640"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1: Retail Data</a:t>
            </a:r>
          </a:p>
          <a:p>
            <a:pPr marL="0" indent="0" algn="ctr">
              <a:buNone/>
            </a:pPr>
            <a:r>
              <a:rPr lang="en-US" sz="900" b="0" i="0" dirty="0">
                <a:solidFill>
                  <a:srgbClr val="1F2430"/>
                </a:solidFill>
                <a:latin typeface="Calibri"/>
                <a:ea typeface="Calibri"/>
                <a:cs typeface="Calibri"/>
              </a:rPr>
              <a:t>UCI Online Retail logs</a:t>
            </a:r>
          </a:p>
          <a:p>
            <a:pPr marL="0" indent="0" algn="ctr">
              <a:buNone/>
            </a:pPr>
            <a:r>
              <a:rPr lang="en-US" sz="850" b="0" i="1" dirty="0">
                <a:solidFill>
                  <a:srgbClr val="6B7280"/>
                </a:solidFill>
                <a:latin typeface="Calibri"/>
                <a:ea typeface="Calibri"/>
                <a:cs typeface="Calibri"/>
              </a:rPr>
              <a:t>Customer transaction records</a:t>
            </a:r>
          </a:p>
        </p:txBody>
      </p:sp>
      <p:sp>
        <p:nvSpPr>
          <p:cNvPr id="27" name="Right Arrow 26"/>
          <p:cNvSpPr/>
          <p:nvPr/>
        </p:nvSpPr>
        <p:spPr>
          <a:xfrm>
            <a:off x="2715768"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42616" y="384048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Raw CSV</a:t>
            </a:r>
          </a:p>
        </p:txBody>
      </p:sp>
      <p:sp>
        <p:nvSpPr>
          <p:cNvPr id="29" name="Rounded Rectangle 28"/>
          <p:cNvSpPr/>
          <p:nvPr/>
        </p:nvSpPr>
        <p:spPr>
          <a:xfrm>
            <a:off x="3547872"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2: Preprocessing</a:t>
            </a:r>
          </a:p>
          <a:p>
            <a:pPr marL="0" indent="0" algn="ctr">
              <a:buNone/>
            </a:pPr>
            <a:r>
              <a:rPr lang="en-US" sz="900" b="0" i="0" dirty="0">
                <a:solidFill>
                  <a:srgbClr val="1F2430"/>
                </a:solidFill>
                <a:latin typeface="Calibri"/>
                <a:ea typeface="Calibri"/>
                <a:cs typeface="Calibri"/>
              </a:rPr>
              <a:t>Data cleaning &amp; filtering</a:t>
            </a:r>
          </a:p>
          <a:p>
            <a:pPr marL="0" indent="0" algn="ctr">
              <a:buNone/>
            </a:pPr>
            <a:r>
              <a:rPr lang="en-US" sz="850" b="0" i="1" dirty="0">
                <a:solidFill>
                  <a:srgbClr val="6B7280"/>
                </a:solidFill>
                <a:latin typeface="Calibri"/>
                <a:ea typeface="Calibri"/>
                <a:cs typeface="Calibri"/>
              </a:rPr>
              <a:t>Handle missing IDs &amp; returns</a:t>
            </a:r>
          </a:p>
        </p:txBody>
      </p:sp>
      <p:sp>
        <p:nvSpPr>
          <p:cNvPr id="30" name="Right Arrow 29"/>
          <p:cNvSpPr/>
          <p:nvPr/>
        </p:nvSpPr>
        <p:spPr>
          <a:xfrm>
            <a:off x="5715000"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41848" y="384048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Clean Data</a:t>
            </a:r>
          </a:p>
        </p:txBody>
      </p:sp>
      <p:sp>
        <p:nvSpPr>
          <p:cNvPr id="32" name="Rounded Rectangle 31"/>
          <p:cNvSpPr/>
          <p:nvPr/>
        </p:nvSpPr>
        <p:spPr>
          <a:xfrm>
            <a:off x="6547104"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3: RFM Extraction</a:t>
            </a:r>
          </a:p>
          <a:p>
            <a:pPr marL="0" indent="0" algn="ctr">
              <a:buNone/>
            </a:pPr>
            <a:r>
              <a:rPr lang="en-US" sz="900" b="0" i="0" dirty="0">
                <a:solidFill>
                  <a:srgbClr val="1F2430"/>
                </a:solidFill>
                <a:latin typeface="Calibri"/>
                <a:ea typeface="Calibri"/>
                <a:cs typeface="Calibri"/>
              </a:rPr>
              <a:t>Recency, Frequency, Monetary</a:t>
            </a:r>
          </a:p>
          <a:p>
            <a:pPr marL="0" indent="0" algn="ctr">
              <a:buNone/>
            </a:pPr>
            <a:r>
              <a:rPr lang="en-US" sz="850" b="0" i="1" dirty="0">
                <a:solidFill>
                  <a:srgbClr val="6B7280"/>
                </a:solidFill>
                <a:latin typeface="Calibri"/>
                <a:ea typeface="Calibri"/>
                <a:cs typeface="Calibri"/>
              </a:rPr>
              <a:t>Customer-level behavioral vectors</a:t>
            </a:r>
          </a:p>
        </p:txBody>
      </p:sp>
      <p:sp>
        <p:nvSpPr>
          <p:cNvPr id="33" name="Right Arrow 32"/>
          <p:cNvSpPr/>
          <p:nvPr/>
        </p:nvSpPr>
        <p:spPr>
          <a:xfrm>
            <a:off x="8714232"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41080" y="384048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RFM Vectors</a:t>
            </a:r>
          </a:p>
        </p:txBody>
      </p:sp>
      <p:sp>
        <p:nvSpPr>
          <p:cNvPr id="35" name="Rounded Rectangle 34"/>
          <p:cNvSpPr/>
          <p:nvPr/>
        </p:nvSpPr>
        <p:spPr>
          <a:xfrm>
            <a:off x="9546336"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4: Feature Scaling</a:t>
            </a:r>
          </a:p>
          <a:p>
            <a:pPr marL="0" indent="0" algn="ctr">
              <a:buNone/>
            </a:pPr>
            <a:r>
              <a:rPr lang="en-US" sz="900" b="0" i="0" dirty="0">
                <a:solidFill>
                  <a:srgbClr val="1F2430"/>
                </a:solidFill>
                <a:latin typeface="Calibri"/>
                <a:ea typeface="Calibri"/>
                <a:cs typeface="Calibri"/>
              </a:rPr>
              <a:t>StandardScaler normalization</a:t>
            </a:r>
          </a:p>
          <a:p>
            <a:pPr marL="0" indent="0" algn="ctr">
              <a:buNone/>
            </a:pPr>
            <a:r>
              <a:rPr lang="en-US" sz="850" b="0" i="1" dirty="0">
                <a:solidFill>
                  <a:srgbClr val="6B7280"/>
                </a:solidFill>
                <a:latin typeface="Calibri"/>
                <a:ea typeface="Calibri"/>
                <a:cs typeface="Calibri"/>
              </a:rPr>
              <a:t>Uniform feature contribution</a:t>
            </a:r>
          </a:p>
        </p:txBody>
      </p:sp>
      <p:sp>
        <p:nvSpPr>
          <p:cNvPr id="36" name="Down Arrow 35"/>
          <p:cNvSpPr/>
          <p:nvPr/>
        </p:nvSpPr>
        <p:spPr>
          <a:xfrm>
            <a:off x="10415016" y="4727448"/>
            <a:ext cx="320040" cy="219456"/>
          </a:xfrm>
          <a:prstGeom prst="down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80576" y="4709160"/>
            <a:ext cx="1188720" cy="237744"/>
          </a:xfrm>
          <a:prstGeom prst="rect">
            <a:avLst/>
          </a:prstGeom>
          <a:noFill/>
        </p:spPr>
        <p:txBody>
          <a:bodyPr wrap="none">
            <a:spAutoFit/>
          </a:bodyPr>
          <a:lstStyle/>
          <a:p>
            <a:pPr marL="0" indent="0" algn="r">
              <a:buNone/>
            </a:pPr>
            <a:r>
              <a:rPr lang="en-US" sz="850" b="1" i="0" dirty="0">
                <a:solidFill>
                  <a:srgbClr val="A4161A"/>
                </a:solidFill>
                <a:latin typeface="Calibri"/>
                <a:ea typeface="Calibri"/>
                <a:cs typeface="Calibri"/>
              </a:rPr>
              <a:t>Scaled Matrix</a:t>
            </a:r>
          </a:p>
        </p:txBody>
      </p:sp>
      <p:sp>
        <p:nvSpPr>
          <p:cNvPr id="38" name="Rounded Rectangle 37"/>
          <p:cNvSpPr/>
          <p:nvPr/>
        </p:nvSpPr>
        <p:spPr>
          <a:xfrm>
            <a:off x="548640"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8: Retail Personas</a:t>
            </a:r>
          </a:p>
          <a:p>
            <a:pPr marL="0" indent="0" algn="ctr">
              <a:buNone/>
            </a:pPr>
            <a:r>
              <a:rPr lang="en-US" sz="900" b="0" i="0" dirty="0">
                <a:solidFill>
                  <a:srgbClr val="1F2430"/>
                </a:solidFill>
                <a:latin typeface="Calibri"/>
                <a:ea typeface="Calibri"/>
                <a:cs typeface="Calibri"/>
              </a:rPr>
              <a:t>Cluster profiling &amp; centroids</a:t>
            </a:r>
          </a:p>
          <a:p>
            <a:pPr marL="0" indent="0" algn="ctr">
              <a:buNone/>
            </a:pPr>
            <a:r>
              <a:rPr lang="en-US" sz="850" b="0" i="1" dirty="0">
                <a:solidFill>
                  <a:srgbClr val="6B7280"/>
                </a:solidFill>
                <a:latin typeface="Calibri"/>
                <a:ea typeface="Calibri"/>
                <a:cs typeface="Calibri"/>
              </a:rPr>
              <a:t>Actionable business strategies</a:t>
            </a:r>
          </a:p>
        </p:txBody>
      </p:sp>
      <p:sp>
        <p:nvSpPr>
          <p:cNvPr id="39" name="Left Arrow 38"/>
          <p:cNvSpPr/>
          <p:nvPr/>
        </p:nvSpPr>
        <p:spPr>
          <a:xfrm>
            <a:off x="2715768"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642616" y="512064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Target Insights</a:t>
            </a:r>
          </a:p>
        </p:txBody>
      </p:sp>
      <p:sp>
        <p:nvSpPr>
          <p:cNvPr id="41" name="Rounded Rectangle 40"/>
          <p:cNvSpPr/>
          <p:nvPr/>
        </p:nvSpPr>
        <p:spPr>
          <a:xfrm>
            <a:off x="3547872"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7: PCA Visualization</a:t>
            </a:r>
          </a:p>
          <a:p>
            <a:pPr marL="0" indent="0" algn="ctr">
              <a:buNone/>
            </a:pPr>
            <a:r>
              <a:rPr lang="en-US" sz="900" b="0" i="0" dirty="0">
                <a:solidFill>
                  <a:srgbClr val="1F2430"/>
                </a:solidFill>
                <a:latin typeface="Calibri"/>
                <a:ea typeface="Calibri"/>
                <a:cs typeface="Calibri"/>
              </a:rPr>
              <a:t>Dimensionality reduction</a:t>
            </a:r>
          </a:p>
          <a:p>
            <a:pPr marL="0" indent="0" algn="ctr">
              <a:buNone/>
            </a:pPr>
            <a:r>
              <a:rPr lang="en-US" sz="850" b="0" i="1" dirty="0">
                <a:solidFill>
                  <a:srgbClr val="6B7280"/>
                </a:solidFill>
                <a:latin typeface="Calibri"/>
                <a:ea typeface="Calibri"/>
                <a:cs typeface="Calibri"/>
              </a:rPr>
              <a:t>2D projection for visual separation</a:t>
            </a:r>
          </a:p>
        </p:txBody>
      </p:sp>
      <p:sp>
        <p:nvSpPr>
          <p:cNvPr id="42" name="Left Arrow 41"/>
          <p:cNvSpPr/>
          <p:nvPr/>
        </p:nvSpPr>
        <p:spPr>
          <a:xfrm>
            <a:off x="5715000"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41848" y="512064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2D Projection</a:t>
            </a:r>
          </a:p>
        </p:txBody>
      </p:sp>
      <p:sp>
        <p:nvSpPr>
          <p:cNvPr id="44" name="Rounded Rectangle 43"/>
          <p:cNvSpPr/>
          <p:nvPr/>
        </p:nvSpPr>
        <p:spPr>
          <a:xfrm>
            <a:off x="6547104"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6: Clustering Models</a:t>
            </a:r>
          </a:p>
          <a:p>
            <a:pPr marL="0" indent="0" algn="ctr">
              <a:buNone/>
            </a:pPr>
            <a:r>
              <a:rPr lang="en-US" sz="900" b="0" i="0" dirty="0">
                <a:solidFill>
                  <a:srgbClr val="1F2430"/>
                </a:solidFill>
                <a:latin typeface="Calibri"/>
                <a:ea typeface="Calibri"/>
                <a:cs typeface="Calibri"/>
              </a:rPr>
              <a:t>K-Means &amp; Hierarchical</a:t>
            </a:r>
          </a:p>
          <a:p>
            <a:pPr marL="0" indent="0" algn="ctr">
              <a:buNone/>
            </a:pPr>
            <a:r>
              <a:rPr lang="en-US" sz="850" b="0" i="1" dirty="0">
                <a:solidFill>
                  <a:srgbClr val="6B7280"/>
                </a:solidFill>
                <a:latin typeface="Calibri"/>
                <a:ea typeface="Calibri"/>
                <a:cs typeface="Calibri"/>
              </a:rPr>
              <a:t>Partition customers &amp; validate tree</a:t>
            </a:r>
          </a:p>
        </p:txBody>
      </p:sp>
      <p:sp>
        <p:nvSpPr>
          <p:cNvPr id="45" name="Left Arrow 44"/>
          <p:cNvSpPr/>
          <p:nvPr/>
        </p:nvSpPr>
        <p:spPr>
          <a:xfrm>
            <a:off x="8714232"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641080" y="5120640"/>
            <a:ext cx="868680" cy="274320"/>
          </a:xfrm>
          <a:prstGeom prst="rect">
            <a:avLst/>
          </a:prstGeom>
          <a:noFill/>
        </p:spPr>
        <p:txBody>
          <a:bodyPr wrap="none">
            <a:spAutoFit/>
          </a:bodyPr>
          <a:lstStyle/>
          <a:p>
            <a:pPr marL="0" indent="0" algn="ctr">
              <a:buNone/>
            </a:pPr>
            <a:r>
              <a:rPr lang="en-US" sz="850" b="1" i="0" dirty="0">
                <a:solidFill>
                  <a:srgbClr val="A4161A"/>
                </a:solidFill>
                <a:latin typeface="Calibri"/>
                <a:ea typeface="Calibri"/>
                <a:cs typeface="Calibri"/>
              </a:rPr>
              <a:t>Cluster IDs</a:t>
            </a:r>
          </a:p>
        </p:txBody>
      </p:sp>
      <p:sp>
        <p:nvSpPr>
          <p:cNvPr id="47" name="Rounded Rectangle 46"/>
          <p:cNvSpPr/>
          <p:nvPr/>
        </p:nvSpPr>
        <p:spPr>
          <a:xfrm>
            <a:off x="9546336"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marL="0" indent="0" algn="ctr">
              <a:buNone/>
            </a:pPr>
            <a:r>
              <a:rPr lang="en-US" sz="1050" b="1" i="0" dirty="0">
                <a:solidFill>
                  <a:srgbClr val="1B2A55"/>
                </a:solidFill>
                <a:latin typeface="Calibri"/>
                <a:ea typeface="Calibri"/>
                <a:cs typeface="Calibri"/>
              </a:rPr>
              <a:t>Step 5: Cluster Evaluation</a:t>
            </a:r>
          </a:p>
          <a:p>
            <a:pPr marL="0" indent="0" algn="ctr">
              <a:buNone/>
            </a:pPr>
            <a:r>
              <a:rPr lang="en-US" sz="900" b="0" i="0" dirty="0">
                <a:solidFill>
                  <a:srgbClr val="1F2430"/>
                </a:solidFill>
                <a:latin typeface="Calibri"/>
                <a:ea typeface="Calibri"/>
                <a:cs typeface="Calibri"/>
              </a:rPr>
              <a:t>Elbow Method &amp; Silhouette</a:t>
            </a:r>
          </a:p>
          <a:p>
            <a:pPr marL="0" indent="0" algn="ctr">
              <a:buNone/>
            </a:pPr>
            <a:r>
              <a:rPr lang="en-US" sz="850" b="0" i="1" dirty="0">
                <a:solidFill>
                  <a:srgbClr val="6B7280"/>
                </a:solidFill>
                <a:latin typeface="Calibri"/>
                <a:ea typeface="Calibri"/>
                <a:cs typeface="Calibri"/>
              </a:rPr>
              <a:t>Determine optimal cluster count 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822960" y="1737360"/>
            <a:ext cx="411480" cy="411480"/>
          </a:xfrm>
          <a:prstGeom prst="ellipse">
            <a:avLst/>
          </a:prstGeom>
          <a:solidFill>
            <a:srgbClr val="1B2A55"/>
          </a:solidFill>
          <a:ln/>
        </p:spPr>
        <p:txBody>
          <a:bodyPr/>
          <a:lstStyle/>
          <a:p>
            <a:endParaRPr lang="en-IN"/>
          </a:p>
        </p:txBody>
      </p:sp>
      <p:sp>
        <p:nvSpPr>
          <p:cNvPr id="6" name="Text 4"/>
          <p:cNvSpPr txBox="1"/>
          <p:nvPr/>
        </p:nvSpPr>
        <p:spPr>
          <a:xfrm>
            <a:off x="82296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Module 1 - Data Collection &amp; Preprocessing</a:t>
            </a:r>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marL="0" indent="0">
              <a:buNone/>
            </a:pPr>
            <a:r>
              <a:rPr lang="en-US" sz="1100" b="0" i="0" dirty="0">
                <a:solidFill>
                  <a:srgbClr val="1F2430"/>
                </a:solidFill>
                <a:latin typeface="Calibri"/>
                <a:ea typeface="Calibri"/>
                <a:cs typeface="Calibri"/>
              </a:rPr>
              <a:t>• Planned Source: UCI Online Retail Dataset containing transactional records.</a:t>
            </a:r>
          </a:p>
          <a:p>
            <a:pPr marL="0" indent="0">
              <a:buNone/>
            </a:pPr>
            <a:r>
              <a:rPr lang="en-US" sz="1100" b="0" i="0" dirty="0">
                <a:solidFill>
                  <a:srgbClr val="1F2430"/>
                </a:solidFill>
                <a:latin typeface="Calibri"/>
                <a:ea typeface="Calibri"/>
                <a:cs typeface="Calibri"/>
              </a:rPr>
              <a:t>• Data Cleaning: Filter records with missing CustomerID and invalid quantities.</a:t>
            </a:r>
          </a:p>
          <a:p>
            <a:pPr marL="0" indent="0">
              <a:buNone/>
            </a:pPr>
            <a:r>
              <a:rPr lang="en-US" sz="1100" b="0" i="0" dirty="0">
                <a:solidFill>
                  <a:srgbClr val="1F2430"/>
                </a:solidFill>
                <a:latin typeface="Calibri"/>
                <a:ea typeface="Calibri"/>
                <a:cs typeface="Calibri"/>
              </a:rPr>
              <a:t>• Handling Returns: Exclude cancelled transactions (invoice codes starting with 'C').</a:t>
            </a:r>
          </a:p>
          <a:p>
            <a:pPr marL="0" indent="0">
              <a:buNone/>
            </a:pPr>
            <a:r>
              <a:rPr lang="en-US" sz="1100" b="0" i="0" dirty="0">
                <a:solidFill>
                  <a:srgbClr val="1F2430"/>
                </a:solidFill>
                <a:latin typeface="Calibri"/>
                <a:ea typeface="Calibri"/>
                <a:cs typeface="Calibri"/>
              </a:rPr>
              <a:t>• Transaction Value: Compute line total = Quantity x UnitPrice; parse datetime stamps.</a:t>
            </a:r>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6492240" y="1737360"/>
            <a:ext cx="411480" cy="411480"/>
          </a:xfrm>
          <a:prstGeom prst="ellipse">
            <a:avLst/>
          </a:prstGeom>
          <a:solidFill>
            <a:srgbClr val="1B2A55"/>
          </a:solidFill>
          <a:ln/>
        </p:spPr>
        <p:txBody>
          <a:bodyPr/>
          <a:lstStyle/>
          <a:p>
            <a:endParaRPr lang="en-IN"/>
          </a:p>
        </p:txBody>
      </p:sp>
      <p:sp>
        <p:nvSpPr>
          <p:cNvPr id="11" name="Text 9"/>
          <p:cNvSpPr txBox="1"/>
          <p:nvPr/>
        </p:nvSpPr>
        <p:spPr>
          <a:xfrm>
            <a:off x="649224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Module 2 - RFM Feature Engineering</a:t>
            </a:r>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marL="0" indent="0">
              <a:buNone/>
            </a:pPr>
            <a:r>
              <a:rPr lang="en-US" sz="1100" b="0" i="0" dirty="0">
                <a:solidFill>
                  <a:srgbClr val="1F2430"/>
                </a:solidFill>
                <a:latin typeface="Calibri"/>
                <a:ea typeface="Calibri"/>
                <a:cs typeface="Calibri"/>
              </a:rPr>
              <a:t>• Recency (R): Calculate days elapsed between latest purchase and reference date.</a:t>
            </a:r>
          </a:p>
          <a:p>
            <a:pPr marL="0" indent="0">
              <a:buNone/>
            </a:pPr>
            <a:r>
              <a:rPr lang="en-US" sz="1100" b="0" i="0" dirty="0">
                <a:solidFill>
                  <a:srgbClr val="1F2430"/>
                </a:solidFill>
                <a:latin typeface="Calibri"/>
                <a:ea typeface="Calibri"/>
                <a:cs typeface="Calibri"/>
              </a:rPr>
              <a:t>• Frequency (F): Count total unique purchase transactions per customer.</a:t>
            </a:r>
          </a:p>
          <a:p>
            <a:pPr marL="0" indent="0">
              <a:buNone/>
            </a:pPr>
            <a:r>
              <a:rPr lang="en-US" sz="1100" b="0" i="0" dirty="0">
                <a:solidFill>
                  <a:srgbClr val="1F2430"/>
                </a:solidFill>
                <a:latin typeface="Calibri"/>
                <a:ea typeface="Calibri"/>
                <a:cs typeface="Calibri"/>
              </a:rPr>
              <a:t>• Monetary (M): Aggregate total amount spent across all customer invoices.</a:t>
            </a:r>
          </a:p>
          <a:p>
            <a:pPr marL="0" indent="0">
              <a:buNone/>
            </a:pPr>
            <a:r>
              <a:rPr lang="en-US" sz="1100" b="0" i="0" dirty="0">
                <a:solidFill>
                  <a:srgbClr val="1F2430"/>
                </a:solidFill>
                <a:latin typeface="Calibri"/>
                <a:ea typeface="Calibri"/>
                <a:cs typeface="Calibri"/>
              </a:rPr>
              <a:t>• Feature Scaling: Apply log-transformation &amp; StandardScaler to normalize distributions.</a:t>
            </a:r>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5" name="Shape 13"/>
          <p:cNvSpPr/>
          <p:nvPr/>
        </p:nvSpPr>
        <p:spPr>
          <a:xfrm>
            <a:off x="822960" y="3977640"/>
            <a:ext cx="411480" cy="411480"/>
          </a:xfrm>
          <a:prstGeom prst="ellipse">
            <a:avLst/>
          </a:prstGeom>
          <a:solidFill>
            <a:srgbClr val="1B2A55"/>
          </a:solidFill>
          <a:ln/>
        </p:spPr>
        <p:txBody>
          <a:bodyPr/>
          <a:lstStyle/>
          <a:p>
            <a:endParaRPr lang="en-IN"/>
          </a:p>
        </p:txBody>
      </p:sp>
      <p:sp>
        <p:nvSpPr>
          <p:cNvPr id="16" name="Text 14"/>
          <p:cNvSpPr txBox="1"/>
          <p:nvPr/>
        </p:nvSpPr>
        <p:spPr>
          <a:xfrm>
            <a:off x="82296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Module 3 - Clustering &amp; Comparative Evaluation</a:t>
            </a:r>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marL="0" indent="0">
              <a:buNone/>
            </a:pPr>
            <a:r>
              <a:rPr lang="en-US" sz="1100" b="0" i="0" dirty="0">
                <a:solidFill>
                  <a:srgbClr val="1F2430"/>
                </a:solidFill>
                <a:latin typeface="Calibri"/>
                <a:ea typeface="Calibri"/>
                <a:cs typeface="Calibri"/>
              </a:rPr>
              <a:t>• K-Means Clustering: Partition customer vectors into K clusters using Euclidean distance.</a:t>
            </a:r>
          </a:p>
          <a:p>
            <a:pPr marL="0" indent="0">
              <a:buNone/>
            </a:pPr>
            <a:r>
              <a:rPr lang="en-US" sz="1100" b="0" i="0" dirty="0">
                <a:solidFill>
                  <a:srgbClr val="1F2430"/>
                </a:solidFill>
                <a:latin typeface="Calibri"/>
                <a:ea typeface="Calibri"/>
                <a:cs typeface="Calibri"/>
              </a:rPr>
              <a:t>• Optimal K Selection: Evaluate within-cluster inertia (Elbow) and Silhouette Scores.</a:t>
            </a:r>
          </a:p>
          <a:p>
            <a:pPr marL="0" indent="0">
              <a:buNone/>
            </a:pPr>
            <a:r>
              <a:rPr lang="en-US" sz="1100" b="0" i="0" dirty="0">
                <a:solidFill>
                  <a:srgbClr val="1F2430"/>
                </a:solidFill>
                <a:latin typeface="Calibri"/>
                <a:ea typeface="Calibri"/>
                <a:cs typeface="Calibri"/>
              </a:rPr>
              <a:t>• Hierarchical Clustering: Apply Agglomerative Clustering with Ward's linkage for comparison.</a:t>
            </a:r>
          </a:p>
          <a:p>
            <a:pPr marL="0" indent="0">
              <a:buNone/>
            </a:pPr>
            <a:r>
              <a:rPr lang="en-US" sz="1100" b="0" i="0" dirty="0">
                <a:solidFill>
                  <a:srgbClr val="1F2430"/>
                </a:solidFill>
                <a:latin typeface="Calibri"/>
                <a:ea typeface="Calibri"/>
                <a:cs typeface="Calibri"/>
              </a:rPr>
              <a:t>• Dimensionality Reduction: Apply PCA to project 3D RFM features into 2D space.</a:t>
            </a:r>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20" name="Shape 18"/>
          <p:cNvSpPr/>
          <p:nvPr/>
        </p:nvSpPr>
        <p:spPr>
          <a:xfrm>
            <a:off x="6492240" y="3977640"/>
            <a:ext cx="411480" cy="411480"/>
          </a:xfrm>
          <a:prstGeom prst="ellipse">
            <a:avLst/>
          </a:prstGeom>
          <a:solidFill>
            <a:srgbClr val="1B2A55"/>
          </a:solidFill>
          <a:ln/>
        </p:spPr>
        <p:txBody>
          <a:bodyPr/>
          <a:lstStyle/>
          <a:p>
            <a:endParaRPr lang="en-IN"/>
          </a:p>
        </p:txBody>
      </p:sp>
      <p:sp>
        <p:nvSpPr>
          <p:cNvPr id="21" name="Text 19"/>
          <p:cNvSpPr txBox="1"/>
          <p:nvPr/>
        </p:nvSpPr>
        <p:spPr>
          <a:xfrm>
            <a:off x="649224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marL="0" indent="0">
              <a:buNone/>
            </a:pPr>
            <a:r>
              <a:rPr lang="en-US" sz="1450" b="1" i="0" dirty="0">
                <a:solidFill>
                  <a:srgbClr val="1B2A55"/>
                </a:solidFill>
                <a:latin typeface="Calibri"/>
                <a:ea typeface="Calibri"/>
                <a:cs typeface="Calibri"/>
              </a:rPr>
              <a:t>Module 4 - Customer Profiling &amp; Business Insights</a:t>
            </a:r>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marL="0" indent="0">
              <a:buNone/>
            </a:pPr>
            <a:r>
              <a:rPr lang="en-US" sz="1100" b="0" i="0" dirty="0">
                <a:solidFill>
                  <a:srgbClr val="1F2430"/>
                </a:solidFill>
                <a:latin typeface="Calibri"/>
                <a:ea typeface="Calibri"/>
                <a:cs typeface="Calibri"/>
              </a:rPr>
              <a:t>• Cluster Profiling: Compute mean and median RFM characteristics for each cluster.</a:t>
            </a:r>
          </a:p>
          <a:p>
            <a:pPr marL="0" indent="0">
              <a:buNone/>
            </a:pPr>
            <a:r>
              <a:rPr lang="en-US" sz="1100" b="0" i="0" dirty="0">
                <a:solidFill>
                  <a:srgbClr val="1F2430"/>
                </a:solidFill>
                <a:latin typeface="Calibri"/>
                <a:ea typeface="Calibri"/>
                <a:cs typeface="Calibri"/>
              </a:rPr>
              <a:t>• Persona Mapping: Assign empirical descriptions (e.g., Loyal, Frequent, Occasional, At-Risk).</a:t>
            </a:r>
          </a:p>
          <a:p>
            <a:pPr marL="0" indent="0">
              <a:buNone/>
            </a:pPr>
            <a:r>
              <a:rPr lang="en-US" sz="1100" b="0" i="0" dirty="0">
                <a:solidFill>
                  <a:srgbClr val="1F2430"/>
                </a:solidFill>
                <a:latin typeface="Calibri"/>
                <a:ea typeface="Calibri"/>
                <a:cs typeface="Calibri"/>
              </a:rPr>
              <a:t>• Retail Strategies: Formulate targeted retention, reward, and reactivation recommendations.</a:t>
            </a:r>
          </a:p>
          <a:p>
            <a:pPr marL="0" indent="0">
              <a:buNone/>
            </a:pPr>
            <a:r>
              <a:rPr lang="en-US" sz="1100" b="0" i="0" dirty="0">
                <a:solidFill>
                  <a:srgbClr val="1F2430"/>
                </a:solidFill>
                <a:latin typeface="Calibri"/>
                <a:ea typeface="Calibri"/>
                <a:cs typeface="Calibri"/>
              </a:rPr>
              <a:t>• Interface (Planned): Interactive Streamlit dashboard for business exploration.</a:t>
            </a:r>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6868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marL="0" indent="0">
              <a:buNone/>
            </a:pPr>
            <a:r>
              <a:rPr lang="en-US" sz="1350" b="0" i="0" dirty="0">
                <a:solidFill>
                  <a:srgbClr val="1F2430"/>
                </a:solidFill>
                <a:latin typeface="Calibri"/>
                <a:ea typeface="Calibri"/>
                <a:cs typeface="Calibri"/>
              </a:rPr>
              <a:t>Language: Python 3.10+</a:t>
            </a:r>
          </a:p>
          <a:p>
            <a:pPr marL="0" indent="0">
              <a:buNone/>
            </a:pPr>
            <a:r>
              <a:rPr lang="en-US" sz="1350" b="0" i="0" dirty="0">
                <a:solidFill>
                  <a:srgbClr val="1F2430"/>
                </a:solidFill>
                <a:latin typeface="Calibri"/>
                <a:ea typeface="Calibri"/>
                <a:cs typeface="Calibri"/>
              </a:rPr>
              <a:t>Data Processing: Pandas, NumPy</a:t>
            </a:r>
          </a:p>
          <a:p>
            <a:pPr marL="0" indent="0">
              <a:buNone/>
            </a:pPr>
            <a:r>
              <a:rPr lang="en-US" sz="1350" b="0" i="0" dirty="0">
                <a:solidFill>
                  <a:srgbClr val="1F2430"/>
                </a:solidFill>
                <a:latin typeface="Calibri"/>
                <a:ea typeface="Calibri"/>
                <a:cs typeface="Calibri"/>
              </a:rPr>
              <a:t>Machine Learning: Scikit-learn (K-Means, Agglomerative, PCA)</a:t>
            </a:r>
          </a:p>
          <a:p>
            <a:pPr marL="0" indent="0">
              <a:buNone/>
            </a:pPr>
            <a:r>
              <a:rPr lang="en-US" sz="1350" b="0" i="0" dirty="0">
                <a:solidFill>
                  <a:srgbClr val="1F2430"/>
                </a:solidFill>
                <a:latin typeface="Calibri"/>
                <a:ea typeface="Calibri"/>
                <a:cs typeface="Calibri"/>
              </a:rPr>
              <a:t>Visualization: Matplotlib, Seaborn</a:t>
            </a:r>
          </a:p>
          <a:p>
            <a:pPr marL="0" indent="0">
              <a:buNone/>
            </a:pPr>
            <a:r>
              <a:rPr lang="en-US" sz="1350" b="0" i="0" dirty="0">
                <a:solidFill>
                  <a:srgbClr val="1F2430"/>
                </a:solidFill>
                <a:latin typeface="Calibri"/>
                <a:ea typeface="Calibri"/>
                <a:cs typeface="Calibri"/>
              </a:rPr>
              <a:t>User Interface: Streamlit (Planned for prototype deployment)</a:t>
            </a:r>
          </a:p>
          <a:p>
            <a:pPr marL="0" indent="0">
              <a:buNone/>
            </a:pPr>
            <a:r>
              <a:rPr lang="en-US" sz="1350" b="0" i="0" dirty="0">
                <a:solidFill>
                  <a:srgbClr val="1F2430"/>
                </a:solidFill>
                <a:latin typeface="Calibri"/>
                <a:ea typeface="Calibri"/>
                <a:cs typeface="Calibri"/>
              </a:rPr>
              <a:t>IDE / Environment: VS Code / Jupyter Notebook / Google Colab</a:t>
            </a:r>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653796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marL="0" indent="0">
              <a:buNone/>
            </a:pPr>
            <a:r>
              <a:rPr lang="en-US" sz="1350" b="0" i="0" dirty="0">
                <a:solidFill>
                  <a:srgbClr val="1F2430"/>
                </a:solidFill>
                <a:latin typeface="Calibri"/>
                <a:ea typeface="Calibri"/>
                <a:cs typeface="Calibri"/>
              </a:rPr>
              <a:t>Processor: Intel Core i5 / AMD Ryzen 5 or equivalent</a:t>
            </a:r>
          </a:p>
          <a:p>
            <a:pPr marL="0" indent="0">
              <a:buNone/>
            </a:pPr>
            <a:r>
              <a:rPr lang="en-US" sz="1350" b="0" i="0" dirty="0">
                <a:solidFill>
                  <a:srgbClr val="1F2430"/>
                </a:solidFill>
                <a:latin typeface="Calibri"/>
                <a:ea typeface="Calibri"/>
                <a:cs typeface="Calibri"/>
              </a:rPr>
              <a:t>RAM: 8 GB minimum (16 GB recommended for pandas efficiency)</a:t>
            </a:r>
          </a:p>
          <a:p>
            <a:pPr marL="0" indent="0">
              <a:buNone/>
            </a:pPr>
            <a:r>
              <a:rPr lang="en-US" sz="1350" b="0" i="0" dirty="0">
                <a:solidFill>
                  <a:srgbClr val="1F2430"/>
                </a:solidFill>
                <a:latin typeface="Calibri"/>
                <a:ea typeface="Calibri"/>
                <a:cs typeface="Calibri"/>
              </a:rPr>
              <a:t>Storage: 512 GB SSD</a:t>
            </a:r>
          </a:p>
          <a:p>
            <a:pPr marL="0" indent="0">
              <a:buNone/>
            </a:pPr>
            <a:r>
              <a:rPr lang="en-US" sz="1350" b="0" i="0" dirty="0">
                <a:solidFill>
                  <a:srgbClr val="1F2430"/>
                </a:solidFill>
                <a:latin typeface="Calibri"/>
                <a:ea typeface="Calibri"/>
                <a:cs typeface="Calibri"/>
              </a:rPr>
              <a:t>Compute / GPU: Standard CPU compute (GPU not required)</a:t>
            </a:r>
          </a:p>
          <a:p>
            <a:pPr marL="0" indent="0">
              <a:buNone/>
            </a:pPr>
            <a:r>
              <a:rPr lang="en-US" sz="1350" b="0" i="0" dirty="0">
                <a:solidFill>
                  <a:srgbClr val="1F2430"/>
                </a:solidFill>
                <a:latin typeface="Calibri"/>
                <a:ea typeface="Calibri"/>
                <a:cs typeface="Calibri"/>
              </a:rPr>
              <a:t>Operating System: Windows 11 / Linux</a:t>
            </a:r>
          </a:p>
          <a:p>
            <a:pPr marL="0" indent="0">
              <a:buNone/>
            </a:pPr>
            <a:r>
              <a:rPr lang="en-US" sz="1350" b="0" i="0" dirty="0">
                <a:solidFill>
                  <a:srgbClr val="1F2430"/>
                </a:solidFill>
                <a:latin typeface="Calibri"/>
                <a:ea typeface="Calibri"/>
                <a:cs typeface="Calibri"/>
              </a:rPr>
              <a:t>Version Control: Git &amp; GitHub repository</a:t>
            </a:r>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2296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marL="0" indent="0">
              <a:buNone/>
            </a:pPr>
            <a:r>
              <a:rPr lang="en-US" sz="1350" b="1" i="0" dirty="0">
                <a:solidFill>
                  <a:srgbClr val="1B2A55"/>
                </a:solidFill>
                <a:latin typeface="Cambria"/>
                <a:ea typeface="Cambria"/>
                <a:cs typeface="Cambria"/>
              </a:rPr>
              <a:t>A functional customer segmentation system that processes retail transaction logs, computes normalized RFM features, discovers behavioral customer segments, and presents 2D PCA cluster visualizations.</a:t>
            </a:r>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txBody>
          <a:bodyPr/>
          <a:lstStyle/>
          <a:p>
            <a:endParaRPr lang="en-IN"/>
          </a:p>
        </p:txBody>
      </p:sp>
      <p:sp>
        <p:nvSpPr>
          <p:cNvPr id="8" name="Text 6"/>
          <p:cNvSpPr txBox="1"/>
          <p:nvPr/>
        </p:nvSpPr>
        <p:spPr>
          <a:xfrm>
            <a:off x="4572000" y="1691640"/>
            <a:ext cx="29718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marL="0" indent="0">
              <a:buNone/>
            </a:pPr>
            <a:r>
              <a:rPr lang="en-US" sz="1350" b="1" i="0" dirty="0">
                <a:solidFill>
                  <a:srgbClr val="FFFFFF"/>
                </a:solidFill>
                <a:latin typeface="Cambria"/>
                <a:ea typeface="Cambria"/>
                <a:cs typeface="Cambria"/>
              </a:rPr>
              <a:t>Evaluation of cluster cohesion via Silhouette Score and Elbow inertia curve to identify optimal K, avoiding arbitrary or subjective segment definitions.</a:t>
            </a:r>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32104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marL="0" indent="0">
              <a:buNone/>
            </a:pPr>
            <a:r>
              <a:rPr lang="en-US" sz="1350" b="1" i="0" dirty="0">
                <a:solidFill>
                  <a:srgbClr val="1B2A55"/>
                </a:solidFill>
                <a:latin typeface="Cambria"/>
                <a:ea typeface="Cambria"/>
                <a:cs typeface="Cambria"/>
              </a:rPr>
              <a:t>Retailers and marketing teams can utilize discovered customer personas to optimize promotional budgets, design loyalty rewards, and deploy re-engagement campaigns.</a:t>
            </a:r>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txBody>
          <a:bodyPr/>
          <a:lstStyle/>
          <a:p>
            <a:endParaRPr lang="en-IN"/>
          </a:p>
        </p:txBody>
      </p:sp>
      <p:sp>
        <p:nvSpPr>
          <p:cNvPr id="14" name="Text 12"/>
          <p:cNvSpPr txBox="1"/>
          <p:nvPr/>
        </p:nvSpPr>
        <p:spPr>
          <a:xfrm>
            <a:off x="868680" y="4160520"/>
            <a:ext cx="10424160" cy="274320"/>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marL="0" indent="0">
              <a:buNone/>
            </a:pPr>
            <a:r>
              <a:rPr lang="en-US" sz="1200" b="0" i="0" dirty="0">
                <a:solidFill>
                  <a:srgbClr val="1F2430"/>
                </a:solidFill>
                <a:latin typeface="Calibri"/>
                <a:ea typeface="Calibri"/>
                <a:cs typeface="Calibri"/>
              </a:rPr>
              <a:t>• Conclusion: The project establishes a structured unsupervised learning framework to transform raw retail sales data into actionable customer intelligence using RFM analysis, K-Means, and Hierarchical clustering.</a:t>
            </a:r>
          </a:p>
          <a:p>
            <a:pPr marL="0" indent="0">
              <a:buNone/>
            </a:pPr>
            <a:r>
              <a:rPr lang="en-US" sz="1200" b="0" i="0" dirty="0">
                <a:solidFill>
                  <a:srgbClr val="1F2430"/>
                </a:solidFill>
                <a:latin typeface="Calibri"/>
                <a:ea typeface="Calibri"/>
                <a:cs typeface="Calibri"/>
              </a:rPr>
              <a:t>• Final Deliverable: By the final review, the system will output validated cluster profiles, PCA visualizations, and targeted business strategy mappings.</a:t>
            </a:r>
          </a:p>
          <a:p>
            <a:pPr marL="0" indent="0">
              <a:buNone/>
            </a:pPr>
            <a:r>
              <a:rPr lang="en-US" sz="1200" b="0" i="0" dirty="0">
                <a:solidFill>
                  <a:srgbClr val="A4161A"/>
                </a:solidFill>
                <a:latin typeface="Calibri"/>
                <a:ea typeface="Calibri"/>
                <a:cs typeface="Calibri"/>
              </a:rPr>
              <a:t>• Future Scope: Real-time streaming segmentation on live POS data and automated enterprise CRM integration are intentionally reserved for future work.</a:t>
            </a:r>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b="0" i="0" dirty="0">
                <a:solidFill>
                  <a:srgbClr val="6B7280"/>
                </a:solidFill>
                <a:latin typeface="Calibri"/>
                <a:ea typeface="Calibri"/>
                <a:cs typeface="Calibri"/>
              </a:rPr>
              <a:t>IEEE style, numbered in citation order. Peer-reviewed research papers and dataset repository for Minor Project Review 1.</a:t>
            </a:r>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txBody>
          <a:bodyPr/>
          <a:lstStyle/>
          <a:p>
            <a:endParaRPr lang="en-IN"/>
          </a:p>
        </p:txBody>
      </p:sp>
      <p:sp>
        <p:nvSpPr>
          <p:cNvPr id="6" name="Text 4"/>
          <p:cNvSpPr txBox="1"/>
          <p:nvPr/>
        </p:nvSpPr>
        <p:spPr>
          <a:xfrm>
            <a:off x="868680" y="1783080"/>
            <a:ext cx="10424160" cy="3246120"/>
          </a:xfrm>
          <a:prstGeom prst="rect">
            <a:avLst/>
          </a:prstGeom>
          <a:noFill/>
          <a:ln/>
        </p:spPr>
        <p:txBody>
          <a:bodyPr wrap="square" lIns="0" tIns="0" rIns="0" bIns="0" rtlCol="0" anchor="ctr"/>
          <a:lstStyle/>
          <a:p>
            <a:pPr marL="0" indent="0">
              <a:buNone/>
            </a:pPr>
            <a:r>
              <a:rPr lang="en-US" sz="950" b="0" i="0" dirty="0">
                <a:solidFill>
                  <a:srgbClr val="1F2430"/>
                </a:solidFill>
                <a:latin typeface="Calibri"/>
                <a:ea typeface="Calibri"/>
                <a:cs typeface="Calibri"/>
              </a:rPr>
              <a:t>[1]  A. Wani, M. Priyanka, and R. Prasath, "Unleashing Customer Insights: Segmentation Through Machine Learning," in Proc. World Conf. on Communication &amp; Computing (WCONF), Raipur, India, 2023, pp. 1–6.</a:t>
            </a:r>
          </a:p>
          <a:p>
            <a:pPr marL="0" indent="0">
              <a:buNone/>
            </a:pPr>
            <a:r>
              <a:rPr lang="en-US" sz="950" b="0" i="0" dirty="0">
                <a:solidFill>
                  <a:srgbClr val="1F2430"/>
                </a:solidFill>
                <a:latin typeface="Calibri"/>
                <a:ea typeface="Calibri"/>
                <a:cs typeface="Calibri"/>
              </a:rPr>
              <a:t>[2]  D. Teslenko, A. Sorokina, K. Smelyakov, and O. Filipov, "Comparative Analysis of the Applicability of Five Clustering Algorithms for Market Segmentation," in Proc. IEEE Open Conf. of Electrical, Electronic and Information Sciences (eStream), Vilnius, Lithuania, 2023, pp. 1–5.</a:t>
            </a:r>
          </a:p>
          <a:p>
            <a:pPr marL="0" indent="0">
              <a:buNone/>
            </a:pPr>
            <a:r>
              <a:rPr lang="en-US" sz="950" b="0" i="0" dirty="0">
                <a:solidFill>
                  <a:srgbClr val="1F2430"/>
                </a:solidFill>
                <a:latin typeface="Calibri"/>
                <a:ea typeface="Calibri"/>
                <a:cs typeface="Calibri"/>
              </a:rPr>
              <a:t>[3]  P. Li, C. Wang, J. Wu, and R. Madleňák, "An E-commerce Customer Segmentation Method based on RFM Weighted K-means," in Proc. Int. Conf. on Management Engineering, Software Engineering and Service Sciences (ICMSS), Wuhan, China, 2022, pp. 61–68.</a:t>
            </a:r>
          </a:p>
          <a:p>
            <a:pPr marL="0" indent="0">
              <a:buNone/>
            </a:pPr>
            <a:r>
              <a:rPr lang="en-US" sz="950" b="0" i="0" dirty="0">
                <a:solidFill>
                  <a:srgbClr val="1F2430"/>
                </a:solidFill>
                <a:latin typeface="Calibri"/>
                <a:ea typeface="Calibri"/>
                <a:cs typeface="Calibri"/>
              </a:rPr>
              <a:t>[4]  O. Akande, A. O. Badmus, and B. S. Adekunle, "Customer Segmentation through RFM Analysis and K-means Clustering: Leveraging Data-Driven Insights for Effective Marketing Strategy," Ceddi J. Inf. Syst. Technol., vol. 2, no. 1, pp. 12–21, 2024.</a:t>
            </a:r>
          </a:p>
          <a:p>
            <a:pPr marL="0" indent="0">
              <a:buNone/>
            </a:pPr>
            <a:r>
              <a:rPr lang="en-US" sz="950" b="0" i="0" dirty="0">
                <a:solidFill>
                  <a:srgbClr val="1F2430"/>
                </a:solidFill>
                <a:latin typeface="Calibri"/>
                <a:ea typeface="Calibri"/>
                <a:cs typeface="Calibri"/>
              </a:rPr>
              <a:t>[5]  Y. Huang, M. Zhang, and Y. He, "Research on Improved RFM Customer Segmentation Model Based on K-Means Algorithm," in Proc. IEEE Int. Conf. on Artificial Intelligence and Computer Applications (ICAICA), Dalian, China, 2020, pp. 1010–1014.</a:t>
            </a:r>
          </a:p>
          <a:p>
            <a:pPr marL="0" indent="0">
              <a:buNone/>
            </a:pPr>
            <a:r>
              <a:rPr lang="en-US" sz="950" b="0" i="0" dirty="0">
                <a:solidFill>
                  <a:srgbClr val="1F2430"/>
                </a:solidFill>
                <a:latin typeface="Calibri"/>
                <a:ea typeface="Calibri"/>
                <a:cs typeface="Calibri"/>
              </a:rPr>
              <a:t>[6]  D. Chen, S. L. Sain, and K. Guo, "Data mining for the online retail industry: A case study of RFM model-based customer segmentation using data mining," J. Database Mark. Cust. Strategy Manag., vol. 19, no. 3, pp. 197–208, 2012.</a:t>
            </a:r>
          </a:p>
          <a:p>
            <a:pPr marL="0" indent="0">
              <a:buNone/>
            </a:pPr>
            <a:r>
              <a:rPr lang="en-US" sz="950" b="0" i="0" dirty="0">
                <a:solidFill>
                  <a:srgbClr val="1F2430"/>
                </a:solidFill>
                <a:latin typeface="Calibri"/>
                <a:ea typeface="Calibri"/>
                <a:cs typeface="Calibri"/>
              </a:rPr>
              <a:t>[7]  D. Dua and C. Graff, "Online Retail Data Set," UCI Machine Learning Repository, University of California, Irvine, School of Information and Computer Sciences, 2019. [Online]. Available: https://archive.ics.uci.edu/dataset/352/online+retail</a:t>
            </a:r>
          </a:p>
          <a:p>
            <a:pPr marL="0" indent="0">
              <a:buNone/>
            </a:pPr>
            <a:r>
              <a:rPr lang="en-US" sz="950" b="0" i="0" dirty="0">
                <a:solidFill>
                  <a:srgbClr val="1F2430"/>
                </a:solidFill>
                <a:latin typeface="Calibri"/>
                <a:ea typeface="Calibri"/>
                <a:cs typeface="Calibri"/>
              </a:rPr>
              <a:t>[8]  P. J. Rousseeuw, "Silhouettes: A graphical aid to the interpretation and validation of cluster analysis," J. Comput. Appl. Math., vol. 20, pp. 53–65, 1987.</a:t>
            </a:r>
          </a:p>
          <a:p>
            <a:pPr marL="0" indent="0">
              <a:buNone/>
            </a:pPr>
            <a:r>
              <a:rPr lang="en-US" sz="950" b="0" i="0" dirty="0">
                <a:solidFill>
                  <a:srgbClr val="1F2430"/>
                </a:solidFill>
                <a:latin typeface="Calibri"/>
                <a:ea typeface="Calibri"/>
                <a:cs typeface="Calibri"/>
              </a:rPr>
              <a:t>[9]  J. MacQueen, "Some methods for classification and analysis of multivariate observations," in Proc. 5th Berkeley Symp. Math. Statist. Prob., vol. 1, 1967, pp. 281–297.</a:t>
            </a:r>
          </a:p>
        </p:txBody>
      </p:sp>
      <p:sp>
        <p:nvSpPr>
          <p:cNvPr id="7" name="Text 5"/>
          <p:cNvSpPr txBox="1"/>
          <p:nvPr/>
        </p:nvSpPr>
        <p:spPr>
          <a:xfrm>
            <a:off x="548640" y="5440680"/>
            <a:ext cx="11064240" cy="365760"/>
          </a:xfrm>
          <a:prstGeom prst="rect">
            <a:avLst/>
          </a:prstGeom>
          <a:noFill/>
          <a:ln/>
        </p:spPr>
        <p:txBody>
          <a:bodyPr wrap="square" lIns="0" tIns="0" rIns="0" bIns="0" rtlCol="0" anchor="ctr"/>
          <a:lstStyle/>
          <a:p>
            <a:pPr marL="0" indent="0">
              <a:buNone/>
            </a:pPr>
            <a:r>
              <a:rPr lang="en-US" sz="1150" b="1" i="0" dirty="0">
                <a:solidFill>
                  <a:srgbClr val="A4161A"/>
                </a:solidFill>
                <a:latin typeface="Calibri"/>
                <a:ea typeface="Calibri"/>
                <a:cs typeface="Calibri"/>
              </a:rPr>
              <a:t>Validation: All listed references are cited directly in the Literature Survey (Slide 5), Domain Context (Slide 3), and Methodology.</a:t>
            </a:r>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marL="0" indent="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txBody>
          <a:bodyPr/>
          <a:lstStyle/>
          <a:p>
            <a:endParaRPr lang="en-IN"/>
          </a:p>
        </p:txBody>
      </p:sp>
      <p:sp>
        <p:nvSpPr>
          <p:cNvPr id="5" name="Text 3"/>
          <p:cNvSpPr txBox="1"/>
          <p:nvPr/>
        </p:nvSpPr>
        <p:spPr>
          <a:xfrm>
            <a:off x="822960" y="4251960"/>
            <a:ext cx="10515600" cy="365760"/>
          </a:xfrm>
          <a:prstGeom prst="rect">
            <a:avLst/>
          </a:prstGeom>
          <a:noFill/>
          <a:ln/>
        </p:spPr>
        <p:txBody>
          <a:bodyPr wrap="square" lIns="0" tIns="0" rIns="0" bIns="0" rtlCol="0" anchor="ctr"/>
          <a:lstStyle/>
          <a:p>
            <a:pPr marL="0" indent="0">
              <a:buNone/>
            </a:pPr>
            <a:r>
              <a:rPr lang="en-US" sz="1400" b="0" i="0" dirty="0">
                <a:solidFill>
                  <a:srgbClr val="AEBBD6"/>
                </a:solidFill>
                <a:latin typeface="Calibri"/>
                <a:ea typeface="Calibri"/>
                <a:cs typeface="Calibri"/>
              </a:rPr>
              <a:t>Team: [Student 1 &amp; Student 2]   |   Guide: [Faculty Guide Name]   |   Dept. of CSE, KLH Bachupally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3005</Words>
  <Application>Microsoft Office PowerPoint</Application>
  <PresentationFormat>Widescreen</PresentationFormat>
  <Paragraphs>287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Gangidi Jashwanth Reddy</cp:lastModifiedBy>
  <cp:revision>3</cp:revision>
  <dcterms:created xsi:type="dcterms:W3CDTF">2026-09-16T05:47:29Z</dcterms:created>
  <dcterms:modified xsi:type="dcterms:W3CDTF">2026-10-13T07:05:14Z</dcterms:modified>
</cp:coreProperties>
</file>